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League Gothic" panose="02020500000000000000" charset="0"/>
      <p:regular r:id="rId20"/>
    </p:embeddedFont>
    <p:embeddedFont>
      <p:font typeface="Akzidenz-Grotesk Heavy" panose="02020500000000000000" charset="0"/>
      <p:regular r:id="rId21"/>
    </p:embeddedFont>
    <p:embeddedFont>
      <p:font typeface="Aileron Heavy" panose="02020500000000000000" charset="0"/>
      <p:regular r:id="rId22"/>
    </p:embeddedFont>
    <p:embeddedFont>
      <p:font typeface="Calibri" panose="020F0502020204030204" pitchFamily="34" charset="0"/>
      <p:regular r:id="rId23"/>
      <p:bold r:id="rId24"/>
      <p:italic r:id="rId25"/>
      <p:boldItalic r:id="rId26"/>
    </p:embeddedFont>
    <p:embeddedFont>
      <p:font typeface="Noto Sans T Chinese" panose="02020500000000000000" charset="-120"/>
      <p:regular r:id="rId27"/>
    </p:embeddedFont>
    <p:embeddedFont>
      <p:font typeface="新細明體-ExtB" panose="02020500000000000000" pitchFamily="18" charset="-120"/>
      <p:regular r:id="rId28"/>
    </p:embeddedFont>
    <p:embeddedFont>
      <p:font typeface="Aileron Bold" panose="02020500000000000000" charset="0"/>
      <p:regular r:id="rId29"/>
    </p:embeddedFont>
    <p:embeddedFont>
      <p:font typeface="Noto Sans T Chinese Bold" panose="02020500000000000000" charset="-120"/>
      <p:regular r:id="rId30"/>
    </p:embeddedFont>
    <p:embeddedFont>
      <p:font typeface="Aileron Bold Italics" panose="02020500000000000000" charset="0"/>
      <p:regular r:id="rId31"/>
    </p:embeddedFont>
    <p:embeddedFont>
      <p:font typeface="Aileron" panose="02020500000000000000"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94622" autoAdjust="0"/>
  </p:normalViewPr>
  <p:slideViewPr>
    <p:cSldViewPr>
      <p:cViewPr varScale="1">
        <p:scale>
          <a:sx n="42" d="100"/>
          <a:sy n="42" d="100"/>
        </p:scale>
        <p:origin x="772"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30.10.2025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5.jpeg"/><Relationship Id="rId5" Type="http://schemas.openxmlformats.org/officeDocument/2006/relationships/image" Target="../media/image2.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2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9.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14.pn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14.png"/><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14.png"/><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14.png"/><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20.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9.sv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1.svg"/><Relationship Id="rId7"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19.svg"/><Relationship Id="rId4" Type="http://schemas.openxmlformats.org/officeDocument/2006/relationships/image" Target="../media/image11.png"/><Relationship Id="rId9"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8" Type="http://schemas.openxmlformats.org/officeDocument/2006/relationships/hyperlink" Target="https://shopee.tw/%E8%97%8D%E5%85%89(%E5%8F%AF%E5%AE%A2%E8%A3%BD%E5%8C%96%E9%95%B7%E5%BA%A6)-12V%E9%9C%93%E8%99%B9%E7%87%88%E5%B8%B6%E3%80%90%E6%B2%9B%E7%B4%9C%E5%B0%8F%E9%8B%AA%E3%80%9110%E5%85%AC%E5%88%86%E8%B5%B7%E5%AE%A2%E8%A3%BD-LED%E9%9C%93%E8%99%B9%E7%87%88%E5%B8%B6-i.4984330.23369347953?sp_atk=65264f74-9857-4c6d-8ca7-d6bf685e4b8f&amp;xptdk=65264f74-9857-4c6d-8ca7-d6bf685e4b8f" TargetMode="External"/><Relationship Id="rId3" Type="http://schemas.openxmlformats.org/officeDocument/2006/relationships/image" Target="../media/image26.png"/><Relationship Id="rId7" Type="http://schemas.openxmlformats.org/officeDocument/2006/relationships/hyperlink" Target="https://shopee.tw/%E3%80%90%E7%A5%A5%E6%98%8C%E9%9B%BB%E5%AD%90%E3%80%91KT-1-SL-1-%E9%9B%BB%E6%9C%A8%E6%9D%BF(900%E5%AD%94)-J-1-%E8%90%AC%E7%94%A8%E6%9D%BF-%E9%9B%BB%E8%B7%AF%E6%9D%BF-PC%E6%9D%BF-PCB-%E6%B4%9E%E6%B4%9E%E6%9D%BF-%E5%AF%A6%E9%A9%97%E6%9D%BF-%E7%B7%9A%E8%B7%AF%E6%9D%BF-i.27742636.5048744441?sp_atk=98ef8bfe-469b-4fb2-8914-00211cf7c015&amp;xptdk=98ef8bfe-469b-4fb2-8914-00211cf7c015" TargetMode="External"/><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hyperlink" Target="https://shopee.tw/%E7%84%A1%E5%90%8D%E7%A7%91%E6%8A%80%E5%8E%9F%E5%BB%A0-ESP32-S3-SUPERMINI-%E9%96%8B%E7%99%BC%E6%9D%BF-Type-c-WIFI-%E8%97%8D%E8%8A%BD-%E7%89%A9%E8%81%AF%E7%B6%B2-i.156997135.26626006239?sp_atk=223d752e-1d51-4703-9d3c-ba48e2fffb3d&amp;xptdk=223d752e-1d51-4703-9d3c-ba48e2fffb3d" TargetMode="External"/><Relationship Id="rId4" Type="http://schemas.openxmlformats.org/officeDocument/2006/relationships/image" Target="../media/image27.png"/><Relationship Id="rId9" Type="http://schemas.openxmlformats.org/officeDocument/2006/relationships/hyperlink" Target="https://shopee.tw/%E3%80%90%E9%80%A0%E7%89%A9%E4%BA%BA%E3%80%91%E3%80%8A%E5%8F%AF%E7%B5%B1%E7%B7%A8%E3%80%8BArduino-%E6%8C%89%E9%88%95%E6%A8%A1%E7%B5%84-%E6%8C%89%E9%8D%B5%E6%A8%A1%E7%B5%84-%E5%A4%A7%E6%8C%89%E9%8D%B5-%E8%BC%95%E8%A7%B8-%E6%8C%89%E9%88%95-%E6%8C%89%E9%8D%B5%E9%96%8B%E9%97%9C-%E9%AB%98%E9%9B%BB%E5%B9%B3%E8%BC%B8%E5%87%BA-5%E8%89%B2-i.899779.7357690068?sp_atk=877e3880-6198-4137-a94f-e5fc6392c2a1&amp;xptdk=877e3880-6198-4137-a94f-e5fc6392c2a1"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1.svg"/><Relationship Id="rId7" Type="http://schemas.openxmlformats.org/officeDocument/2006/relationships/image" Target="../media/image24.sv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43.svg"/><Relationship Id="rId4" Type="http://schemas.openxmlformats.org/officeDocument/2006/relationships/image" Target="../media/image31.png"/><Relationship Id="rId9"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88593"/>
        </a:solidFill>
        <a:effectLst/>
      </p:bgPr>
    </p:bg>
    <p:spTree>
      <p:nvGrpSpPr>
        <p:cNvPr id="1" name=""/>
        <p:cNvGrpSpPr/>
        <p:nvPr/>
      </p:nvGrpSpPr>
      <p:grpSpPr>
        <a:xfrm>
          <a:off x="0" y="0"/>
          <a:ext cx="0" cy="0"/>
          <a:chOff x="0" y="0"/>
          <a:chExt cx="0" cy="0"/>
        </a:xfrm>
      </p:grpSpPr>
      <p:grpSp>
        <p:nvGrpSpPr>
          <p:cNvPr id="2" name="Group 2"/>
          <p:cNvGrpSpPr/>
          <p:nvPr/>
        </p:nvGrpSpPr>
        <p:grpSpPr>
          <a:xfrm>
            <a:off x="2260260" y="0"/>
            <a:ext cx="8256900" cy="10287000"/>
            <a:chOff x="0" y="0"/>
            <a:chExt cx="2174657" cy="2709333"/>
          </a:xfrm>
        </p:grpSpPr>
        <p:sp>
          <p:nvSpPr>
            <p:cNvPr id="3" name="Freeform 3"/>
            <p:cNvSpPr/>
            <p:nvPr/>
          </p:nvSpPr>
          <p:spPr>
            <a:xfrm>
              <a:off x="0" y="0"/>
              <a:ext cx="2174657" cy="2709333"/>
            </a:xfrm>
            <a:custGeom>
              <a:avLst/>
              <a:gdLst/>
              <a:ahLst/>
              <a:cxnLst/>
              <a:rect l="l" t="t" r="r" b="b"/>
              <a:pathLst>
                <a:path w="2174657" h="2709333">
                  <a:moveTo>
                    <a:pt x="0" y="0"/>
                  </a:moveTo>
                  <a:lnTo>
                    <a:pt x="2174657" y="0"/>
                  </a:lnTo>
                  <a:lnTo>
                    <a:pt x="2174657" y="2709333"/>
                  </a:lnTo>
                  <a:lnTo>
                    <a:pt x="0" y="2709333"/>
                  </a:lnTo>
                  <a:close/>
                </a:path>
              </a:pathLst>
            </a:custGeom>
            <a:solidFill>
              <a:srgbClr val="FDFDF5"/>
            </a:solidFill>
          </p:spPr>
        </p:sp>
        <p:sp>
          <p:nvSpPr>
            <p:cNvPr id="4" name="TextBox 4"/>
            <p:cNvSpPr txBox="1"/>
            <p:nvPr/>
          </p:nvSpPr>
          <p:spPr>
            <a:xfrm>
              <a:off x="0" y="-38100"/>
              <a:ext cx="2174657"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8700" y="6688721"/>
            <a:ext cx="2015238" cy="201523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1BBD4"/>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640"/>
                </a:lnSpc>
              </a:pPr>
              <a:endParaRPr/>
            </a:p>
          </p:txBody>
        </p:sp>
      </p:grpSp>
      <p:grpSp>
        <p:nvGrpSpPr>
          <p:cNvPr id="8" name="Group 8"/>
          <p:cNvGrpSpPr/>
          <p:nvPr/>
        </p:nvGrpSpPr>
        <p:grpSpPr>
          <a:xfrm>
            <a:off x="9777178" y="8448972"/>
            <a:ext cx="7482122" cy="809328"/>
            <a:chOff x="0" y="0"/>
            <a:chExt cx="1970600" cy="213156"/>
          </a:xfrm>
        </p:grpSpPr>
        <p:sp>
          <p:nvSpPr>
            <p:cNvPr id="9" name="Freeform 9"/>
            <p:cNvSpPr/>
            <p:nvPr/>
          </p:nvSpPr>
          <p:spPr>
            <a:xfrm>
              <a:off x="0" y="0"/>
              <a:ext cx="1970600" cy="213156"/>
            </a:xfrm>
            <a:custGeom>
              <a:avLst/>
              <a:gdLst/>
              <a:ahLst/>
              <a:cxnLst/>
              <a:rect l="l" t="t" r="r" b="b"/>
              <a:pathLst>
                <a:path w="1970600" h="213156">
                  <a:moveTo>
                    <a:pt x="103472" y="0"/>
                  </a:moveTo>
                  <a:lnTo>
                    <a:pt x="1867128" y="0"/>
                  </a:lnTo>
                  <a:cubicBezTo>
                    <a:pt x="1894570" y="0"/>
                    <a:pt x="1920889" y="10902"/>
                    <a:pt x="1940294" y="30306"/>
                  </a:cubicBezTo>
                  <a:cubicBezTo>
                    <a:pt x="1959699" y="49711"/>
                    <a:pt x="1970600" y="76030"/>
                    <a:pt x="1970600" y="103472"/>
                  </a:cubicBezTo>
                  <a:lnTo>
                    <a:pt x="1970600" y="109684"/>
                  </a:lnTo>
                  <a:cubicBezTo>
                    <a:pt x="1970600" y="137127"/>
                    <a:pt x="1959699" y="163445"/>
                    <a:pt x="1940294" y="182850"/>
                  </a:cubicBezTo>
                  <a:cubicBezTo>
                    <a:pt x="1920889" y="202255"/>
                    <a:pt x="1894570" y="213156"/>
                    <a:pt x="1867128" y="213156"/>
                  </a:cubicBezTo>
                  <a:lnTo>
                    <a:pt x="103472" y="213156"/>
                  </a:lnTo>
                  <a:cubicBezTo>
                    <a:pt x="76030" y="213156"/>
                    <a:pt x="49711" y="202255"/>
                    <a:pt x="30306" y="182850"/>
                  </a:cubicBezTo>
                  <a:cubicBezTo>
                    <a:pt x="10902" y="163445"/>
                    <a:pt x="0" y="137127"/>
                    <a:pt x="0" y="109684"/>
                  </a:cubicBezTo>
                  <a:lnTo>
                    <a:pt x="0" y="103472"/>
                  </a:lnTo>
                  <a:cubicBezTo>
                    <a:pt x="0" y="76030"/>
                    <a:pt x="10902" y="49711"/>
                    <a:pt x="30306" y="30306"/>
                  </a:cubicBezTo>
                  <a:cubicBezTo>
                    <a:pt x="49711" y="10902"/>
                    <a:pt x="76030" y="0"/>
                    <a:pt x="103472" y="0"/>
                  </a:cubicBezTo>
                  <a:close/>
                </a:path>
              </a:pathLst>
            </a:custGeom>
            <a:solidFill>
              <a:srgbClr val="FDFDF5"/>
            </a:solidFill>
            <a:ln cap="rnd">
              <a:noFill/>
              <a:prstDash val="solid"/>
              <a:round/>
            </a:ln>
          </p:spPr>
        </p:sp>
        <p:sp>
          <p:nvSpPr>
            <p:cNvPr id="10" name="TextBox 10"/>
            <p:cNvSpPr txBox="1"/>
            <p:nvPr/>
          </p:nvSpPr>
          <p:spPr>
            <a:xfrm>
              <a:off x="0" y="-57150"/>
              <a:ext cx="1970600" cy="270306"/>
            </a:xfrm>
            <a:prstGeom prst="rect">
              <a:avLst/>
            </a:prstGeom>
          </p:spPr>
          <p:txBody>
            <a:bodyPr lIns="50800" tIns="50800" rIns="50800" bIns="50800" rtlCol="0" anchor="ctr"/>
            <a:lstStyle/>
            <a:p>
              <a:pPr marL="0" lvl="0" indent="0" algn="ctr">
                <a:lnSpc>
                  <a:spcPts val="3640"/>
                </a:lnSpc>
                <a:spcBef>
                  <a:spcPct val="0"/>
                </a:spcBef>
              </a:pPr>
              <a:endParaRPr/>
            </a:p>
          </p:txBody>
        </p:sp>
      </p:grpSp>
      <p:sp>
        <p:nvSpPr>
          <p:cNvPr id="11" name="AutoShape 11"/>
          <p:cNvSpPr/>
          <p:nvPr/>
        </p:nvSpPr>
        <p:spPr>
          <a:xfrm>
            <a:off x="14110036" y="8877131"/>
            <a:ext cx="2723039" cy="0"/>
          </a:xfrm>
          <a:prstGeom prst="line">
            <a:avLst/>
          </a:prstGeom>
          <a:ln w="38100" cap="flat">
            <a:solidFill>
              <a:srgbClr val="788593"/>
            </a:solidFill>
            <a:prstDash val="solid"/>
            <a:headEnd type="none" w="sm" len="sm"/>
            <a:tailEnd type="arrow" w="med" len="sm"/>
          </a:ln>
        </p:spPr>
      </p:sp>
      <p:grpSp>
        <p:nvGrpSpPr>
          <p:cNvPr id="12" name="Group 12"/>
          <p:cNvGrpSpPr/>
          <p:nvPr/>
        </p:nvGrpSpPr>
        <p:grpSpPr>
          <a:xfrm>
            <a:off x="1028700" y="791163"/>
            <a:ext cx="3006764" cy="809328"/>
            <a:chOff x="0" y="0"/>
            <a:chExt cx="791905" cy="213156"/>
          </a:xfrm>
        </p:grpSpPr>
        <p:sp>
          <p:nvSpPr>
            <p:cNvPr id="13" name="Freeform 13"/>
            <p:cNvSpPr/>
            <p:nvPr/>
          </p:nvSpPr>
          <p:spPr>
            <a:xfrm>
              <a:off x="0" y="0"/>
              <a:ext cx="791905" cy="213156"/>
            </a:xfrm>
            <a:custGeom>
              <a:avLst/>
              <a:gdLst/>
              <a:ahLst/>
              <a:cxnLst/>
              <a:rect l="l" t="t" r="r" b="b"/>
              <a:pathLst>
                <a:path w="791905" h="213156">
                  <a:moveTo>
                    <a:pt x="106578" y="0"/>
                  </a:moveTo>
                  <a:lnTo>
                    <a:pt x="685327" y="0"/>
                  </a:lnTo>
                  <a:cubicBezTo>
                    <a:pt x="713593" y="0"/>
                    <a:pt x="740702" y="11229"/>
                    <a:pt x="760689" y="31216"/>
                  </a:cubicBezTo>
                  <a:cubicBezTo>
                    <a:pt x="780676" y="51203"/>
                    <a:pt x="791905" y="78312"/>
                    <a:pt x="791905" y="106578"/>
                  </a:cubicBezTo>
                  <a:lnTo>
                    <a:pt x="791905" y="106578"/>
                  </a:lnTo>
                  <a:cubicBezTo>
                    <a:pt x="791905" y="165440"/>
                    <a:pt x="744188" y="213156"/>
                    <a:pt x="685327" y="213156"/>
                  </a:cubicBezTo>
                  <a:lnTo>
                    <a:pt x="106578" y="213156"/>
                  </a:lnTo>
                  <a:cubicBezTo>
                    <a:pt x="47717" y="213156"/>
                    <a:pt x="0" y="165440"/>
                    <a:pt x="0" y="106578"/>
                  </a:cubicBezTo>
                  <a:lnTo>
                    <a:pt x="0" y="106578"/>
                  </a:lnTo>
                  <a:cubicBezTo>
                    <a:pt x="0" y="47717"/>
                    <a:pt x="47717" y="0"/>
                    <a:pt x="106578" y="0"/>
                  </a:cubicBezTo>
                  <a:close/>
                </a:path>
              </a:pathLst>
            </a:custGeom>
            <a:solidFill>
              <a:srgbClr val="788593"/>
            </a:solidFill>
            <a:ln cap="rnd">
              <a:noFill/>
              <a:prstDash val="solid"/>
              <a:round/>
            </a:ln>
          </p:spPr>
        </p:sp>
        <p:sp>
          <p:nvSpPr>
            <p:cNvPr id="14" name="TextBox 14"/>
            <p:cNvSpPr txBox="1"/>
            <p:nvPr/>
          </p:nvSpPr>
          <p:spPr>
            <a:xfrm>
              <a:off x="0" y="-57150"/>
              <a:ext cx="791905" cy="270306"/>
            </a:xfrm>
            <a:prstGeom prst="rect">
              <a:avLst/>
            </a:prstGeom>
          </p:spPr>
          <p:txBody>
            <a:bodyPr lIns="50800" tIns="50800" rIns="50800" bIns="50800" rtlCol="0" anchor="ctr"/>
            <a:lstStyle/>
            <a:p>
              <a:pPr marL="0" lvl="0" indent="0" algn="ctr">
                <a:lnSpc>
                  <a:spcPts val="3640"/>
                </a:lnSpc>
                <a:spcBef>
                  <a:spcPct val="0"/>
                </a:spcBef>
              </a:pPr>
              <a:endParaRPr/>
            </a:p>
          </p:txBody>
        </p:sp>
      </p:grpSp>
      <p:sp>
        <p:nvSpPr>
          <p:cNvPr id="15" name="Freeform 15"/>
          <p:cNvSpPr/>
          <p:nvPr/>
        </p:nvSpPr>
        <p:spPr>
          <a:xfrm>
            <a:off x="1031077" y="1195827"/>
            <a:ext cx="391026" cy="391026"/>
          </a:xfrm>
          <a:custGeom>
            <a:avLst/>
            <a:gdLst/>
            <a:ahLst/>
            <a:cxnLst/>
            <a:rect l="l" t="t" r="r" b="b"/>
            <a:pathLst>
              <a:path w="391026" h="391026">
                <a:moveTo>
                  <a:pt x="0" y="0"/>
                </a:moveTo>
                <a:lnTo>
                  <a:pt x="391026" y="0"/>
                </a:lnTo>
                <a:lnTo>
                  <a:pt x="391026" y="391026"/>
                </a:lnTo>
                <a:lnTo>
                  <a:pt x="0" y="391026"/>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6" name="Freeform 16"/>
          <p:cNvSpPr/>
          <p:nvPr/>
        </p:nvSpPr>
        <p:spPr>
          <a:xfrm>
            <a:off x="15589371" y="1433364"/>
            <a:ext cx="1243705" cy="1243705"/>
          </a:xfrm>
          <a:custGeom>
            <a:avLst/>
            <a:gdLst/>
            <a:ahLst/>
            <a:cxnLst/>
            <a:rect l="l" t="t" r="r" b="b"/>
            <a:pathLst>
              <a:path w="1243705" h="1243705">
                <a:moveTo>
                  <a:pt x="0" y="0"/>
                </a:moveTo>
                <a:lnTo>
                  <a:pt x="1243704" y="0"/>
                </a:lnTo>
                <a:lnTo>
                  <a:pt x="1243704" y="1243705"/>
                </a:lnTo>
                <a:lnTo>
                  <a:pt x="0" y="1243705"/>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grpSp>
        <p:nvGrpSpPr>
          <p:cNvPr id="17" name="Group 17"/>
          <p:cNvGrpSpPr/>
          <p:nvPr/>
        </p:nvGrpSpPr>
        <p:grpSpPr>
          <a:xfrm>
            <a:off x="3162343" y="1962441"/>
            <a:ext cx="873121" cy="87312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3C4C"/>
            </a:solidFill>
          </p:spPr>
        </p:sp>
        <p:sp>
          <p:nvSpPr>
            <p:cNvPr id="19" name="TextBox 19"/>
            <p:cNvSpPr txBox="1"/>
            <p:nvPr/>
          </p:nvSpPr>
          <p:spPr>
            <a:xfrm>
              <a:off x="76200" y="19050"/>
              <a:ext cx="660400" cy="717550"/>
            </a:xfrm>
            <a:prstGeom prst="rect">
              <a:avLst/>
            </a:prstGeom>
          </p:spPr>
          <p:txBody>
            <a:bodyPr lIns="50800" tIns="50800" rIns="50800" bIns="50800" rtlCol="0" anchor="ctr"/>
            <a:lstStyle/>
            <a:p>
              <a:pPr algn="ctr">
                <a:lnSpc>
                  <a:spcPts val="3640"/>
                </a:lnSpc>
              </a:pPr>
              <a:endParaRPr/>
            </a:p>
          </p:txBody>
        </p:sp>
      </p:grpSp>
      <p:sp>
        <p:nvSpPr>
          <p:cNvPr id="20" name="Freeform 20"/>
          <p:cNvSpPr/>
          <p:nvPr/>
        </p:nvSpPr>
        <p:spPr>
          <a:xfrm>
            <a:off x="3363594" y="2163692"/>
            <a:ext cx="470620" cy="470620"/>
          </a:xfrm>
          <a:custGeom>
            <a:avLst/>
            <a:gdLst/>
            <a:ahLst/>
            <a:cxnLst/>
            <a:rect l="l" t="t" r="r" b="b"/>
            <a:pathLst>
              <a:path w="470620" h="470620">
                <a:moveTo>
                  <a:pt x="0" y="0"/>
                </a:moveTo>
                <a:lnTo>
                  <a:pt x="470620" y="0"/>
                </a:lnTo>
                <a:lnTo>
                  <a:pt x="470620" y="470620"/>
                </a:lnTo>
                <a:lnTo>
                  <a:pt x="0" y="470620"/>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21" name="Freeform 21"/>
          <p:cNvSpPr/>
          <p:nvPr/>
        </p:nvSpPr>
        <p:spPr>
          <a:xfrm rot="-5400000">
            <a:off x="97283" y="4083833"/>
            <a:ext cx="2649639" cy="786806"/>
          </a:xfrm>
          <a:custGeom>
            <a:avLst/>
            <a:gdLst/>
            <a:ahLst/>
            <a:cxnLst/>
            <a:rect l="l" t="t" r="r" b="b"/>
            <a:pathLst>
              <a:path w="2649639" h="786806">
                <a:moveTo>
                  <a:pt x="0" y="0"/>
                </a:moveTo>
                <a:lnTo>
                  <a:pt x="2649639" y="0"/>
                </a:lnTo>
                <a:lnTo>
                  <a:pt x="2649639" y="786806"/>
                </a:lnTo>
                <a:lnTo>
                  <a:pt x="0" y="786806"/>
                </a:lnTo>
                <a:lnTo>
                  <a:pt x="0" y="0"/>
                </a:lnTo>
                <a:close/>
              </a:path>
            </a:pathLst>
          </a:custGeom>
          <a:blipFill>
            <a:blip r:embed="rId9">
              <a:extLst>
                <a:ext uri="{96DAC541-7B7A-43D3-8B79-37D633B846F1}">
                  <asvg:svgBlip xmlns="" xmlns:asvg="http://schemas.microsoft.com/office/drawing/2016/SVG/main" r:embed="rId10"/>
                </a:ext>
              </a:extLst>
            </a:blip>
            <a:stretch>
              <a:fillRect/>
            </a:stretch>
          </a:blipFill>
        </p:spPr>
      </p:sp>
      <p:sp>
        <p:nvSpPr>
          <p:cNvPr id="22" name="Freeform 22"/>
          <p:cNvSpPr/>
          <p:nvPr/>
        </p:nvSpPr>
        <p:spPr>
          <a:xfrm>
            <a:off x="11917335" y="3010252"/>
            <a:ext cx="3835052" cy="4266496"/>
          </a:xfrm>
          <a:custGeom>
            <a:avLst/>
            <a:gdLst/>
            <a:ahLst/>
            <a:cxnLst/>
            <a:rect l="l" t="t" r="r" b="b"/>
            <a:pathLst>
              <a:path w="3835052" h="4266496">
                <a:moveTo>
                  <a:pt x="0" y="0"/>
                </a:moveTo>
                <a:lnTo>
                  <a:pt x="3835052" y="0"/>
                </a:lnTo>
                <a:lnTo>
                  <a:pt x="3835052" y="4266496"/>
                </a:lnTo>
                <a:lnTo>
                  <a:pt x="0" y="4266496"/>
                </a:lnTo>
                <a:lnTo>
                  <a:pt x="0" y="0"/>
                </a:lnTo>
                <a:close/>
              </a:path>
            </a:pathLst>
          </a:custGeom>
          <a:blipFill>
            <a:blip r:embed="rId11"/>
            <a:stretch>
              <a:fillRect l="-50281" t="-9392" r="-58371" b="-15564"/>
            </a:stretch>
          </a:blipFill>
        </p:spPr>
      </p:sp>
      <p:sp>
        <p:nvSpPr>
          <p:cNvPr id="23" name="TextBox 23"/>
          <p:cNvSpPr txBox="1"/>
          <p:nvPr/>
        </p:nvSpPr>
        <p:spPr>
          <a:xfrm>
            <a:off x="4139672" y="333769"/>
            <a:ext cx="5004328" cy="3095419"/>
          </a:xfrm>
          <a:prstGeom prst="rect">
            <a:avLst/>
          </a:prstGeom>
        </p:spPr>
        <p:txBody>
          <a:bodyPr lIns="0" tIns="0" rIns="0" bIns="0" rtlCol="0" anchor="t">
            <a:spAutoFit/>
          </a:bodyPr>
          <a:lstStyle/>
          <a:p>
            <a:pPr algn="ctr">
              <a:lnSpc>
                <a:spcPts val="25211"/>
              </a:lnSpc>
            </a:pPr>
            <a:r>
              <a:rPr lang="en-US" sz="18008">
                <a:solidFill>
                  <a:srgbClr val="283C4C"/>
                </a:solidFill>
                <a:latin typeface="League Gothic"/>
                <a:ea typeface="League Gothic"/>
                <a:cs typeface="League Gothic"/>
                <a:sym typeface="League Gothic"/>
              </a:rPr>
              <a:t>SMART</a:t>
            </a:r>
          </a:p>
        </p:txBody>
      </p:sp>
      <p:sp>
        <p:nvSpPr>
          <p:cNvPr id="24" name="TextBox 24"/>
          <p:cNvSpPr txBox="1"/>
          <p:nvPr/>
        </p:nvSpPr>
        <p:spPr>
          <a:xfrm>
            <a:off x="3217514" y="2805418"/>
            <a:ext cx="6848644" cy="3069795"/>
          </a:xfrm>
          <a:prstGeom prst="rect">
            <a:avLst/>
          </a:prstGeom>
        </p:spPr>
        <p:txBody>
          <a:bodyPr lIns="0" tIns="0" rIns="0" bIns="0" rtlCol="0" anchor="t">
            <a:spAutoFit/>
          </a:bodyPr>
          <a:lstStyle/>
          <a:p>
            <a:pPr algn="ctr">
              <a:lnSpc>
                <a:spcPts val="14397"/>
              </a:lnSpc>
            </a:pPr>
            <a:r>
              <a:rPr lang="en-US" sz="10283" b="1" dirty="0">
                <a:solidFill>
                  <a:srgbClr val="788593"/>
                </a:solidFill>
                <a:latin typeface="Akzidenz-Grotesk Heavy"/>
                <a:ea typeface="Akzidenz-Grotesk Heavy"/>
                <a:cs typeface="Akzidenz-Grotesk Heavy"/>
                <a:sym typeface="Akzidenz-Grotesk Heavy"/>
              </a:rPr>
              <a:t>COASTER</a:t>
            </a:r>
          </a:p>
          <a:p>
            <a:pPr algn="ctr">
              <a:lnSpc>
                <a:spcPts val="8400"/>
              </a:lnSpc>
            </a:pPr>
            <a:r>
              <a:rPr lang="en-US" sz="6000" b="1" dirty="0" err="1">
                <a:solidFill>
                  <a:srgbClr val="788593"/>
                </a:solidFill>
                <a:latin typeface="Akzidenz-Grotesk Heavy"/>
                <a:ea typeface="Akzidenz-Grotesk Heavy"/>
                <a:cs typeface="Akzidenz-Grotesk Heavy"/>
                <a:sym typeface="Akzidenz-Grotesk Heavy"/>
              </a:rPr>
              <a:t>智慧杯墊</a:t>
            </a:r>
            <a:endParaRPr lang="en-US" sz="6000" b="1" dirty="0">
              <a:solidFill>
                <a:srgbClr val="788593"/>
              </a:solidFill>
              <a:latin typeface="Akzidenz-Grotesk Heavy"/>
              <a:ea typeface="Akzidenz-Grotesk Heavy"/>
              <a:cs typeface="Akzidenz-Grotesk Heavy"/>
              <a:sym typeface="Akzidenz-Grotesk Heavy"/>
            </a:endParaRPr>
          </a:p>
        </p:txBody>
      </p:sp>
      <p:sp>
        <p:nvSpPr>
          <p:cNvPr id="25" name="TextBox 25"/>
          <p:cNvSpPr txBox="1"/>
          <p:nvPr/>
        </p:nvSpPr>
        <p:spPr>
          <a:xfrm>
            <a:off x="10699727" y="8670439"/>
            <a:ext cx="3227742" cy="365758"/>
          </a:xfrm>
          <a:prstGeom prst="rect">
            <a:avLst/>
          </a:prstGeom>
        </p:spPr>
        <p:txBody>
          <a:bodyPr lIns="0" tIns="0" rIns="0" bIns="0" rtlCol="0" anchor="t">
            <a:spAutoFit/>
          </a:bodyPr>
          <a:lstStyle/>
          <a:p>
            <a:pPr algn="l">
              <a:lnSpc>
                <a:spcPts val="2940"/>
              </a:lnSpc>
            </a:pPr>
            <a:r>
              <a:rPr lang="en-US" sz="2100" b="1">
                <a:solidFill>
                  <a:srgbClr val="283C4C"/>
                </a:solidFill>
                <a:latin typeface="Aileron Heavy"/>
                <a:ea typeface="Aileron Heavy"/>
                <a:cs typeface="Aileron Heavy"/>
                <a:sym typeface="Aileron Heavy"/>
              </a:rPr>
              <a:t>START PRESENTATION</a:t>
            </a:r>
          </a:p>
        </p:txBody>
      </p:sp>
      <p:sp>
        <p:nvSpPr>
          <p:cNvPr id="26" name="TextBox 26"/>
          <p:cNvSpPr txBox="1"/>
          <p:nvPr/>
        </p:nvSpPr>
        <p:spPr>
          <a:xfrm>
            <a:off x="4871637" y="7084239"/>
            <a:ext cx="3540399" cy="2693045"/>
          </a:xfrm>
          <a:prstGeom prst="rect">
            <a:avLst/>
          </a:prstGeom>
        </p:spPr>
        <p:txBody>
          <a:bodyPr lIns="0" tIns="0" rIns="0" bIns="0" rtlCol="0" anchor="t">
            <a:spAutoFit/>
          </a:bodyPr>
          <a:lstStyle/>
          <a:p>
            <a:pPr algn="l">
              <a:lnSpc>
                <a:spcPts val="4200"/>
              </a:lnSpc>
            </a:pPr>
            <a:r>
              <a:rPr lang="en-US" sz="3000" b="1" dirty="0">
                <a:solidFill>
                  <a:srgbClr val="000000"/>
                </a:solidFill>
                <a:latin typeface="Aileron Bold"/>
                <a:ea typeface="Aileron Bold"/>
                <a:cs typeface="Aileron Bold"/>
                <a:sym typeface="Aileron Bold"/>
              </a:rPr>
              <a:t>M11451001  </a:t>
            </a:r>
            <a:r>
              <a:rPr lang="en-US" sz="3000" b="1" dirty="0" err="1">
                <a:solidFill>
                  <a:srgbClr val="000000"/>
                </a:solidFill>
                <a:latin typeface="新細明體-ExtB" panose="02020500000000000000" pitchFamily="18" charset="-120"/>
                <a:ea typeface="新細明體-ExtB" panose="02020500000000000000" pitchFamily="18" charset="-120"/>
                <a:cs typeface="Aileron Bold"/>
                <a:sym typeface="Aileron Bold"/>
              </a:rPr>
              <a:t>楊婕</a:t>
            </a:r>
            <a:endParaRPr lang="en-US" sz="3000" b="1" dirty="0">
              <a:solidFill>
                <a:srgbClr val="000000"/>
              </a:solidFill>
              <a:latin typeface="新細明體-ExtB" panose="02020500000000000000" pitchFamily="18" charset="-120"/>
              <a:ea typeface="新細明體-ExtB" panose="02020500000000000000" pitchFamily="18" charset="-120"/>
              <a:cs typeface="Aileron Bold"/>
              <a:sym typeface="Aileron Bold"/>
            </a:endParaRPr>
          </a:p>
          <a:p>
            <a:pPr algn="l">
              <a:lnSpc>
                <a:spcPts val="4200"/>
              </a:lnSpc>
            </a:pPr>
            <a:r>
              <a:rPr lang="en-US" sz="3000" b="1" dirty="0">
                <a:solidFill>
                  <a:srgbClr val="000000"/>
                </a:solidFill>
                <a:latin typeface="Aileron Bold"/>
                <a:ea typeface="Aileron Bold"/>
                <a:cs typeface="Aileron Bold"/>
                <a:sym typeface="Aileron Bold"/>
              </a:rPr>
              <a:t>M11451007  </a:t>
            </a:r>
            <a:r>
              <a:rPr lang="en-US" sz="3000" b="1" dirty="0" err="1">
                <a:solidFill>
                  <a:srgbClr val="000000"/>
                </a:solidFill>
                <a:latin typeface="新細明體-ExtB" panose="02020500000000000000" pitchFamily="18" charset="-120"/>
                <a:ea typeface="新細明體-ExtB" panose="02020500000000000000" pitchFamily="18" charset="-120"/>
                <a:cs typeface="Aileron Bold"/>
                <a:sym typeface="Aileron Bold"/>
              </a:rPr>
              <a:t>楓尹翔</a:t>
            </a:r>
            <a:endParaRPr lang="en-US" sz="3000" b="1" dirty="0">
              <a:solidFill>
                <a:srgbClr val="000000"/>
              </a:solidFill>
              <a:latin typeface="新細明體-ExtB" panose="02020500000000000000" pitchFamily="18" charset="-120"/>
              <a:ea typeface="新細明體-ExtB" panose="02020500000000000000" pitchFamily="18" charset="-120"/>
              <a:cs typeface="Aileron Bold"/>
              <a:sym typeface="Aileron Bold"/>
            </a:endParaRPr>
          </a:p>
          <a:p>
            <a:pPr algn="l">
              <a:lnSpc>
                <a:spcPts val="4200"/>
              </a:lnSpc>
            </a:pPr>
            <a:r>
              <a:rPr lang="en-US" sz="3000" b="1" dirty="0">
                <a:solidFill>
                  <a:srgbClr val="000000"/>
                </a:solidFill>
                <a:latin typeface="Aileron Bold"/>
                <a:ea typeface="Aileron Bold"/>
                <a:cs typeface="Aileron Bold"/>
                <a:sym typeface="Aileron Bold"/>
              </a:rPr>
              <a:t>M11451011  </a:t>
            </a:r>
            <a:r>
              <a:rPr lang="en-US" sz="3000" b="1" dirty="0" err="1">
                <a:solidFill>
                  <a:srgbClr val="000000"/>
                </a:solidFill>
                <a:latin typeface="新細明體-ExtB" panose="02020500000000000000" pitchFamily="18" charset="-120"/>
                <a:ea typeface="新細明體-ExtB" panose="02020500000000000000" pitchFamily="18" charset="-120"/>
                <a:cs typeface="Aileron Bold"/>
                <a:sym typeface="Aileron Bold"/>
              </a:rPr>
              <a:t>簡翊程</a:t>
            </a:r>
            <a:endParaRPr lang="en-US" sz="3000" b="1" dirty="0">
              <a:solidFill>
                <a:srgbClr val="000000"/>
              </a:solidFill>
              <a:latin typeface="新細明體-ExtB" panose="02020500000000000000" pitchFamily="18" charset="-120"/>
              <a:ea typeface="新細明體-ExtB" panose="02020500000000000000" pitchFamily="18" charset="-120"/>
              <a:cs typeface="Aileron Bold"/>
              <a:sym typeface="Aileron Bold"/>
            </a:endParaRPr>
          </a:p>
          <a:p>
            <a:pPr algn="l">
              <a:lnSpc>
                <a:spcPts val="4200"/>
              </a:lnSpc>
            </a:pPr>
            <a:r>
              <a:rPr lang="en-US" sz="3000" b="1" dirty="0">
                <a:solidFill>
                  <a:srgbClr val="000000"/>
                </a:solidFill>
                <a:latin typeface="Aileron Bold"/>
                <a:ea typeface="Aileron Bold"/>
                <a:cs typeface="Aileron Bold"/>
                <a:sym typeface="Aileron Bold"/>
              </a:rPr>
              <a:t>M11451027  </a:t>
            </a:r>
            <a:r>
              <a:rPr lang="en-US" sz="3000" b="1" dirty="0" err="1">
                <a:solidFill>
                  <a:srgbClr val="000000"/>
                </a:solidFill>
                <a:latin typeface="新細明體-ExtB" panose="02020500000000000000" pitchFamily="18" charset="-120"/>
                <a:ea typeface="新細明體-ExtB" panose="02020500000000000000" pitchFamily="18" charset="-120"/>
                <a:cs typeface="Aileron Bold"/>
                <a:sym typeface="Aileron Bold"/>
              </a:rPr>
              <a:t>顏梓淮</a:t>
            </a:r>
            <a:endParaRPr lang="en-US" sz="3000" b="1" dirty="0">
              <a:solidFill>
                <a:srgbClr val="000000"/>
              </a:solidFill>
              <a:latin typeface="新細明體-ExtB" panose="02020500000000000000" pitchFamily="18" charset="-120"/>
              <a:ea typeface="新細明體-ExtB" panose="02020500000000000000" pitchFamily="18" charset="-120"/>
              <a:cs typeface="Aileron Bold"/>
              <a:sym typeface="Aileron Bold"/>
            </a:endParaRPr>
          </a:p>
          <a:p>
            <a:pPr algn="l">
              <a:lnSpc>
                <a:spcPts val="4200"/>
              </a:lnSpc>
              <a:spcBef>
                <a:spcPct val="0"/>
              </a:spcBef>
            </a:pPr>
            <a:r>
              <a:rPr lang="en-US" sz="3000" b="1" dirty="0">
                <a:solidFill>
                  <a:srgbClr val="000000"/>
                </a:solidFill>
                <a:latin typeface="Aileron Bold"/>
                <a:ea typeface="Aileron Bold"/>
                <a:cs typeface="Aileron Bold"/>
                <a:sym typeface="Aileron Bold"/>
              </a:rPr>
              <a:t>M11451029  </a:t>
            </a:r>
            <a:r>
              <a:rPr lang="en-US" sz="3000" b="1" dirty="0">
                <a:solidFill>
                  <a:srgbClr val="000000"/>
                </a:solidFill>
                <a:latin typeface="新細明體-ExtB" panose="02020500000000000000" pitchFamily="18" charset="-120"/>
                <a:ea typeface="新細明體-ExtB" panose="02020500000000000000" pitchFamily="18" charset="-120"/>
                <a:cs typeface="Aileron Bold"/>
                <a:sym typeface="Aileron Bold"/>
              </a:rPr>
              <a:t>吳家瑜</a:t>
            </a:r>
          </a:p>
        </p:txBody>
      </p:sp>
      <p:sp>
        <p:nvSpPr>
          <p:cNvPr id="27" name="TextBox 27"/>
          <p:cNvSpPr txBox="1"/>
          <p:nvPr/>
        </p:nvSpPr>
        <p:spPr>
          <a:xfrm>
            <a:off x="4464538" y="6090464"/>
            <a:ext cx="4354596" cy="688974"/>
          </a:xfrm>
          <a:prstGeom prst="rect">
            <a:avLst/>
          </a:prstGeom>
        </p:spPr>
        <p:txBody>
          <a:bodyPr lIns="0" tIns="0" rIns="0" bIns="0" rtlCol="0" anchor="t">
            <a:spAutoFit/>
          </a:bodyPr>
          <a:lstStyle/>
          <a:p>
            <a:pPr algn="ctr">
              <a:lnSpc>
                <a:spcPts val="5600"/>
              </a:lnSpc>
              <a:spcBef>
                <a:spcPct val="0"/>
              </a:spcBef>
            </a:pPr>
            <a:r>
              <a:rPr lang="en-US" sz="4000" b="1">
                <a:solidFill>
                  <a:srgbClr val="000000"/>
                </a:solidFill>
                <a:latin typeface="Aileron Bold"/>
                <a:ea typeface="Aileron Bold"/>
                <a:cs typeface="Aileron Bold"/>
                <a:sym typeface="Aileron Bold"/>
              </a:rPr>
              <a:t>TEAM2</a:t>
            </a:r>
          </a:p>
        </p:txBody>
      </p:sp>
      <p:sp>
        <p:nvSpPr>
          <p:cNvPr id="28" name="TextBox 28"/>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sp>
        <p:nvSpPr>
          <p:cNvPr id="2" name="Freeform 2"/>
          <p:cNvSpPr/>
          <p:nvPr/>
        </p:nvSpPr>
        <p:spPr>
          <a:xfrm>
            <a:off x="15008670" y="1028700"/>
            <a:ext cx="2250630" cy="2250630"/>
          </a:xfrm>
          <a:custGeom>
            <a:avLst/>
            <a:gdLst/>
            <a:ahLst/>
            <a:cxnLst/>
            <a:rect l="l" t="t" r="r" b="b"/>
            <a:pathLst>
              <a:path w="2250630" h="2250630">
                <a:moveTo>
                  <a:pt x="0" y="0"/>
                </a:moveTo>
                <a:lnTo>
                  <a:pt x="2250630" y="0"/>
                </a:lnTo>
                <a:lnTo>
                  <a:pt x="2250630" y="2250630"/>
                </a:lnTo>
                <a:lnTo>
                  <a:pt x="0" y="225063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636809" y="8504685"/>
            <a:ext cx="1507229" cy="1507229"/>
          </a:xfrm>
          <a:custGeom>
            <a:avLst/>
            <a:gdLst/>
            <a:ahLst/>
            <a:cxnLst/>
            <a:rect l="l" t="t" r="r" b="b"/>
            <a:pathLst>
              <a:path w="1507229" h="1507229">
                <a:moveTo>
                  <a:pt x="0" y="0"/>
                </a:moveTo>
                <a:lnTo>
                  <a:pt x="1507229" y="0"/>
                </a:lnTo>
                <a:lnTo>
                  <a:pt x="1507229" y="1507230"/>
                </a:lnTo>
                <a:lnTo>
                  <a:pt x="0" y="150723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 name="Freeform 4"/>
          <p:cNvSpPr/>
          <p:nvPr/>
        </p:nvSpPr>
        <p:spPr>
          <a:xfrm>
            <a:off x="13260439" y="8081306"/>
            <a:ext cx="3998861" cy="1187455"/>
          </a:xfrm>
          <a:custGeom>
            <a:avLst/>
            <a:gdLst/>
            <a:ahLst/>
            <a:cxnLst/>
            <a:rect l="l" t="t" r="r" b="b"/>
            <a:pathLst>
              <a:path w="3998861" h="1187455">
                <a:moveTo>
                  <a:pt x="0" y="0"/>
                </a:moveTo>
                <a:lnTo>
                  <a:pt x="3998861" y="0"/>
                </a:lnTo>
                <a:lnTo>
                  <a:pt x="3998861" y="1187455"/>
                </a:lnTo>
                <a:lnTo>
                  <a:pt x="0" y="1187455"/>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5" name="Group 5"/>
          <p:cNvGrpSpPr/>
          <p:nvPr/>
        </p:nvGrpSpPr>
        <p:grpSpPr>
          <a:xfrm>
            <a:off x="1385259" y="3956069"/>
            <a:ext cx="1005165" cy="956918"/>
            <a:chOff x="0" y="0"/>
            <a:chExt cx="264735" cy="252028"/>
          </a:xfrm>
        </p:grpSpPr>
        <p:sp>
          <p:nvSpPr>
            <p:cNvPr id="6" name="Freeform 6"/>
            <p:cNvSpPr/>
            <p:nvPr/>
          </p:nvSpPr>
          <p:spPr>
            <a:xfrm>
              <a:off x="0" y="0"/>
              <a:ext cx="264735" cy="252028"/>
            </a:xfrm>
            <a:custGeom>
              <a:avLst/>
              <a:gdLst/>
              <a:ahLst/>
              <a:cxnLst/>
              <a:rect l="l" t="t" r="r" b="b"/>
              <a:pathLst>
                <a:path w="264735" h="252028">
                  <a:moveTo>
                    <a:pt x="126014" y="0"/>
                  </a:moveTo>
                  <a:lnTo>
                    <a:pt x="138721" y="0"/>
                  </a:lnTo>
                  <a:cubicBezTo>
                    <a:pt x="208316" y="0"/>
                    <a:pt x="264735" y="56418"/>
                    <a:pt x="264735" y="126014"/>
                  </a:cubicBezTo>
                  <a:lnTo>
                    <a:pt x="264735" y="126014"/>
                  </a:lnTo>
                  <a:cubicBezTo>
                    <a:pt x="264735" y="159435"/>
                    <a:pt x="251458" y="191487"/>
                    <a:pt x="227826" y="215119"/>
                  </a:cubicBezTo>
                  <a:cubicBezTo>
                    <a:pt x="204194" y="238751"/>
                    <a:pt x="172142" y="252028"/>
                    <a:pt x="138721" y="252028"/>
                  </a:cubicBezTo>
                  <a:lnTo>
                    <a:pt x="126014" y="252028"/>
                  </a:lnTo>
                  <a:cubicBezTo>
                    <a:pt x="56418" y="252028"/>
                    <a:pt x="0" y="195609"/>
                    <a:pt x="0" y="126014"/>
                  </a:cubicBezTo>
                  <a:lnTo>
                    <a:pt x="0" y="126014"/>
                  </a:lnTo>
                  <a:cubicBezTo>
                    <a:pt x="0" y="56418"/>
                    <a:pt x="56418" y="0"/>
                    <a:pt x="126014" y="0"/>
                  </a:cubicBezTo>
                  <a:close/>
                </a:path>
              </a:pathLst>
            </a:custGeom>
            <a:solidFill>
              <a:srgbClr val="AFC8E1"/>
            </a:solidFill>
            <a:ln cap="rnd">
              <a:noFill/>
              <a:prstDash val="solid"/>
              <a:round/>
            </a:ln>
          </p:spPr>
        </p:sp>
        <p:sp>
          <p:nvSpPr>
            <p:cNvPr id="7" name="TextBox 7"/>
            <p:cNvSpPr txBox="1"/>
            <p:nvPr/>
          </p:nvSpPr>
          <p:spPr>
            <a:xfrm>
              <a:off x="0" y="2827"/>
              <a:ext cx="263375" cy="249201"/>
            </a:xfrm>
            <a:prstGeom prst="rect">
              <a:avLst/>
            </a:prstGeom>
          </p:spPr>
          <p:txBody>
            <a:bodyPr lIns="50800" tIns="50800" rIns="50800" bIns="50800" rtlCol="0" anchor="ctr"/>
            <a:lstStyle/>
            <a:p>
              <a:pPr marL="0" lvl="0" indent="0" algn="ctr">
                <a:lnSpc>
                  <a:spcPts val="5880"/>
                </a:lnSpc>
                <a:spcBef>
                  <a:spcPct val="0"/>
                </a:spcBef>
              </a:pPr>
              <a:r>
                <a:rPr lang="en-US" sz="4200" b="1" dirty="0">
                  <a:solidFill>
                    <a:srgbClr val="000000"/>
                  </a:solidFill>
                  <a:latin typeface="Aileron Bold"/>
                  <a:ea typeface="Aileron Bold"/>
                  <a:cs typeface="Aileron Bold"/>
                  <a:sym typeface="Aileron Bold"/>
                </a:rPr>
                <a:t>01</a:t>
              </a:r>
            </a:p>
          </p:txBody>
        </p:sp>
      </p:grpSp>
      <p:sp>
        <p:nvSpPr>
          <p:cNvPr id="8" name="TextBox 8"/>
          <p:cNvSpPr txBox="1"/>
          <p:nvPr/>
        </p:nvSpPr>
        <p:spPr>
          <a:xfrm>
            <a:off x="12386094" y="4021094"/>
            <a:ext cx="3948725" cy="721995"/>
          </a:xfrm>
          <a:prstGeom prst="rect">
            <a:avLst/>
          </a:prstGeom>
        </p:spPr>
        <p:txBody>
          <a:bodyPr lIns="0" tIns="0" rIns="0" bIns="0" rtlCol="0" anchor="t">
            <a:spAutoFit/>
          </a:bodyPr>
          <a:lstStyle/>
          <a:p>
            <a:pPr algn="ctr">
              <a:lnSpc>
                <a:spcPts val="5880"/>
              </a:lnSpc>
            </a:pPr>
            <a:r>
              <a:rPr lang="en-US" sz="4200" b="1">
                <a:solidFill>
                  <a:srgbClr val="192F40"/>
                </a:solidFill>
                <a:latin typeface="Aileron Heavy"/>
                <a:ea typeface="Aileron Heavy"/>
                <a:cs typeface="Aileron Heavy"/>
                <a:sym typeface="Aileron Heavy"/>
              </a:rPr>
              <a:t>Hardware</a:t>
            </a:r>
          </a:p>
        </p:txBody>
      </p:sp>
      <p:sp>
        <p:nvSpPr>
          <p:cNvPr id="9" name="TextBox 9"/>
          <p:cNvSpPr txBox="1"/>
          <p:nvPr/>
        </p:nvSpPr>
        <p:spPr>
          <a:xfrm>
            <a:off x="1937586" y="6530636"/>
            <a:ext cx="3948725" cy="721995"/>
          </a:xfrm>
          <a:prstGeom prst="rect">
            <a:avLst/>
          </a:prstGeom>
        </p:spPr>
        <p:txBody>
          <a:bodyPr lIns="0" tIns="0" rIns="0" bIns="0" rtlCol="0" anchor="t">
            <a:spAutoFit/>
          </a:bodyPr>
          <a:lstStyle/>
          <a:p>
            <a:pPr algn="ctr">
              <a:lnSpc>
                <a:spcPts val="5880"/>
              </a:lnSpc>
            </a:pPr>
            <a:r>
              <a:rPr lang="en-US" sz="4200" b="1">
                <a:solidFill>
                  <a:srgbClr val="192F40"/>
                </a:solidFill>
                <a:latin typeface="Aileron Heavy"/>
                <a:ea typeface="Aileron Heavy"/>
                <a:cs typeface="Aileron Heavy"/>
                <a:sym typeface="Aileron Heavy"/>
              </a:rPr>
              <a:t>Software </a:t>
            </a:r>
          </a:p>
        </p:txBody>
      </p:sp>
      <p:sp>
        <p:nvSpPr>
          <p:cNvPr id="10" name="TextBox 10"/>
          <p:cNvSpPr txBox="1"/>
          <p:nvPr/>
        </p:nvSpPr>
        <p:spPr>
          <a:xfrm>
            <a:off x="12579533" y="6530636"/>
            <a:ext cx="4323208" cy="721995"/>
          </a:xfrm>
          <a:prstGeom prst="rect">
            <a:avLst/>
          </a:prstGeom>
        </p:spPr>
        <p:txBody>
          <a:bodyPr lIns="0" tIns="0" rIns="0" bIns="0" rtlCol="0" anchor="t">
            <a:spAutoFit/>
          </a:bodyPr>
          <a:lstStyle/>
          <a:p>
            <a:pPr algn="ctr">
              <a:lnSpc>
                <a:spcPts val="5880"/>
              </a:lnSpc>
            </a:pPr>
            <a:r>
              <a:rPr lang="en-US" sz="4200" b="1">
                <a:solidFill>
                  <a:srgbClr val="192F40"/>
                </a:solidFill>
                <a:latin typeface="Aileron Heavy"/>
                <a:ea typeface="Aileron Heavy"/>
                <a:cs typeface="Aileron Heavy"/>
                <a:sym typeface="Aileron Heavy"/>
              </a:rPr>
              <a:t>Assignment</a:t>
            </a:r>
          </a:p>
        </p:txBody>
      </p:sp>
      <p:grpSp>
        <p:nvGrpSpPr>
          <p:cNvPr id="11" name="Group 11"/>
          <p:cNvGrpSpPr/>
          <p:nvPr/>
        </p:nvGrpSpPr>
        <p:grpSpPr>
          <a:xfrm>
            <a:off x="6333986" y="3956069"/>
            <a:ext cx="1010329" cy="956918"/>
            <a:chOff x="0" y="0"/>
            <a:chExt cx="266095" cy="252028"/>
          </a:xfrm>
        </p:grpSpPr>
        <p:sp>
          <p:nvSpPr>
            <p:cNvPr id="12" name="Freeform 12"/>
            <p:cNvSpPr/>
            <p:nvPr/>
          </p:nvSpPr>
          <p:spPr>
            <a:xfrm>
              <a:off x="0" y="0"/>
              <a:ext cx="264735" cy="252028"/>
            </a:xfrm>
            <a:custGeom>
              <a:avLst/>
              <a:gdLst/>
              <a:ahLst/>
              <a:cxnLst/>
              <a:rect l="l" t="t" r="r" b="b"/>
              <a:pathLst>
                <a:path w="264735" h="252028">
                  <a:moveTo>
                    <a:pt x="126014" y="0"/>
                  </a:moveTo>
                  <a:lnTo>
                    <a:pt x="138721" y="0"/>
                  </a:lnTo>
                  <a:cubicBezTo>
                    <a:pt x="208316" y="0"/>
                    <a:pt x="264735" y="56418"/>
                    <a:pt x="264735" y="126014"/>
                  </a:cubicBezTo>
                  <a:lnTo>
                    <a:pt x="264735" y="126014"/>
                  </a:lnTo>
                  <a:cubicBezTo>
                    <a:pt x="264735" y="159435"/>
                    <a:pt x="251458" y="191487"/>
                    <a:pt x="227826" y="215119"/>
                  </a:cubicBezTo>
                  <a:cubicBezTo>
                    <a:pt x="204194" y="238751"/>
                    <a:pt x="172142" y="252028"/>
                    <a:pt x="138721" y="252028"/>
                  </a:cubicBezTo>
                  <a:lnTo>
                    <a:pt x="126014" y="252028"/>
                  </a:lnTo>
                  <a:cubicBezTo>
                    <a:pt x="56418" y="252028"/>
                    <a:pt x="0" y="195609"/>
                    <a:pt x="0" y="126014"/>
                  </a:cubicBezTo>
                  <a:lnTo>
                    <a:pt x="0" y="126014"/>
                  </a:lnTo>
                  <a:cubicBezTo>
                    <a:pt x="0" y="56418"/>
                    <a:pt x="56418" y="0"/>
                    <a:pt x="126014" y="0"/>
                  </a:cubicBezTo>
                  <a:close/>
                </a:path>
              </a:pathLst>
            </a:custGeom>
            <a:solidFill>
              <a:srgbClr val="AFC8E1"/>
            </a:solidFill>
            <a:ln cap="rnd">
              <a:noFill/>
              <a:prstDash val="solid"/>
              <a:round/>
            </a:ln>
          </p:spPr>
        </p:sp>
        <p:sp>
          <p:nvSpPr>
            <p:cNvPr id="13" name="TextBox 13"/>
            <p:cNvSpPr txBox="1"/>
            <p:nvPr/>
          </p:nvSpPr>
          <p:spPr>
            <a:xfrm>
              <a:off x="0" y="0"/>
              <a:ext cx="266095" cy="252028"/>
            </a:xfrm>
            <a:prstGeom prst="rect">
              <a:avLst/>
            </a:prstGeom>
          </p:spPr>
          <p:txBody>
            <a:bodyPr lIns="50800" tIns="50800" rIns="50800" bIns="50800" rtlCol="0" anchor="ctr"/>
            <a:lstStyle/>
            <a:p>
              <a:pPr marL="0" lvl="0" indent="0" algn="ctr">
                <a:lnSpc>
                  <a:spcPts val="5880"/>
                </a:lnSpc>
                <a:spcBef>
                  <a:spcPct val="0"/>
                </a:spcBef>
              </a:pPr>
              <a:r>
                <a:rPr lang="en-US" sz="4200" b="1" dirty="0">
                  <a:solidFill>
                    <a:srgbClr val="000000"/>
                  </a:solidFill>
                  <a:latin typeface="Aileron Bold"/>
                  <a:ea typeface="Aileron Bold"/>
                  <a:cs typeface="Aileron Bold"/>
                  <a:sym typeface="Aileron Bold"/>
                </a:rPr>
                <a:t>02</a:t>
              </a:r>
            </a:p>
          </p:txBody>
        </p:sp>
      </p:grpSp>
      <p:grpSp>
        <p:nvGrpSpPr>
          <p:cNvPr id="14" name="Group 14"/>
          <p:cNvGrpSpPr/>
          <p:nvPr/>
        </p:nvGrpSpPr>
        <p:grpSpPr>
          <a:xfrm>
            <a:off x="11800777" y="3956069"/>
            <a:ext cx="1005165" cy="956918"/>
            <a:chOff x="0" y="0"/>
            <a:chExt cx="264735" cy="252028"/>
          </a:xfrm>
        </p:grpSpPr>
        <p:sp>
          <p:nvSpPr>
            <p:cNvPr id="15" name="Freeform 15"/>
            <p:cNvSpPr/>
            <p:nvPr/>
          </p:nvSpPr>
          <p:spPr>
            <a:xfrm>
              <a:off x="0" y="0"/>
              <a:ext cx="264735" cy="252028"/>
            </a:xfrm>
            <a:custGeom>
              <a:avLst/>
              <a:gdLst/>
              <a:ahLst/>
              <a:cxnLst/>
              <a:rect l="l" t="t" r="r" b="b"/>
              <a:pathLst>
                <a:path w="264735" h="252028">
                  <a:moveTo>
                    <a:pt x="126014" y="0"/>
                  </a:moveTo>
                  <a:lnTo>
                    <a:pt x="138721" y="0"/>
                  </a:lnTo>
                  <a:cubicBezTo>
                    <a:pt x="208316" y="0"/>
                    <a:pt x="264735" y="56418"/>
                    <a:pt x="264735" y="126014"/>
                  </a:cubicBezTo>
                  <a:lnTo>
                    <a:pt x="264735" y="126014"/>
                  </a:lnTo>
                  <a:cubicBezTo>
                    <a:pt x="264735" y="159435"/>
                    <a:pt x="251458" y="191487"/>
                    <a:pt x="227826" y="215119"/>
                  </a:cubicBezTo>
                  <a:cubicBezTo>
                    <a:pt x="204194" y="238751"/>
                    <a:pt x="172142" y="252028"/>
                    <a:pt x="138721" y="252028"/>
                  </a:cubicBezTo>
                  <a:lnTo>
                    <a:pt x="126014" y="252028"/>
                  </a:lnTo>
                  <a:cubicBezTo>
                    <a:pt x="56418" y="252028"/>
                    <a:pt x="0" y="195609"/>
                    <a:pt x="0" y="126014"/>
                  </a:cubicBezTo>
                  <a:lnTo>
                    <a:pt x="0" y="126014"/>
                  </a:lnTo>
                  <a:cubicBezTo>
                    <a:pt x="0" y="56418"/>
                    <a:pt x="56418" y="0"/>
                    <a:pt x="126014" y="0"/>
                  </a:cubicBezTo>
                  <a:close/>
                </a:path>
              </a:pathLst>
            </a:custGeom>
            <a:solidFill>
              <a:srgbClr val="AFC8E1"/>
            </a:solidFill>
            <a:ln cap="rnd">
              <a:noFill/>
              <a:prstDash val="solid"/>
              <a:round/>
            </a:ln>
          </p:spPr>
        </p:sp>
        <p:sp>
          <p:nvSpPr>
            <p:cNvPr id="16" name="TextBox 16"/>
            <p:cNvSpPr txBox="1"/>
            <p:nvPr/>
          </p:nvSpPr>
          <p:spPr>
            <a:xfrm>
              <a:off x="0" y="0"/>
              <a:ext cx="264735" cy="252028"/>
            </a:xfrm>
            <a:prstGeom prst="rect">
              <a:avLst/>
            </a:prstGeom>
          </p:spPr>
          <p:txBody>
            <a:bodyPr lIns="50800" tIns="50800" rIns="50800" bIns="50800" rtlCol="0" anchor="ctr"/>
            <a:lstStyle/>
            <a:p>
              <a:pPr marL="0" lvl="0" indent="0" algn="ctr">
                <a:lnSpc>
                  <a:spcPts val="5880"/>
                </a:lnSpc>
                <a:spcBef>
                  <a:spcPct val="0"/>
                </a:spcBef>
              </a:pPr>
              <a:r>
                <a:rPr lang="en-US" sz="4200" b="1" dirty="0">
                  <a:solidFill>
                    <a:srgbClr val="000000"/>
                  </a:solidFill>
                  <a:latin typeface="Aileron Bold"/>
                  <a:ea typeface="Aileron Bold"/>
                  <a:cs typeface="Aileron Bold"/>
                  <a:sym typeface="Aileron Bold"/>
                </a:rPr>
                <a:t>03</a:t>
              </a:r>
            </a:p>
          </p:txBody>
        </p:sp>
      </p:grpSp>
      <p:grpSp>
        <p:nvGrpSpPr>
          <p:cNvPr id="17" name="Group 17"/>
          <p:cNvGrpSpPr/>
          <p:nvPr/>
        </p:nvGrpSpPr>
        <p:grpSpPr>
          <a:xfrm>
            <a:off x="1385259" y="6456037"/>
            <a:ext cx="1005165" cy="956918"/>
            <a:chOff x="0" y="0"/>
            <a:chExt cx="264735" cy="252028"/>
          </a:xfrm>
        </p:grpSpPr>
        <p:sp>
          <p:nvSpPr>
            <p:cNvPr id="18" name="Freeform 18"/>
            <p:cNvSpPr/>
            <p:nvPr/>
          </p:nvSpPr>
          <p:spPr>
            <a:xfrm>
              <a:off x="0" y="0"/>
              <a:ext cx="264735" cy="252028"/>
            </a:xfrm>
            <a:custGeom>
              <a:avLst/>
              <a:gdLst/>
              <a:ahLst/>
              <a:cxnLst/>
              <a:rect l="l" t="t" r="r" b="b"/>
              <a:pathLst>
                <a:path w="264735" h="252028">
                  <a:moveTo>
                    <a:pt x="126014" y="0"/>
                  </a:moveTo>
                  <a:lnTo>
                    <a:pt x="138721" y="0"/>
                  </a:lnTo>
                  <a:cubicBezTo>
                    <a:pt x="208316" y="0"/>
                    <a:pt x="264735" y="56418"/>
                    <a:pt x="264735" y="126014"/>
                  </a:cubicBezTo>
                  <a:lnTo>
                    <a:pt x="264735" y="126014"/>
                  </a:lnTo>
                  <a:cubicBezTo>
                    <a:pt x="264735" y="159435"/>
                    <a:pt x="251458" y="191487"/>
                    <a:pt x="227826" y="215119"/>
                  </a:cubicBezTo>
                  <a:cubicBezTo>
                    <a:pt x="204194" y="238751"/>
                    <a:pt x="172142" y="252028"/>
                    <a:pt x="138721" y="252028"/>
                  </a:cubicBezTo>
                  <a:lnTo>
                    <a:pt x="126014" y="252028"/>
                  </a:lnTo>
                  <a:cubicBezTo>
                    <a:pt x="56418" y="252028"/>
                    <a:pt x="0" y="195609"/>
                    <a:pt x="0" y="126014"/>
                  </a:cubicBezTo>
                  <a:lnTo>
                    <a:pt x="0" y="126014"/>
                  </a:lnTo>
                  <a:cubicBezTo>
                    <a:pt x="0" y="56418"/>
                    <a:pt x="56418" y="0"/>
                    <a:pt x="126014" y="0"/>
                  </a:cubicBezTo>
                  <a:close/>
                </a:path>
              </a:pathLst>
            </a:custGeom>
            <a:solidFill>
              <a:srgbClr val="AFC8E1"/>
            </a:solidFill>
            <a:ln cap="rnd">
              <a:noFill/>
              <a:prstDash val="solid"/>
              <a:round/>
            </a:ln>
          </p:spPr>
        </p:sp>
        <p:sp>
          <p:nvSpPr>
            <p:cNvPr id="19" name="TextBox 19"/>
            <p:cNvSpPr txBox="1"/>
            <p:nvPr/>
          </p:nvSpPr>
          <p:spPr>
            <a:xfrm>
              <a:off x="0" y="0"/>
              <a:ext cx="263375" cy="252028"/>
            </a:xfrm>
            <a:prstGeom prst="rect">
              <a:avLst/>
            </a:prstGeom>
          </p:spPr>
          <p:txBody>
            <a:bodyPr lIns="50800" tIns="50800" rIns="50800" bIns="50800" rtlCol="0" anchor="ctr"/>
            <a:lstStyle/>
            <a:p>
              <a:pPr marL="0" lvl="0" indent="0" algn="ctr">
                <a:lnSpc>
                  <a:spcPts val="5880"/>
                </a:lnSpc>
                <a:spcBef>
                  <a:spcPct val="0"/>
                </a:spcBef>
              </a:pPr>
              <a:r>
                <a:rPr lang="en-US" sz="4200" b="1" dirty="0">
                  <a:solidFill>
                    <a:srgbClr val="000000"/>
                  </a:solidFill>
                  <a:latin typeface="Aileron Bold"/>
                  <a:ea typeface="Aileron Bold"/>
                  <a:cs typeface="Aileron Bold"/>
                  <a:sym typeface="Aileron Bold"/>
                </a:rPr>
                <a:t>04</a:t>
              </a:r>
            </a:p>
          </p:txBody>
        </p:sp>
      </p:grpSp>
      <p:grpSp>
        <p:nvGrpSpPr>
          <p:cNvPr id="20" name="Group 20"/>
          <p:cNvGrpSpPr/>
          <p:nvPr/>
        </p:nvGrpSpPr>
        <p:grpSpPr>
          <a:xfrm>
            <a:off x="6333986" y="6438535"/>
            <a:ext cx="1005165" cy="956922"/>
            <a:chOff x="0" y="-1"/>
            <a:chExt cx="264735" cy="252029"/>
          </a:xfrm>
        </p:grpSpPr>
        <p:sp>
          <p:nvSpPr>
            <p:cNvPr id="21" name="Freeform 21"/>
            <p:cNvSpPr/>
            <p:nvPr/>
          </p:nvSpPr>
          <p:spPr>
            <a:xfrm>
              <a:off x="0" y="0"/>
              <a:ext cx="264735" cy="252028"/>
            </a:xfrm>
            <a:custGeom>
              <a:avLst/>
              <a:gdLst/>
              <a:ahLst/>
              <a:cxnLst/>
              <a:rect l="l" t="t" r="r" b="b"/>
              <a:pathLst>
                <a:path w="264735" h="252028">
                  <a:moveTo>
                    <a:pt x="126014" y="0"/>
                  </a:moveTo>
                  <a:lnTo>
                    <a:pt x="138721" y="0"/>
                  </a:lnTo>
                  <a:cubicBezTo>
                    <a:pt x="208316" y="0"/>
                    <a:pt x="264735" y="56418"/>
                    <a:pt x="264735" y="126014"/>
                  </a:cubicBezTo>
                  <a:lnTo>
                    <a:pt x="264735" y="126014"/>
                  </a:lnTo>
                  <a:cubicBezTo>
                    <a:pt x="264735" y="159435"/>
                    <a:pt x="251458" y="191487"/>
                    <a:pt x="227826" y="215119"/>
                  </a:cubicBezTo>
                  <a:cubicBezTo>
                    <a:pt x="204194" y="238751"/>
                    <a:pt x="172142" y="252028"/>
                    <a:pt x="138721" y="252028"/>
                  </a:cubicBezTo>
                  <a:lnTo>
                    <a:pt x="126014" y="252028"/>
                  </a:lnTo>
                  <a:cubicBezTo>
                    <a:pt x="56418" y="252028"/>
                    <a:pt x="0" y="195609"/>
                    <a:pt x="0" y="126014"/>
                  </a:cubicBezTo>
                  <a:lnTo>
                    <a:pt x="0" y="126014"/>
                  </a:lnTo>
                  <a:cubicBezTo>
                    <a:pt x="0" y="56418"/>
                    <a:pt x="56418" y="0"/>
                    <a:pt x="126014" y="0"/>
                  </a:cubicBezTo>
                  <a:close/>
                </a:path>
              </a:pathLst>
            </a:custGeom>
            <a:solidFill>
              <a:srgbClr val="AFC8E1"/>
            </a:solidFill>
            <a:ln cap="rnd">
              <a:noFill/>
              <a:prstDash val="solid"/>
              <a:round/>
            </a:ln>
          </p:spPr>
        </p:sp>
        <p:sp>
          <p:nvSpPr>
            <p:cNvPr id="22" name="TextBox 22"/>
            <p:cNvSpPr txBox="1"/>
            <p:nvPr/>
          </p:nvSpPr>
          <p:spPr>
            <a:xfrm>
              <a:off x="0" y="-1"/>
              <a:ext cx="264735" cy="252029"/>
            </a:xfrm>
            <a:prstGeom prst="rect">
              <a:avLst/>
            </a:prstGeom>
          </p:spPr>
          <p:txBody>
            <a:bodyPr lIns="50800" tIns="50800" rIns="50800" bIns="50800" rtlCol="0" anchor="ctr"/>
            <a:lstStyle/>
            <a:p>
              <a:pPr marL="0" lvl="0" indent="0" algn="ctr">
                <a:lnSpc>
                  <a:spcPts val="5880"/>
                </a:lnSpc>
                <a:spcBef>
                  <a:spcPct val="0"/>
                </a:spcBef>
              </a:pPr>
              <a:r>
                <a:rPr lang="en-US" sz="4200" b="1" dirty="0">
                  <a:solidFill>
                    <a:srgbClr val="000000"/>
                  </a:solidFill>
                  <a:latin typeface="Aileron Bold"/>
                  <a:ea typeface="Aileron Bold"/>
                  <a:cs typeface="Aileron Bold"/>
                  <a:sym typeface="Aileron Bold"/>
                </a:rPr>
                <a:t>05</a:t>
              </a:r>
            </a:p>
          </p:txBody>
        </p:sp>
      </p:grpSp>
      <p:grpSp>
        <p:nvGrpSpPr>
          <p:cNvPr id="23" name="Group 23"/>
          <p:cNvGrpSpPr/>
          <p:nvPr/>
        </p:nvGrpSpPr>
        <p:grpSpPr>
          <a:xfrm>
            <a:off x="11883511" y="6438537"/>
            <a:ext cx="1005165" cy="974418"/>
            <a:chOff x="0" y="-4609"/>
            <a:chExt cx="264735" cy="256637"/>
          </a:xfrm>
        </p:grpSpPr>
        <p:sp>
          <p:nvSpPr>
            <p:cNvPr id="24" name="Freeform 24"/>
            <p:cNvSpPr/>
            <p:nvPr/>
          </p:nvSpPr>
          <p:spPr>
            <a:xfrm>
              <a:off x="0" y="0"/>
              <a:ext cx="264735" cy="252028"/>
            </a:xfrm>
            <a:custGeom>
              <a:avLst/>
              <a:gdLst/>
              <a:ahLst/>
              <a:cxnLst/>
              <a:rect l="l" t="t" r="r" b="b"/>
              <a:pathLst>
                <a:path w="264735" h="252028">
                  <a:moveTo>
                    <a:pt x="126014" y="0"/>
                  </a:moveTo>
                  <a:lnTo>
                    <a:pt x="138721" y="0"/>
                  </a:lnTo>
                  <a:cubicBezTo>
                    <a:pt x="208316" y="0"/>
                    <a:pt x="264735" y="56418"/>
                    <a:pt x="264735" y="126014"/>
                  </a:cubicBezTo>
                  <a:lnTo>
                    <a:pt x="264735" y="126014"/>
                  </a:lnTo>
                  <a:cubicBezTo>
                    <a:pt x="264735" y="159435"/>
                    <a:pt x="251458" y="191487"/>
                    <a:pt x="227826" y="215119"/>
                  </a:cubicBezTo>
                  <a:cubicBezTo>
                    <a:pt x="204194" y="238751"/>
                    <a:pt x="172142" y="252028"/>
                    <a:pt x="138721" y="252028"/>
                  </a:cubicBezTo>
                  <a:lnTo>
                    <a:pt x="126014" y="252028"/>
                  </a:lnTo>
                  <a:cubicBezTo>
                    <a:pt x="56418" y="252028"/>
                    <a:pt x="0" y="195609"/>
                    <a:pt x="0" y="126014"/>
                  </a:cubicBezTo>
                  <a:lnTo>
                    <a:pt x="0" y="126014"/>
                  </a:lnTo>
                  <a:cubicBezTo>
                    <a:pt x="0" y="56418"/>
                    <a:pt x="56418" y="0"/>
                    <a:pt x="126014" y="0"/>
                  </a:cubicBezTo>
                  <a:close/>
                </a:path>
              </a:pathLst>
            </a:custGeom>
            <a:solidFill>
              <a:srgbClr val="AFC8E1"/>
            </a:solidFill>
            <a:ln cap="rnd">
              <a:noFill/>
              <a:prstDash val="solid"/>
              <a:round/>
            </a:ln>
          </p:spPr>
        </p:sp>
        <p:sp>
          <p:nvSpPr>
            <p:cNvPr id="25" name="TextBox 25"/>
            <p:cNvSpPr txBox="1"/>
            <p:nvPr/>
          </p:nvSpPr>
          <p:spPr>
            <a:xfrm>
              <a:off x="0" y="-4609"/>
              <a:ext cx="264735" cy="256637"/>
            </a:xfrm>
            <a:prstGeom prst="rect">
              <a:avLst/>
            </a:prstGeom>
          </p:spPr>
          <p:txBody>
            <a:bodyPr lIns="50800" tIns="50800" rIns="50800" bIns="50800" rtlCol="0" anchor="ctr"/>
            <a:lstStyle/>
            <a:p>
              <a:pPr marL="0" lvl="0" indent="0" algn="ctr">
                <a:lnSpc>
                  <a:spcPts val="5880"/>
                </a:lnSpc>
                <a:spcBef>
                  <a:spcPct val="0"/>
                </a:spcBef>
              </a:pPr>
              <a:r>
                <a:rPr lang="en-US" sz="4200" b="1" dirty="0">
                  <a:solidFill>
                    <a:srgbClr val="000000"/>
                  </a:solidFill>
                  <a:latin typeface="Aileron Bold"/>
                  <a:ea typeface="Aileron Bold"/>
                  <a:cs typeface="Aileron Bold"/>
                  <a:sym typeface="Aileron Bold"/>
                </a:rPr>
                <a:t>06</a:t>
              </a:r>
            </a:p>
          </p:txBody>
        </p:sp>
      </p:grpSp>
      <p:sp>
        <p:nvSpPr>
          <p:cNvPr id="26" name="TextBox 26"/>
          <p:cNvSpPr txBox="1"/>
          <p:nvPr/>
        </p:nvSpPr>
        <p:spPr>
          <a:xfrm>
            <a:off x="1385259" y="1528084"/>
            <a:ext cx="3821728" cy="1102360"/>
          </a:xfrm>
          <a:prstGeom prst="rect">
            <a:avLst/>
          </a:prstGeom>
        </p:spPr>
        <p:txBody>
          <a:bodyPr lIns="0" tIns="0" rIns="0" bIns="0" rtlCol="0" anchor="t">
            <a:spAutoFit/>
          </a:bodyPr>
          <a:lstStyle/>
          <a:p>
            <a:pPr algn="l">
              <a:lnSpc>
                <a:spcPts val="7669"/>
              </a:lnSpc>
            </a:pPr>
            <a:r>
              <a:rPr lang="en-US" sz="6499" b="1">
                <a:solidFill>
                  <a:srgbClr val="283C4C"/>
                </a:solidFill>
                <a:latin typeface="Akzidenz-Grotesk Heavy"/>
                <a:ea typeface="Akzidenz-Grotesk Heavy"/>
                <a:cs typeface="Akzidenz-Grotesk Heavy"/>
                <a:sym typeface="Akzidenz-Grotesk Heavy"/>
              </a:rPr>
              <a:t>Contents </a:t>
            </a:r>
          </a:p>
        </p:txBody>
      </p:sp>
      <p:sp>
        <p:nvSpPr>
          <p:cNvPr id="27" name="TextBox 27"/>
          <p:cNvSpPr txBox="1"/>
          <p:nvPr/>
        </p:nvSpPr>
        <p:spPr>
          <a:xfrm>
            <a:off x="1636809" y="3966802"/>
            <a:ext cx="3948725" cy="821055"/>
          </a:xfrm>
          <a:prstGeom prst="rect">
            <a:avLst/>
          </a:prstGeom>
        </p:spPr>
        <p:txBody>
          <a:bodyPr lIns="0" tIns="0" rIns="0" bIns="0" rtlCol="0" anchor="t">
            <a:spAutoFit/>
          </a:bodyPr>
          <a:lstStyle/>
          <a:p>
            <a:pPr algn="ctr">
              <a:lnSpc>
                <a:spcPts val="6719"/>
              </a:lnSpc>
            </a:pPr>
            <a:r>
              <a:rPr lang="en-US" sz="4800" b="1">
                <a:solidFill>
                  <a:srgbClr val="192F40"/>
                </a:solidFill>
                <a:latin typeface="Aileron Heavy"/>
                <a:ea typeface="Aileron Heavy"/>
                <a:cs typeface="Aileron Heavy"/>
                <a:sym typeface="Aileron Heavy"/>
              </a:rPr>
              <a:t>Topic</a:t>
            </a:r>
          </a:p>
        </p:txBody>
      </p:sp>
      <p:sp>
        <p:nvSpPr>
          <p:cNvPr id="28" name="TextBox 28"/>
          <p:cNvSpPr txBox="1"/>
          <p:nvPr/>
        </p:nvSpPr>
        <p:spPr>
          <a:xfrm>
            <a:off x="7339151" y="3649619"/>
            <a:ext cx="3948725" cy="1464945"/>
          </a:xfrm>
          <a:prstGeom prst="rect">
            <a:avLst/>
          </a:prstGeom>
        </p:spPr>
        <p:txBody>
          <a:bodyPr lIns="0" tIns="0" rIns="0" bIns="0" rtlCol="0" anchor="t">
            <a:spAutoFit/>
          </a:bodyPr>
          <a:lstStyle/>
          <a:p>
            <a:pPr algn="ctr">
              <a:lnSpc>
                <a:spcPts val="5880"/>
              </a:lnSpc>
            </a:pPr>
            <a:r>
              <a:rPr lang="en-US" sz="4200" b="1">
                <a:solidFill>
                  <a:srgbClr val="192F40"/>
                </a:solidFill>
                <a:latin typeface="Aileron Heavy"/>
                <a:ea typeface="Aileron Heavy"/>
                <a:cs typeface="Aileron Heavy"/>
                <a:sym typeface="Aileron Heavy"/>
              </a:rPr>
              <a:t>System architecture</a:t>
            </a:r>
          </a:p>
        </p:txBody>
      </p:sp>
      <p:sp>
        <p:nvSpPr>
          <p:cNvPr id="29" name="TextBox 29"/>
          <p:cNvSpPr txBox="1"/>
          <p:nvPr/>
        </p:nvSpPr>
        <p:spPr>
          <a:xfrm>
            <a:off x="7565087" y="6530636"/>
            <a:ext cx="4092489" cy="721995"/>
          </a:xfrm>
          <a:prstGeom prst="rect">
            <a:avLst/>
          </a:prstGeom>
        </p:spPr>
        <p:txBody>
          <a:bodyPr lIns="0" tIns="0" rIns="0" bIns="0" rtlCol="0" anchor="t">
            <a:spAutoFit/>
          </a:bodyPr>
          <a:lstStyle/>
          <a:p>
            <a:pPr algn="ctr">
              <a:lnSpc>
                <a:spcPts val="5880"/>
              </a:lnSpc>
            </a:pPr>
            <a:r>
              <a:rPr lang="en-US" sz="4200" b="1">
                <a:solidFill>
                  <a:srgbClr val="192F40"/>
                </a:solidFill>
                <a:latin typeface="Aileron Heavy"/>
                <a:ea typeface="Aileron Heavy"/>
                <a:cs typeface="Aileron Heavy"/>
                <a:sym typeface="Aileron Heavy"/>
              </a:rPr>
              <a:t>Bill of materials</a:t>
            </a:r>
          </a:p>
        </p:txBody>
      </p:sp>
      <p:sp>
        <p:nvSpPr>
          <p:cNvPr id="30" name="TextBox 30"/>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2</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grpSp>
        <p:nvGrpSpPr>
          <p:cNvPr id="2" name="Group 2"/>
          <p:cNvGrpSpPr/>
          <p:nvPr/>
        </p:nvGrpSpPr>
        <p:grpSpPr>
          <a:xfrm>
            <a:off x="2033865" y="4516380"/>
            <a:ext cx="7943912" cy="809328"/>
            <a:chOff x="0" y="0"/>
            <a:chExt cx="2092224" cy="213156"/>
          </a:xfrm>
        </p:grpSpPr>
        <p:sp>
          <p:nvSpPr>
            <p:cNvPr id="3" name="Freeform 3"/>
            <p:cNvSpPr/>
            <p:nvPr/>
          </p:nvSpPr>
          <p:spPr>
            <a:xfrm>
              <a:off x="0" y="0"/>
              <a:ext cx="2092224" cy="213156"/>
            </a:xfrm>
            <a:custGeom>
              <a:avLst/>
              <a:gdLst/>
              <a:ahLst/>
              <a:cxnLst/>
              <a:rect l="l" t="t" r="r" b="b"/>
              <a:pathLst>
                <a:path w="2092224" h="213156">
                  <a:moveTo>
                    <a:pt x="97457" y="0"/>
                  </a:moveTo>
                  <a:lnTo>
                    <a:pt x="1994767" y="0"/>
                  </a:lnTo>
                  <a:cubicBezTo>
                    <a:pt x="2048591" y="0"/>
                    <a:pt x="2092224" y="43633"/>
                    <a:pt x="2092224" y="97457"/>
                  </a:cubicBezTo>
                  <a:lnTo>
                    <a:pt x="2092224" y="115699"/>
                  </a:lnTo>
                  <a:cubicBezTo>
                    <a:pt x="2092224" y="169523"/>
                    <a:pt x="2048591" y="213156"/>
                    <a:pt x="1994767" y="213156"/>
                  </a:cubicBezTo>
                  <a:lnTo>
                    <a:pt x="97457" y="213156"/>
                  </a:lnTo>
                  <a:cubicBezTo>
                    <a:pt x="43633" y="213156"/>
                    <a:pt x="0" y="169523"/>
                    <a:pt x="0" y="115699"/>
                  </a:cubicBezTo>
                  <a:lnTo>
                    <a:pt x="0" y="97457"/>
                  </a:lnTo>
                  <a:cubicBezTo>
                    <a:pt x="0" y="43633"/>
                    <a:pt x="43633" y="0"/>
                    <a:pt x="97457" y="0"/>
                  </a:cubicBezTo>
                  <a:close/>
                </a:path>
              </a:pathLst>
            </a:custGeom>
            <a:solidFill>
              <a:srgbClr val="AFC8E1"/>
            </a:solidFill>
            <a:ln cap="rnd">
              <a:noFill/>
              <a:prstDash val="solid"/>
              <a:round/>
            </a:ln>
          </p:spPr>
        </p:sp>
        <p:sp>
          <p:nvSpPr>
            <p:cNvPr id="4" name="TextBox 4"/>
            <p:cNvSpPr txBox="1"/>
            <p:nvPr/>
          </p:nvSpPr>
          <p:spPr>
            <a:xfrm>
              <a:off x="0" y="-76200"/>
              <a:ext cx="2092224" cy="289356"/>
            </a:xfrm>
            <a:prstGeom prst="rect">
              <a:avLst/>
            </a:prstGeom>
          </p:spPr>
          <p:txBody>
            <a:bodyPr lIns="50800" tIns="50800" rIns="50800" bIns="50800" rtlCol="0" anchor="ctr"/>
            <a:lstStyle/>
            <a:p>
              <a:pPr marL="0" lvl="0" indent="0" algn="ctr">
                <a:lnSpc>
                  <a:spcPts val="4900"/>
                </a:lnSpc>
                <a:spcBef>
                  <a:spcPct val="0"/>
                </a:spcBef>
              </a:pPr>
              <a:endParaRPr/>
            </a:p>
          </p:txBody>
        </p:sp>
      </p:grpSp>
      <p:grpSp>
        <p:nvGrpSpPr>
          <p:cNvPr id="5" name="Group 5"/>
          <p:cNvGrpSpPr/>
          <p:nvPr/>
        </p:nvGrpSpPr>
        <p:grpSpPr>
          <a:xfrm>
            <a:off x="1028700" y="933450"/>
            <a:ext cx="1169496" cy="1154115"/>
            <a:chOff x="0" y="0"/>
            <a:chExt cx="308015" cy="303965"/>
          </a:xfrm>
        </p:grpSpPr>
        <p:sp>
          <p:nvSpPr>
            <p:cNvPr id="6" name="Freeform 6"/>
            <p:cNvSpPr/>
            <p:nvPr/>
          </p:nvSpPr>
          <p:spPr>
            <a:xfrm>
              <a:off x="0" y="0"/>
              <a:ext cx="308015" cy="303965"/>
            </a:xfrm>
            <a:custGeom>
              <a:avLst/>
              <a:gdLst/>
              <a:ahLst/>
              <a:cxnLst/>
              <a:rect l="l" t="t" r="r" b="b"/>
              <a:pathLst>
                <a:path w="308015" h="303965">
                  <a:moveTo>
                    <a:pt x="151982" y="0"/>
                  </a:moveTo>
                  <a:lnTo>
                    <a:pt x="156033" y="0"/>
                  </a:lnTo>
                  <a:cubicBezTo>
                    <a:pt x="239971" y="0"/>
                    <a:pt x="308015" y="68045"/>
                    <a:pt x="308015" y="151982"/>
                  </a:cubicBezTo>
                  <a:lnTo>
                    <a:pt x="308015" y="151982"/>
                  </a:lnTo>
                  <a:cubicBezTo>
                    <a:pt x="308015" y="235920"/>
                    <a:pt x="239971" y="303965"/>
                    <a:pt x="156033" y="303965"/>
                  </a:cubicBezTo>
                  <a:lnTo>
                    <a:pt x="151982" y="303965"/>
                  </a:lnTo>
                  <a:cubicBezTo>
                    <a:pt x="68045" y="303965"/>
                    <a:pt x="0" y="235920"/>
                    <a:pt x="0" y="151982"/>
                  </a:cubicBezTo>
                  <a:lnTo>
                    <a:pt x="0" y="151982"/>
                  </a:lnTo>
                  <a:cubicBezTo>
                    <a:pt x="0" y="68045"/>
                    <a:pt x="68045" y="0"/>
                    <a:pt x="151982" y="0"/>
                  </a:cubicBezTo>
                  <a:close/>
                </a:path>
              </a:pathLst>
            </a:custGeom>
            <a:solidFill>
              <a:srgbClr val="AFC8E1"/>
            </a:solidFill>
            <a:ln cap="rnd">
              <a:noFill/>
              <a:prstDash val="solid"/>
              <a:round/>
            </a:ln>
          </p:spPr>
        </p:sp>
        <p:sp>
          <p:nvSpPr>
            <p:cNvPr id="7" name="TextBox 7"/>
            <p:cNvSpPr txBox="1"/>
            <p:nvPr/>
          </p:nvSpPr>
          <p:spPr>
            <a:xfrm>
              <a:off x="0" y="0"/>
              <a:ext cx="308015" cy="303965"/>
            </a:xfrm>
            <a:prstGeom prst="rect">
              <a:avLst/>
            </a:prstGeom>
          </p:spPr>
          <p:txBody>
            <a:bodyPr lIns="50800" tIns="50800" rIns="50800" bIns="50800" rtlCol="0" anchor="ctr"/>
            <a:lstStyle/>
            <a:p>
              <a:pPr marL="0" lvl="0" indent="0" algn="ctr">
                <a:lnSpc>
                  <a:spcPts val="6719"/>
                </a:lnSpc>
                <a:spcBef>
                  <a:spcPct val="0"/>
                </a:spcBef>
              </a:pPr>
              <a:r>
                <a:rPr lang="en-US" sz="4799" b="1" dirty="0">
                  <a:solidFill>
                    <a:srgbClr val="000000"/>
                  </a:solidFill>
                  <a:latin typeface="Aileron Bold"/>
                  <a:ea typeface="Aileron Bold"/>
                  <a:cs typeface="Aileron Bold"/>
                  <a:sym typeface="Aileron Bold"/>
                </a:rPr>
                <a:t>01</a:t>
              </a:r>
            </a:p>
          </p:txBody>
        </p:sp>
      </p:grpSp>
      <p:grpSp>
        <p:nvGrpSpPr>
          <p:cNvPr id="8" name="Group 8"/>
          <p:cNvGrpSpPr/>
          <p:nvPr/>
        </p:nvGrpSpPr>
        <p:grpSpPr>
          <a:xfrm>
            <a:off x="11566808" y="3850568"/>
            <a:ext cx="5177417" cy="5093715"/>
            <a:chOff x="0" y="0"/>
            <a:chExt cx="6903223" cy="6791620"/>
          </a:xfrm>
        </p:grpSpPr>
        <p:sp>
          <p:nvSpPr>
            <p:cNvPr id="9" name="Freeform 9"/>
            <p:cNvSpPr/>
            <p:nvPr/>
          </p:nvSpPr>
          <p:spPr>
            <a:xfrm>
              <a:off x="422928" y="3741778"/>
              <a:ext cx="2314495" cy="2314495"/>
            </a:xfrm>
            <a:custGeom>
              <a:avLst/>
              <a:gdLst/>
              <a:ahLst/>
              <a:cxnLst/>
              <a:rect l="l" t="t" r="r" b="b"/>
              <a:pathLst>
                <a:path w="2314495" h="2314495">
                  <a:moveTo>
                    <a:pt x="0" y="0"/>
                  </a:moveTo>
                  <a:lnTo>
                    <a:pt x="2314494" y="0"/>
                  </a:lnTo>
                  <a:lnTo>
                    <a:pt x="2314494" y="2314494"/>
                  </a:lnTo>
                  <a:lnTo>
                    <a:pt x="0" y="2314494"/>
                  </a:lnTo>
                  <a:lnTo>
                    <a:pt x="0" y="0"/>
                  </a:lnTo>
                  <a:close/>
                </a:path>
              </a:pathLst>
            </a:custGeom>
            <a:blipFill>
              <a:blip r:embed="rId2"/>
              <a:stretch>
                <a:fillRect/>
              </a:stretch>
            </a:blipFill>
          </p:spPr>
        </p:sp>
        <p:sp>
          <p:nvSpPr>
            <p:cNvPr id="10" name="Freeform 10"/>
            <p:cNvSpPr/>
            <p:nvPr/>
          </p:nvSpPr>
          <p:spPr>
            <a:xfrm>
              <a:off x="1924787" y="3479238"/>
              <a:ext cx="877948" cy="877948"/>
            </a:xfrm>
            <a:custGeom>
              <a:avLst/>
              <a:gdLst/>
              <a:ahLst/>
              <a:cxnLst/>
              <a:rect l="l" t="t" r="r" b="b"/>
              <a:pathLst>
                <a:path w="877948" h="877948">
                  <a:moveTo>
                    <a:pt x="0" y="0"/>
                  </a:moveTo>
                  <a:lnTo>
                    <a:pt x="877948" y="0"/>
                  </a:lnTo>
                  <a:lnTo>
                    <a:pt x="877948" y="877947"/>
                  </a:lnTo>
                  <a:lnTo>
                    <a:pt x="0" y="877947"/>
                  </a:lnTo>
                  <a:lnTo>
                    <a:pt x="0" y="0"/>
                  </a:lnTo>
                  <a:close/>
                </a:path>
              </a:pathLst>
            </a:custGeom>
            <a:blipFill>
              <a:blip r:embed="rId3"/>
              <a:stretch>
                <a:fillRect/>
              </a:stretch>
            </a:blipFill>
          </p:spPr>
        </p:sp>
        <p:sp>
          <p:nvSpPr>
            <p:cNvPr id="11" name="Freeform 11"/>
            <p:cNvSpPr/>
            <p:nvPr/>
          </p:nvSpPr>
          <p:spPr>
            <a:xfrm>
              <a:off x="2067473" y="0"/>
              <a:ext cx="4835750" cy="4019717"/>
            </a:xfrm>
            <a:custGeom>
              <a:avLst/>
              <a:gdLst/>
              <a:ahLst/>
              <a:cxnLst/>
              <a:rect l="l" t="t" r="r" b="b"/>
              <a:pathLst>
                <a:path w="4835750" h="4019717">
                  <a:moveTo>
                    <a:pt x="0" y="0"/>
                  </a:moveTo>
                  <a:lnTo>
                    <a:pt x="4835750" y="0"/>
                  </a:lnTo>
                  <a:lnTo>
                    <a:pt x="4835750" y="4019717"/>
                  </a:lnTo>
                  <a:lnTo>
                    <a:pt x="0" y="4019717"/>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12" name="TextBox 12"/>
            <p:cNvSpPr txBox="1"/>
            <p:nvPr/>
          </p:nvSpPr>
          <p:spPr>
            <a:xfrm>
              <a:off x="0" y="6234938"/>
              <a:ext cx="3225662" cy="556681"/>
            </a:xfrm>
            <a:prstGeom prst="rect">
              <a:avLst/>
            </a:prstGeom>
          </p:spPr>
          <p:txBody>
            <a:bodyPr lIns="0" tIns="0" rIns="0" bIns="0" rtlCol="0" anchor="t">
              <a:spAutoFit/>
            </a:bodyPr>
            <a:lstStyle/>
            <a:p>
              <a:pPr algn="ctr">
                <a:lnSpc>
                  <a:spcPts val="3500"/>
                </a:lnSpc>
              </a:pPr>
              <a:r>
                <a:rPr lang="en-US" sz="2500" b="1">
                  <a:solidFill>
                    <a:srgbClr val="192F40"/>
                  </a:solidFill>
                  <a:latin typeface="Aileron Heavy"/>
                  <a:ea typeface="Aileron Heavy"/>
                  <a:cs typeface="Aileron Heavy"/>
                  <a:sym typeface="Aileron Heavy"/>
                </a:rPr>
                <a:t>office worker</a:t>
              </a:r>
            </a:p>
          </p:txBody>
        </p:sp>
        <p:sp>
          <p:nvSpPr>
            <p:cNvPr id="13" name="TextBox 13"/>
            <p:cNvSpPr txBox="1"/>
            <p:nvPr/>
          </p:nvSpPr>
          <p:spPr>
            <a:xfrm>
              <a:off x="2467334" y="868978"/>
              <a:ext cx="4036027" cy="1725081"/>
            </a:xfrm>
            <a:prstGeom prst="rect">
              <a:avLst/>
            </a:prstGeom>
          </p:spPr>
          <p:txBody>
            <a:bodyPr lIns="0" tIns="0" rIns="0" bIns="0" rtlCol="0" anchor="t">
              <a:spAutoFit/>
            </a:bodyPr>
            <a:lstStyle/>
            <a:p>
              <a:pPr algn="ctr">
                <a:lnSpc>
                  <a:spcPts val="3500"/>
                </a:lnSpc>
              </a:pPr>
              <a:r>
                <a:rPr lang="en-US" sz="2500" b="1">
                  <a:solidFill>
                    <a:srgbClr val="192F40"/>
                  </a:solidFill>
                  <a:latin typeface="Aileron Heavy"/>
                  <a:ea typeface="Aileron Heavy"/>
                  <a:cs typeface="Aileron Heavy"/>
                  <a:sym typeface="Aileron Heavy"/>
                </a:rPr>
                <a:t>When was the last time you took a sip of water?</a:t>
              </a:r>
            </a:p>
          </p:txBody>
        </p:sp>
      </p:grpSp>
      <p:grpSp>
        <p:nvGrpSpPr>
          <p:cNvPr id="14" name="Group 14"/>
          <p:cNvGrpSpPr/>
          <p:nvPr/>
        </p:nvGrpSpPr>
        <p:grpSpPr>
          <a:xfrm>
            <a:off x="2033865" y="5993063"/>
            <a:ext cx="7943912" cy="809328"/>
            <a:chOff x="0" y="0"/>
            <a:chExt cx="2092224" cy="213156"/>
          </a:xfrm>
        </p:grpSpPr>
        <p:sp>
          <p:nvSpPr>
            <p:cNvPr id="15" name="Freeform 15"/>
            <p:cNvSpPr/>
            <p:nvPr/>
          </p:nvSpPr>
          <p:spPr>
            <a:xfrm>
              <a:off x="0" y="0"/>
              <a:ext cx="2092224" cy="213156"/>
            </a:xfrm>
            <a:custGeom>
              <a:avLst/>
              <a:gdLst/>
              <a:ahLst/>
              <a:cxnLst/>
              <a:rect l="l" t="t" r="r" b="b"/>
              <a:pathLst>
                <a:path w="2092224" h="213156">
                  <a:moveTo>
                    <a:pt x="97457" y="0"/>
                  </a:moveTo>
                  <a:lnTo>
                    <a:pt x="1994767" y="0"/>
                  </a:lnTo>
                  <a:cubicBezTo>
                    <a:pt x="2048591" y="0"/>
                    <a:pt x="2092224" y="43633"/>
                    <a:pt x="2092224" y="97457"/>
                  </a:cubicBezTo>
                  <a:lnTo>
                    <a:pt x="2092224" y="115699"/>
                  </a:lnTo>
                  <a:cubicBezTo>
                    <a:pt x="2092224" y="169523"/>
                    <a:pt x="2048591" y="213156"/>
                    <a:pt x="1994767" y="213156"/>
                  </a:cubicBezTo>
                  <a:lnTo>
                    <a:pt x="97457" y="213156"/>
                  </a:lnTo>
                  <a:cubicBezTo>
                    <a:pt x="43633" y="213156"/>
                    <a:pt x="0" y="169523"/>
                    <a:pt x="0" y="115699"/>
                  </a:cubicBezTo>
                  <a:lnTo>
                    <a:pt x="0" y="97457"/>
                  </a:lnTo>
                  <a:cubicBezTo>
                    <a:pt x="0" y="43633"/>
                    <a:pt x="43633" y="0"/>
                    <a:pt x="97457" y="0"/>
                  </a:cubicBezTo>
                  <a:close/>
                </a:path>
              </a:pathLst>
            </a:custGeom>
            <a:solidFill>
              <a:srgbClr val="AFC8E1"/>
            </a:solidFill>
            <a:ln cap="rnd">
              <a:noFill/>
              <a:prstDash val="solid"/>
              <a:round/>
            </a:ln>
          </p:spPr>
        </p:sp>
        <p:sp>
          <p:nvSpPr>
            <p:cNvPr id="16" name="TextBox 16"/>
            <p:cNvSpPr txBox="1"/>
            <p:nvPr/>
          </p:nvSpPr>
          <p:spPr>
            <a:xfrm>
              <a:off x="0" y="-76200"/>
              <a:ext cx="2092224" cy="289356"/>
            </a:xfrm>
            <a:prstGeom prst="rect">
              <a:avLst/>
            </a:prstGeom>
          </p:spPr>
          <p:txBody>
            <a:bodyPr lIns="50800" tIns="50800" rIns="50800" bIns="50800" rtlCol="0" anchor="ctr"/>
            <a:lstStyle/>
            <a:p>
              <a:pPr marL="0" lvl="0" indent="0" algn="ctr">
                <a:lnSpc>
                  <a:spcPts val="4900"/>
                </a:lnSpc>
                <a:spcBef>
                  <a:spcPct val="0"/>
                </a:spcBef>
              </a:pPr>
              <a:endParaRPr/>
            </a:p>
          </p:txBody>
        </p:sp>
      </p:grpSp>
      <p:grpSp>
        <p:nvGrpSpPr>
          <p:cNvPr id="17" name="Group 17"/>
          <p:cNvGrpSpPr/>
          <p:nvPr/>
        </p:nvGrpSpPr>
        <p:grpSpPr>
          <a:xfrm>
            <a:off x="2033865" y="7469141"/>
            <a:ext cx="7943912" cy="809328"/>
            <a:chOff x="0" y="0"/>
            <a:chExt cx="2092224" cy="213156"/>
          </a:xfrm>
        </p:grpSpPr>
        <p:sp>
          <p:nvSpPr>
            <p:cNvPr id="18" name="Freeform 18"/>
            <p:cNvSpPr/>
            <p:nvPr/>
          </p:nvSpPr>
          <p:spPr>
            <a:xfrm>
              <a:off x="0" y="0"/>
              <a:ext cx="2092224" cy="213156"/>
            </a:xfrm>
            <a:custGeom>
              <a:avLst/>
              <a:gdLst/>
              <a:ahLst/>
              <a:cxnLst/>
              <a:rect l="l" t="t" r="r" b="b"/>
              <a:pathLst>
                <a:path w="2092224" h="213156">
                  <a:moveTo>
                    <a:pt x="97457" y="0"/>
                  </a:moveTo>
                  <a:lnTo>
                    <a:pt x="1994767" y="0"/>
                  </a:lnTo>
                  <a:cubicBezTo>
                    <a:pt x="2048591" y="0"/>
                    <a:pt x="2092224" y="43633"/>
                    <a:pt x="2092224" y="97457"/>
                  </a:cubicBezTo>
                  <a:lnTo>
                    <a:pt x="2092224" y="115699"/>
                  </a:lnTo>
                  <a:cubicBezTo>
                    <a:pt x="2092224" y="169523"/>
                    <a:pt x="2048591" y="213156"/>
                    <a:pt x="1994767" y="213156"/>
                  </a:cubicBezTo>
                  <a:lnTo>
                    <a:pt x="97457" y="213156"/>
                  </a:lnTo>
                  <a:cubicBezTo>
                    <a:pt x="43633" y="213156"/>
                    <a:pt x="0" y="169523"/>
                    <a:pt x="0" y="115699"/>
                  </a:cubicBezTo>
                  <a:lnTo>
                    <a:pt x="0" y="97457"/>
                  </a:lnTo>
                  <a:cubicBezTo>
                    <a:pt x="0" y="43633"/>
                    <a:pt x="43633" y="0"/>
                    <a:pt x="97457" y="0"/>
                  </a:cubicBezTo>
                  <a:close/>
                </a:path>
              </a:pathLst>
            </a:custGeom>
            <a:solidFill>
              <a:srgbClr val="AFC8E1"/>
            </a:solidFill>
            <a:ln cap="rnd">
              <a:noFill/>
              <a:prstDash val="solid"/>
              <a:round/>
            </a:ln>
          </p:spPr>
        </p:sp>
        <p:sp>
          <p:nvSpPr>
            <p:cNvPr id="19" name="TextBox 19"/>
            <p:cNvSpPr txBox="1"/>
            <p:nvPr/>
          </p:nvSpPr>
          <p:spPr>
            <a:xfrm>
              <a:off x="0" y="-76200"/>
              <a:ext cx="2092224" cy="289356"/>
            </a:xfrm>
            <a:prstGeom prst="rect">
              <a:avLst/>
            </a:prstGeom>
          </p:spPr>
          <p:txBody>
            <a:bodyPr lIns="50800" tIns="50800" rIns="50800" bIns="50800" rtlCol="0" anchor="ctr"/>
            <a:lstStyle/>
            <a:p>
              <a:pPr marL="0" lvl="0" indent="0" algn="ctr">
                <a:lnSpc>
                  <a:spcPts val="4900"/>
                </a:lnSpc>
                <a:spcBef>
                  <a:spcPct val="0"/>
                </a:spcBef>
              </a:pPr>
              <a:endParaRPr/>
            </a:p>
          </p:txBody>
        </p:sp>
      </p:grpSp>
      <p:sp>
        <p:nvSpPr>
          <p:cNvPr id="20" name="TextBox 20"/>
          <p:cNvSpPr txBox="1"/>
          <p:nvPr/>
        </p:nvSpPr>
        <p:spPr>
          <a:xfrm>
            <a:off x="2473042" y="4579732"/>
            <a:ext cx="7065558" cy="606425"/>
          </a:xfrm>
          <a:prstGeom prst="rect">
            <a:avLst/>
          </a:prstGeom>
        </p:spPr>
        <p:txBody>
          <a:bodyPr lIns="0" tIns="0" rIns="0" bIns="0" rtlCol="0" anchor="t">
            <a:spAutoFit/>
          </a:bodyPr>
          <a:lstStyle/>
          <a:p>
            <a:pPr algn="ctr">
              <a:lnSpc>
                <a:spcPts val="4900"/>
              </a:lnSpc>
            </a:pPr>
            <a:r>
              <a:rPr lang="en-US" sz="3500" b="1">
                <a:solidFill>
                  <a:srgbClr val="192F40"/>
                </a:solidFill>
                <a:latin typeface="Aileron Heavy"/>
                <a:ea typeface="Aileron Heavy"/>
                <a:cs typeface="Aileron Heavy"/>
                <a:sym typeface="Aileron Heavy"/>
              </a:rPr>
              <a:t>The Cost of  Deep Work</a:t>
            </a:r>
          </a:p>
        </p:txBody>
      </p:sp>
      <p:sp>
        <p:nvSpPr>
          <p:cNvPr id="21" name="TextBox 21"/>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3</a:t>
            </a:r>
          </a:p>
        </p:txBody>
      </p:sp>
      <p:sp>
        <p:nvSpPr>
          <p:cNvPr id="22" name="TextBox 22"/>
          <p:cNvSpPr txBox="1"/>
          <p:nvPr/>
        </p:nvSpPr>
        <p:spPr>
          <a:xfrm>
            <a:off x="1543775" y="989807"/>
            <a:ext cx="3948725" cy="936625"/>
          </a:xfrm>
          <a:prstGeom prst="rect">
            <a:avLst/>
          </a:prstGeom>
        </p:spPr>
        <p:txBody>
          <a:bodyPr lIns="0" tIns="0" rIns="0" bIns="0" rtlCol="0" anchor="t">
            <a:spAutoFit/>
          </a:bodyPr>
          <a:lstStyle/>
          <a:p>
            <a:pPr algn="ctr">
              <a:lnSpc>
                <a:spcPts val="7699"/>
              </a:lnSpc>
            </a:pPr>
            <a:r>
              <a:rPr lang="en-US" sz="5499" b="1">
                <a:solidFill>
                  <a:srgbClr val="192F40"/>
                </a:solidFill>
                <a:latin typeface="Aileron Heavy"/>
                <a:ea typeface="Aileron Heavy"/>
                <a:cs typeface="Aileron Heavy"/>
                <a:sym typeface="Aileron Heavy"/>
              </a:rPr>
              <a:t>Topic</a:t>
            </a:r>
          </a:p>
        </p:txBody>
      </p:sp>
      <p:sp>
        <p:nvSpPr>
          <p:cNvPr id="23" name="TextBox 23"/>
          <p:cNvSpPr txBox="1"/>
          <p:nvPr/>
        </p:nvSpPr>
        <p:spPr>
          <a:xfrm>
            <a:off x="2565640" y="6056415"/>
            <a:ext cx="6880362" cy="606425"/>
          </a:xfrm>
          <a:prstGeom prst="rect">
            <a:avLst/>
          </a:prstGeom>
        </p:spPr>
        <p:txBody>
          <a:bodyPr lIns="0" tIns="0" rIns="0" bIns="0" rtlCol="0" anchor="t">
            <a:spAutoFit/>
          </a:bodyPr>
          <a:lstStyle/>
          <a:p>
            <a:pPr algn="ctr">
              <a:lnSpc>
                <a:spcPts val="4900"/>
              </a:lnSpc>
            </a:pPr>
            <a:r>
              <a:rPr lang="en-US" sz="3500" b="1">
                <a:solidFill>
                  <a:srgbClr val="192F40"/>
                </a:solidFill>
                <a:latin typeface="Aileron Heavy"/>
                <a:ea typeface="Aileron Heavy"/>
                <a:cs typeface="Aileron Heavy"/>
                <a:sym typeface="Aileron Heavy"/>
              </a:rPr>
              <a:t>Busyness as the Norm</a:t>
            </a:r>
          </a:p>
        </p:txBody>
      </p:sp>
      <p:sp>
        <p:nvSpPr>
          <p:cNvPr id="24" name="TextBox 24"/>
          <p:cNvSpPr txBox="1"/>
          <p:nvPr/>
        </p:nvSpPr>
        <p:spPr>
          <a:xfrm>
            <a:off x="2565640" y="7532493"/>
            <a:ext cx="6880362" cy="606425"/>
          </a:xfrm>
          <a:prstGeom prst="rect">
            <a:avLst/>
          </a:prstGeom>
        </p:spPr>
        <p:txBody>
          <a:bodyPr lIns="0" tIns="0" rIns="0" bIns="0" rtlCol="0" anchor="t">
            <a:spAutoFit/>
          </a:bodyPr>
          <a:lstStyle/>
          <a:p>
            <a:pPr algn="ctr">
              <a:lnSpc>
                <a:spcPts val="4900"/>
              </a:lnSpc>
            </a:pPr>
            <a:r>
              <a:rPr lang="en-US" sz="3500" b="1">
                <a:solidFill>
                  <a:srgbClr val="192F40"/>
                </a:solidFill>
                <a:latin typeface="Aileron Heavy"/>
                <a:ea typeface="Aileron Heavy"/>
                <a:cs typeface="Aileron Heavy"/>
                <a:sym typeface="Aileron Heavy"/>
              </a:rPr>
              <a:t>The Invisible Health Hazard</a:t>
            </a:r>
          </a:p>
        </p:txBody>
      </p:sp>
      <p:sp>
        <p:nvSpPr>
          <p:cNvPr id="25" name="TextBox 25"/>
          <p:cNvSpPr txBox="1"/>
          <p:nvPr/>
        </p:nvSpPr>
        <p:spPr>
          <a:xfrm>
            <a:off x="1543775" y="2140574"/>
            <a:ext cx="15200450" cy="1519555"/>
          </a:xfrm>
          <a:prstGeom prst="rect">
            <a:avLst/>
          </a:prstGeom>
        </p:spPr>
        <p:txBody>
          <a:bodyPr lIns="0" tIns="0" rIns="0" bIns="0" rtlCol="0" anchor="t">
            <a:spAutoFit/>
          </a:bodyPr>
          <a:lstStyle/>
          <a:p>
            <a:pPr algn="ctr">
              <a:lnSpc>
                <a:spcPts val="7139"/>
              </a:lnSpc>
            </a:pPr>
            <a:r>
              <a:rPr lang="en-US" sz="5099" b="1">
                <a:solidFill>
                  <a:srgbClr val="192F40"/>
                </a:solidFill>
                <a:latin typeface="Aileron Heavy"/>
                <a:ea typeface="Aileron Heavy"/>
                <a:cs typeface="Aileron Heavy"/>
                <a:sym typeface="Aileron Heavy"/>
              </a:rPr>
              <a:t>Have You Had Water Today ?</a:t>
            </a:r>
          </a:p>
          <a:p>
            <a:pPr algn="ctr">
              <a:lnSpc>
                <a:spcPts val="4900"/>
              </a:lnSpc>
            </a:pPr>
            <a:r>
              <a:rPr lang="en-US" sz="3500" b="1">
                <a:solidFill>
                  <a:srgbClr val="192F40"/>
                </a:solidFill>
                <a:latin typeface="Aileron Heavy"/>
                <a:ea typeface="Aileron Heavy"/>
                <a:cs typeface="Aileron Heavy"/>
                <a:sym typeface="Aileron Heavy"/>
              </a:rPr>
              <a:t>An Overlooked Office Wellness Problem</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grpSp>
        <p:nvGrpSpPr>
          <p:cNvPr id="2" name="Group 2"/>
          <p:cNvGrpSpPr/>
          <p:nvPr/>
        </p:nvGrpSpPr>
        <p:grpSpPr>
          <a:xfrm>
            <a:off x="4808169" y="3101799"/>
            <a:ext cx="6705754" cy="777235"/>
            <a:chOff x="0" y="0"/>
            <a:chExt cx="1766125" cy="204704"/>
          </a:xfrm>
        </p:grpSpPr>
        <p:sp>
          <p:nvSpPr>
            <p:cNvPr id="3" name="Freeform 3"/>
            <p:cNvSpPr/>
            <p:nvPr/>
          </p:nvSpPr>
          <p:spPr>
            <a:xfrm>
              <a:off x="0" y="0"/>
              <a:ext cx="1766125" cy="204704"/>
            </a:xfrm>
            <a:custGeom>
              <a:avLst/>
              <a:gdLst/>
              <a:ahLst/>
              <a:cxnLst/>
              <a:rect l="l" t="t" r="r" b="b"/>
              <a:pathLst>
                <a:path w="1766125" h="204704">
                  <a:moveTo>
                    <a:pt x="102352" y="0"/>
                  </a:moveTo>
                  <a:lnTo>
                    <a:pt x="1663773" y="0"/>
                  </a:lnTo>
                  <a:cubicBezTo>
                    <a:pt x="1690918" y="0"/>
                    <a:pt x="1716952" y="10783"/>
                    <a:pt x="1736146" y="29978"/>
                  </a:cubicBezTo>
                  <a:cubicBezTo>
                    <a:pt x="1755341" y="49173"/>
                    <a:pt x="1766125" y="75206"/>
                    <a:pt x="1766125" y="102352"/>
                  </a:cubicBezTo>
                  <a:lnTo>
                    <a:pt x="1766125" y="102352"/>
                  </a:lnTo>
                  <a:cubicBezTo>
                    <a:pt x="1766125" y="158879"/>
                    <a:pt x="1720300" y="204704"/>
                    <a:pt x="1663773" y="204704"/>
                  </a:cubicBezTo>
                  <a:lnTo>
                    <a:pt x="102352" y="204704"/>
                  </a:lnTo>
                  <a:cubicBezTo>
                    <a:pt x="45824" y="204704"/>
                    <a:pt x="0" y="158879"/>
                    <a:pt x="0" y="102352"/>
                  </a:cubicBezTo>
                  <a:lnTo>
                    <a:pt x="0" y="102352"/>
                  </a:lnTo>
                  <a:cubicBezTo>
                    <a:pt x="0" y="45824"/>
                    <a:pt x="45824" y="0"/>
                    <a:pt x="102352" y="0"/>
                  </a:cubicBezTo>
                  <a:close/>
                </a:path>
              </a:pathLst>
            </a:custGeom>
            <a:solidFill>
              <a:srgbClr val="AFC8E1"/>
            </a:solidFill>
            <a:ln cap="rnd">
              <a:noFill/>
              <a:prstDash val="solid"/>
              <a:round/>
            </a:ln>
          </p:spPr>
        </p:sp>
        <p:sp>
          <p:nvSpPr>
            <p:cNvPr id="4" name="TextBox 4"/>
            <p:cNvSpPr txBox="1"/>
            <p:nvPr/>
          </p:nvSpPr>
          <p:spPr>
            <a:xfrm>
              <a:off x="0" y="-76200"/>
              <a:ext cx="1766125" cy="280904"/>
            </a:xfrm>
            <a:prstGeom prst="rect">
              <a:avLst/>
            </a:prstGeom>
          </p:spPr>
          <p:txBody>
            <a:bodyPr lIns="50800" tIns="50800" rIns="50800" bIns="50800" rtlCol="0" anchor="ctr"/>
            <a:lstStyle/>
            <a:p>
              <a:pPr marL="0" lvl="0" indent="0" algn="ctr">
                <a:lnSpc>
                  <a:spcPts val="5040"/>
                </a:lnSpc>
                <a:spcBef>
                  <a:spcPct val="0"/>
                </a:spcBef>
              </a:pPr>
              <a:endParaRPr/>
            </a:p>
          </p:txBody>
        </p:sp>
      </p:grpSp>
      <p:sp>
        <p:nvSpPr>
          <p:cNvPr id="5" name="TextBox 5"/>
          <p:cNvSpPr txBox="1"/>
          <p:nvPr/>
        </p:nvSpPr>
        <p:spPr>
          <a:xfrm>
            <a:off x="4808169" y="4105986"/>
            <a:ext cx="4966926" cy="1017270"/>
          </a:xfrm>
          <a:prstGeom prst="rect">
            <a:avLst/>
          </a:prstGeom>
        </p:spPr>
        <p:txBody>
          <a:bodyPr lIns="0" tIns="0" rIns="0" bIns="0" rtlCol="0" anchor="t">
            <a:spAutoFit/>
          </a:bodyPr>
          <a:lstStyle/>
          <a:p>
            <a:pPr marL="604519" lvl="1" indent="-302260" algn="l">
              <a:lnSpc>
                <a:spcPts val="4199"/>
              </a:lnSpc>
              <a:buFont typeface="Arial"/>
              <a:buChar char="•"/>
            </a:pPr>
            <a:r>
              <a:rPr lang="en-US" sz="2799" b="1" spc="83">
                <a:solidFill>
                  <a:srgbClr val="192F40"/>
                </a:solidFill>
                <a:latin typeface="Aileron Bold"/>
                <a:ea typeface="Aileron Bold"/>
                <a:cs typeface="Aileron Bold"/>
                <a:sym typeface="Aileron Bold"/>
              </a:rPr>
              <a:t>Manual Entry </a:t>
            </a:r>
          </a:p>
          <a:p>
            <a:pPr marL="604519" lvl="1" indent="-302260" algn="l">
              <a:lnSpc>
                <a:spcPts val="4199"/>
              </a:lnSpc>
              <a:buFont typeface="Arial"/>
              <a:buChar char="•"/>
            </a:pPr>
            <a:r>
              <a:rPr lang="en-US" sz="2799" b="1" spc="83">
                <a:solidFill>
                  <a:srgbClr val="192F40"/>
                </a:solidFill>
                <a:latin typeface="Aileron Bold"/>
                <a:ea typeface="Aileron Bold"/>
                <a:cs typeface="Aileron Bold"/>
                <a:sym typeface="Aileron Bold"/>
              </a:rPr>
              <a:t>Irrelevant Notifications </a:t>
            </a:r>
          </a:p>
        </p:txBody>
      </p:sp>
      <p:sp>
        <p:nvSpPr>
          <p:cNvPr id="6" name="TextBox 6"/>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4</a:t>
            </a:r>
          </a:p>
        </p:txBody>
      </p:sp>
      <p:grpSp>
        <p:nvGrpSpPr>
          <p:cNvPr id="7" name="Group 7"/>
          <p:cNvGrpSpPr/>
          <p:nvPr/>
        </p:nvGrpSpPr>
        <p:grpSpPr>
          <a:xfrm>
            <a:off x="12056848" y="3101799"/>
            <a:ext cx="3087062" cy="774105"/>
            <a:chOff x="0" y="0"/>
            <a:chExt cx="813053" cy="203880"/>
          </a:xfrm>
        </p:grpSpPr>
        <p:sp>
          <p:nvSpPr>
            <p:cNvPr id="8" name="Freeform 8"/>
            <p:cNvSpPr/>
            <p:nvPr/>
          </p:nvSpPr>
          <p:spPr>
            <a:xfrm>
              <a:off x="0" y="0"/>
              <a:ext cx="813053" cy="203880"/>
            </a:xfrm>
            <a:custGeom>
              <a:avLst/>
              <a:gdLst/>
              <a:ahLst/>
              <a:cxnLst/>
              <a:rect l="l" t="t" r="r" b="b"/>
              <a:pathLst>
                <a:path w="813053" h="203880">
                  <a:moveTo>
                    <a:pt x="101940" y="0"/>
                  </a:moveTo>
                  <a:lnTo>
                    <a:pt x="711113" y="0"/>
                  </a:lnTo>
                  <a:cubicBezTo>
                    <a:pt x="738150" y="0"/>
                    <a:pt x="764078" y="10740"/>
                    <a:pt x="783196" y="29857"/>
                  </a:cubicBezTo>
                  <a:cubicBezTo>
                    <a:pt x="802313" y="48975"/>
                    <a:pt x="813053" y="74904"/>
                    <a:pt x="813053" y="101940"/>
                  </a:cubicBezTo>
                  <a:lnTo>
                    <a:pt x="813053" y="101940"/>
                  </a:lnTo>
                  <a:cubicBezTo>
                    <a:pt x="813053" y="128976"/>
                    <a:pt x="802313" y="154905"/>
                    <a:pt x="783196" y="174022"/>
                  </a:cubicBezTo>
                  <a:cubicBezTo>
                    <a:pt x="764078" y="193140"/>
                    <a:pt x="738150" y="203880"/>
                    <a:pt x="711113" y="203880"/>
                  </a:cubicBezTo>
                  <a:lnTo>
                    <a:pt x="101940" y="203880"/>
                  </a:lnTo>
                  <a:cubicBezTo>
                    <a:pt x="74904" y="203880"/>
                    <a:pt x="48975" y="193140"/>
                    <a:pt x="29857" y="174022"/>
                  </a:cubicBezTo>
                  <a:cubicBezTo>
                    <a:pt x="10740" y="154905"/>
                    <a:pt x="0" y="128976"/>
                    <a:pt x="0" y="101940"/>
                  </a:cubicBezTo>
                  <a:lnTo>
                    <a:pt x="0" y="101940"/>
                  </a:lnTo>
                  <a:cubicBezTo>
                    <a:pt x="0" y="74904"/>
                    <a:pt x="10740" y="48975"/>
                    <a:pt x="29857" y="29857"/>
                  </a:cubicBezTo>
                  <a:cubicBezTo>
                    <a:pt x="48975" y="10740"/>
                    <a:pt x="74904" y="0"/>
                    <a:pt x="101940" y="0"/>
                  </a:cubicBezTo>
                  <a:close/>
                </a:path>
              </a:pathLst>
            </a:custGeom>
            <a:solidFill>
              <a:srgbClr val="AFC8E1"/>
            </a:solidFill>
            <a:ln cap="rnd">
              <a:noFill/>
              <a:prstDash val="solid"/>
              <a:round/>
            </a:ln>
          </p:spPr>
        </p:sp>
        <p:sp>
          <p:nvSpPr>
            <p:cNvPr id="9" name="TextBox 9"/>
            <p:cNvSpPr txBox="1"/>
            <p:nvPr/>
          </p:nvSpPr>
          <p:spPr>
            <a:xfrm>
              <a:off x="0" y="-76200"/>
              <a:ext cx="813053" cy="280080"/>
            </a:xfrm>
            <a:prstGeom prst="rect">
              <a:avLst/>
            </a:prstGeom>
          </p:spPr>
          <p:txBody>
            <a:bodyPr lIns="50800" tIns="50800" rIns="50800" bIns="50800" rtlCol="0" anchor="ctr"/>
            <a:lstStyle/>
            <a:p>
              <a:pPr marL="0" lvl="0" indent="0" algn="ctr">
                <a:lnSpc>
                  <a:spcPts val="5040"/>
                </a:lnSpc>
                <a:spcBef>
                  <a:spcPct val="0"/>
                </a:spcBef>
              </a:pPr>
              <a:endParaRPr/>
            </a:p>
          </p:txBody>
        </p:sp>
      </p:grpSp>
      <p:sp>
        <p:nvSpPr>
          <p:cNvPr id="10" name="TextBox 10"/>
          <p:cNvSpPr txBox="1"/>
          <p:nvPr/>
        </p:nvSpPr>
        <p:spPr>
          <a:xfrm>
            <a:off x="12056848" y="4126230"/>
            <a:ext cx="5508791" cy="1017270"/>
          </a:xfrm>
          <a:prstGeom prst="rect">
            <a:avLst/>
          </a:prstGeom>
        </p:spPr>
        <p:txBody>
          <a:bodyPr lIns="0" tIns="0" rIns="0" bIns="0" rtlCol="0" anchor="t">
            <a:spAutoFit/>
          </a:bodyPr>
          <a:lstStyle/>
          <a:p>
            <a:pPr marL="604519" lvl="1" indent="-302260" algn="l">
              <a:lnSpc>
                <a:spcPts val="4199"/>
              </a:lnSpc>
              <a:buFont typeface="Arial"/>
              <a:buChar char="•"/>
            </a:pPr>
            <a:r>
              <a:rPr lang="en-US" sz="2799" b="1" spc="83">
                <a:solidFill>
                  <a:srgbClr val="192F40"/>
                </a:solidFill>
                <a:latin typeface="Aileron Bold"/>
                <a:ea typeface="Aileron Bold"/>
                <a:cs typeface="Aileron Bold"/>
                <a:sym typeface="Aileron Bold"/>
              </a:rPr>
              <a:t>High Cost</a:t>
            </a:r>
          </a:p>
          <a:p>
            <a:pPr marL="604519" lvl="1" indent="-302260" algn="l">
              <a:lnSpc>
                <a:spcPts val="4199"/>
              </a:lnSpc>
              <a:buFont typeface="Arial"/>
              <a:buChar char="•"/>
            </a:pPr>
            <a:r>
              <a:rPr lang="en-US" sz="2799" b="1" spc="83">
                <a:solidFill>
                  <a:srgbClr val="192F40"/>
                </a:solidFill>
                <a:latin typeface="Aileron Bold"/>
                <a:ea typeface="Aileron Bold"/>
                <a:cs typeface="Aileron Bold"/>
                <a:sym typeface="Aileron Bold"/>
              </a:rPr>
              <a:t>Container-Specific</a:t>
            </a:r>
          </a:p>
        </p:txBody>
      </p:sp>
      <p:sp>
        <p:nvSpPr>
          <p:cNvPr id="11" name="TextBox 11"/>
          <p:cNvSpPr txBox="1"/>
          <p:nvPr/>
        </p:nvSpPr>
        <p:spPr>
          <a:xfrm>
            <a:off x="5012710" y="3169196"/>
            <a:ext cx="6501213" cy="537845"/>
          </a:xfrm>
          <a:prstGeom prst="rect">
            <a:avLst/>
          </a:prstGeom>
        </p:spPr>
        <p:txBody>
          <a:bodyPr lIns="0" tIns="0" rIns="0" bIns="0" rtlCol="0" anchor="t">
            <a:spAutoFit/>
          </a:bodyPr>
          <a:lstStyle/>
          <a:p>
            <a:pPr algn="l">
              <a:lnSpc>
                <a:spcPts val="4480"/>
              </a:lnSpc>
            </a:pPr>
            <a:r>
              <a:rPr lang="en-US" sz="3200" b="1">
                <a:solidFill>
                  <a:srgbClr val="192F40"/>
                </a:solidFill>
                <a:latin typeface="Aileron Heavy"/>
                <a:ea typeface="Aileron Heavy"/>
                <a:cs typeface="Aileron Heavy"/>
                <a:sym typeface="Aileron Heavy"/>
              </a:rPr>
              <a:t>Mobile Apps / Desktop Software</a:t>
            </a:r>
          </a:p>
        </p:txBody>
      </p:sp>
      <p:sp>
        <p:nvSpPr>
          <p:cNvPr id="12" name="TextBox 12"/>
          <p:cNvSpPr txBox="1"/>
          <p:nvPr/>
        </p:nvSpPr>
        <p:spPr>
          <a:xfrm>
            <a:off x="12191717" y="3191354"/>
            <a:ext cx="3387038" cy="537845"/>
          </a:xfrm>
          <a:prstGeom prst="rect">
            <a:avLst/>
          </a:prstGeom>
        </p:spPr>
        <p:txBody>
          <a:bodyPr lIns="0" tIns="0" rIns="0" bIns="0" rtlCol="0" anchor="t">
            <a:spAutoFit/>
          </a:bodyPr>
          <a:lstStyle/>
          <a:p>
            <a:pPr algn="l">
              <a:lnSpc>
                <a:spcPts val="4480"/>
              </a:lnSpc>
            </a:pPr>
            <a:r>
              <a:rPr lang="en-US" sz="3200" b="1">
                <a:solidFill>
                  <a:srgbClr val="192F40"/>
                </a:solidFill>
                <a:latin typeface="Aileron Heavy"/>
                <a:ea typeface="Aileron Heavy"/>
                <a:cs typeface="Aileron Heavy"/>
                <a:sym typeface="Aileron Heavy"/>
              </a:rPr>
              <a:t>Smart Bottles</a:t>
            </a:r>
          </a:p>
        </p:txBody>
      </p:sp>
      <p:sp>
        <p:nvSpPr>
          <p:cNvPr id="13" name="TextBox 13"/>
          <p:cNvSpPr txBox="1"/>
          <p:nvPr/>
        </p:nvSpPr>
        <p:spPr>
          <a:xfrm>
            <a:off x="1489800" y="3280161"/>
            <a:ext cx="2828032" cy="1739900"/>
          </a:xfrm>
          <a:prstGeom prst="rect">
            <a:avLst/>
          </a:prstGeom>
        </p:spPr>
        <p:txBody>
          <a:bodyPr lIns="0" tIns="0" rIns="0" bIns="0" rtlCol="0" anchor="t">
            <a:spAutoFit/>
          </a:bodyPr>
          <a:lstStyle/>
          <a:p>
            <a:pPr algn="ctr">
              <a:lnSpc>
                <a:spcPts val="6999"/>
              </a:lnSpc>
              <a:spcBef>
                <a:spcPct val="0"/>
              </a:spcBef>
            </a:pPr>
            <a:r>
              <a:rPr lang="en-US" sz="4999" b="1" i="1">
                <a:solidFill>
                  <a:srgbClr val="192F40"/>
                </a:solidFill>
                <a:latin typeface="Aileron Bold Italics"/>
                <a:ea typeface="Aileron Bold Italics"/>
                <a:cs typeface="Aileron Bold Italics"/>
                <a:sym typeface="Aileron Bold Italics"/>
              </a:rPr>
              <a:t>Existing</a:t>
            </a:r>
          </a:p>
          <a:p>
            <a:pPr algn="ctr">
              <a:lnSpc>
                <a:spcPts val="6999"/>
              </a:lnSpc>
              <a:spcBef>
                <a:spcPct val="0"/>
              </a:spcBef>
            </a:pPr>
            <a:r>
              <a:rPr lang="en-US" sz="4999" b="1" i="1">
                <a:solidFill>
                  <a:srgbClr val="192F40"/>
                </a:solidFill>
                <a:latin typeface="Aileron Bold Italics"/>
                <a:ea typeface="Aileron Bold Italics"/>
                <a:cs typeface="Aileron Bold Italics"/>
                <a:sym typeface="Aileron Bold Italics"/>
              </a:rPr>
              <a:t>Solutions</a:t>
            </a:r>
          </a:p>
        </p:txBody>
      </p:sp>
      <p:sp>
        <p:nvSpPr>
          <p:cNvPr id="14" name="TextBox 14"/>
          <p:cNvSpPr txBox="1"/>
          <p:nvPr/>
        </p:nvSpPr>
        <p:spPr>
          <a:xfrm>
            <a:off x="1644085" y="6913236"/>
            <a:ext cx="2519462" cy="1739900"/>
          </a:xfrm>
          <a:prstGeom prst="rect">
            <a:avLst/>
          </a:prstGeom>
        </p:spPr>
        <p:txBody>
          <a:bodyPr lIns="0" tIns="0" rIns="0" bIns="0" rtlCol="0" anchor="t">
            <a:spAutoFit/>
          </a:bodyPr>
          <a:lstStyle/>
          <a:p>
            <a:pPr algn="ctr">
              <a:lnSpc>
                <a:spcPts val="6999"/>
              </a:lnSpc>
              <a:spcBef>
                <a:spcPct val="0"/>
              </a:spcBef>
            </a:pPr>
            <a:r>
              <a:rPr lang="en-US" sz="4999" b="1" i="1">
                <a:solidFill>
                  <a:srgbClr val="192F40"/>
                </a:solidFill>
                <a:latin typeface="Aileron Bold Italics"/>
                <a:ea typeface="Aileron Bold Italics"/>
                <a:cs typeface="Aileron Bold Italics"/>
                <a:sym typeface="Aileron Bold Italics"/>
              </a:rPr>
              <a:t>Our</a:t>
            </a:r>
          </a:p>
          <a:p>
            <a:pPr algn="ctr">
              <a:lnSpc>
                <a:spcPts val="6999"/>
              </a:lnSpc>
              <a:spcBef>
                <a:spcPct val="0"/>
              </a:spcBef>
            </a:pPr>
            <a:r>
              <a:rPr lang="en-US" sz="4999" b="1" i="1">
                <a:solidFill>
                  <a:srgbClr val="192F40"/>
                </a:solidFill>
                <a:latin typeface="Aileron Bold Italics"/>
                <a:ea typeface="Aileron Bold Italics"/>
                <a:cs typeface="Aileron Bold Italics"/>
                <a:sym typeface="Aileron Bold Italics"/>
              </a:rPr>
              <a:t>Solution</a:t>
            </a:r>
          </a:p>
        </p:txBody>
      </p:sp>
      <p:grpSp>
        <p:nvGrpSpPr>
          <p:cNvPr id="15" name="Group 15"/>
          <p:cNvGrpSpPr/>
          <p:nvPr/>
        </p:nvGrpSpPr>
        <p:grpSpPr>
          <a:xfrm>
            <a:off x="4808169" y="7379009"/>
            <a:ext cx="3352877" cy="786765"/>
            <a:chOff x="0" y="0"/>
            <a:chExt cx="883062" cy="207214"/>
          </a:xfrm>
        </p:grpSpPr>
        <p:sp>
          <p:nvSpPr>
            <p:cNvPr id="16" name="Freeform 16"/>
            <p:cNvSpPr/>
            <p:nvPr/>
          </p:nvSpPr>
          <p:spPr>
            <a:xfrm>
              <a:off x="0" y="0"/>
              <a:ext cx="883062" cy="207214"/>
            </a:xfrm>
            <a:custGeom>
              <a:avLst/>
              <a:gdLst/>
              <a:ahLst/>
              <a:cxnLst/>
              <a:rect l="l" t="t" r="r" b="b"/>
              <a:pathLst>
                <a:path w="883062" h="207214">
                  <a:moveTo>
                    <a:pt x="103607" y="0"/>
                  </a:moveTo>
                  <a:lnTo>
                    <a:pt x="779455" y="0"/>
                  </a:lnTo>
                  <a:cubicBezTo>
                    <a:pt x="836676" y="0"/>
                    <a:pt x="883062" y="46386"/>
                    <a:pt x="883062" y="103607"/>
                  </a:cubicBezTo>
                  <a:lnTo>
                    <a:pt x="883062" y="103607"/>
                  </a:lnTo>
                  <a:cubicBezTo>
                    <a:pt x="883062" y="160827"/>
                    <a:pt x="836676" y="207214"/>
                    <a:pt x="779455" y="207214"/>
                  </a:cubicBezTo>
                  <a:lnTo>
                    <a:pt x="103607" y="207214"/>
                  </a:lnTo>
                  <a:cubicBezTo>
                    <a:pt x="46386" y="207214"/>
                    <a:pt x="0" y="160827"/>
                    <a:pt x="0" y="103607"/>
                  </a:cubicBezTo>
                  <a:lnTo>
                    <a:pt x="0" y="103607"/>
                  </a:lnTo>
                  <a:cubicBezTo>
                    <a:pt x="0" y="46386"/>
                    <a:pt x="46386" y="0"/>
                    <a:pt x="103607" y="0"/>
                  </a:cubicBezTo>
                  <a:close/>
                </a:path>
              </a:pathLst>
            </a:custGeom>
            <a:solidFill>
              <a:srgbClr val="AFC8E1"/>
            </a:solidFill>
            <a:ln cap="rnd">
              <a:noFill/>
              <a:prstDash val="solid"/>
              <a:round/>
            </a:ln>
          </p:spPr>
        </p:sp>
        <p:sp>
          <p:nvSpPr>
            <p:cNvPr id="17" name="TextBox 17"/>
            <p:cNvSpPr txBox="1"/>
            <p:nvPr/>
          </p:nvSpPr>
          <p:spPr>
            <a:xfrm>
              <a:off x="0" y="-76200"/>
              <a:ext cx="883062" cy="283414"/>
            </a:xfrm>
            <a:prstGeom prst="rect">
              <a:avLst/>
            </a:prstGeom>
          </p:spPr>
          <p:txBody>
            <a:bodyPr lIns="50800" tIns="50800" rIns="50800" bIns="50800" rtlCol="0" anchor="ctr"/>
            <a:lstStyle/>
            <a:p>
              <a:pPr marL="0" lvl="0" indent="0" algn="ctr">
                <a:lnSpc>
                  <a:spcPts val="5040"/>
                </a:lnSpc>
                <a:spcBef>
                  <a:spcPct val="0"/>
                </a:spcBef>
              </a:pPr>
              <a:endParaRPr/>
            </a:p>
          </p:txBody>
        </p:sp>
      </p:grpSp>
      <p:sp>
        <p:nvSpPr>
          <p:cNvPr id="18" name="TextBox 18"/>
          <p:cNvSpPr txBox="1"/>
          <p:nvPr/>
        </p:nvSpPr>
        <p:spPr>
          <a:xfrm>
            <a:off x="5012710" y="7474894"/>
            <a:ext cx="3387038" cy="537845"/>
          </a:xfrm>
          <a:prstGeom prst="rect">
            <a:avLst/>
          </a:prstGeom>
        </p:spPr>
        <p:txBody>
          <a:bodyPr lIns="0" tIns="0" rIns="0" bIns="0" rtlCol="0" anchor="t">
            <a:spAutoFit/>
          </a:bodyPr>
          <a:lstStyle/>
          <a:p>
            <a:pPr algn="l">
              <a:lnSpc>
                <a:spcPts val="4480"/>
              </a:lnSpc>
            </a:pPr>
            <a:r>
              <a:rPr lang="en-US" sz="3200" b="1">
                <a:solidFill>
                  <a:srgbClr val="192F40"/>
                </a:solidFill>
                <a:latin typeface="Aileron Heavy"/>
                <a:ea typeface="Aileron Heavy"/>
                <a:cs typeface="Aileron Heavy"/>
                <a:sym typeface="Aileron Heavy"/>
              </a:rPr>
              <a:t>Smart Coaster</a:t>
            </a:r>
          </a:p>
        </p:txBody>
      </p:sp>
      <p:sp>
        <p:nvSpPr>
          <p:cNvPr id="19" name="TextBox 19"/>
          <p:cNvSpPr txBox="1"/>
          <p:nvPr/>
        </p:nvSpPr>
        <p:spPr>
          <a:xfrm>
            <a:off x="8330076" y="6731627"/>
            <a:ext cx="6352779" cy="2112643"/>
          </a:xfrm>
          <a:prstGeom prst="rect">
            <a:avLst/>
          </a:prstGeom>
        </p:spPr>
        <p:txBody>
          <a:bodyPr lIns="0" tIns="0" rIns="0" bIns="0" rtlCol="0" anchor="t">
            <a:spAutoFit/>
          </a:bodyPr>
          <a:lstStyle/>
          <a:p>
            <a:pPr marL="604532" lvl="1" indent="-302266" algn="l">
              <a:lnSpc>
                <a:spcPts val="4200"/>
              </a:lnSpc>
              <a:buFont typeface="Arial"/>
              <a:buChar char="•"/>
            </a:pPr>
            <a:r>
              <a:rPr lang="en-US" sz="2800" b="1" spc="84">
                <a:solidFill>
                  <a:srgbClr val="000000"/>
                </a:solidFill>
                <a:latin typeface="Aileron Bold"/>
                <a:ea typeface="Aileron Bold"/>
                <a:cs typeface="Aileron Bold"/>
                <a:sym typeface="Aileron Bold"/>
              </a:rPr>
              <a:t>Low Cost</a:t>
            </a:r>
          </a:p>
          <a:p>
            <a:pPr marL="604532" lvl="1" indent="-302266" algn="l">
              <a:lnSpc>
                <a:spcPts val="4200"/>
              </a:lnSpc>
              <a:buFont typeface="Arial"/>
              <a:buChar char="•"/>
            </a:pPr>
            <a:r>
              <a:rPr lang="en-US" sz="2800" b="1" spc="84">
                <a:solidFill>
                  <a:srgbClr val="000000"/>
                </a:solidFill>
                <a:latin typeface="Aileron Bold"/>
                <a:ea typeface="Aileron Bold"/>
                <a:cs typeface="Aileron Bold"/>
                <a:sym typeface="Aileron Bold"/>
              </a:rPr>
              <a:t>Zero-Effort Automatic Tracking</a:t>
            </a:r>
          </a:p>
          <a:p>
            <a:pPr marL="604532" lvl="1" indent="-302266" algn="l">
              <a:lnSpc>
                <a:spcPts val="4200"/>
              </a:lnSpc>
              <a:buFont typeface="Arial"/>
              <a:buChar char="•"/>
            </a:pPr>
            <a:r>
              <a:rPr lang="en-US" sz="2800" b="1" spc="84">
                <a:solidFill>
                  <a:srgbClr val="000000"/>
                </a:solidFill>
                <a:latin typeface="Aileron Bold"/>
                <a:ea typeface="Aileron Bold"/>
                <a:cs typeface="Aileron Bold"/>
                <a:sym typeface="Aileron Bold"/>
              </a:rPr>
              <a:t>Smart Reminders with LED Light</a:t>
            </a:r>
          </a:p>
          <a:p>
            <a:pPr marL="604532" lvl="1" indent="-302266" algn="l">
              <a:lnSpc>
                <a:spcPts val="4200"/>
              </a:lnSpc>
              <a:buFont typeface="Arial"/>
              <a:buChar char="•"/>
            </a:pPr>
            <a:r>
              <a:rPr lang="en-US" sz="2800" b="1" spc="84">
                <a:solidFill>
                  <a:srgbClr val="000000"/>
                </a:solidFill>
                <a:latin typeface="Aileron Bold"/>
                <a:ea typeface="Aileron Bold"/>
                <a:cs typeface="Aileron Bold"/>
                <a:sym typeface="Aileron Bold"/>
              </a:rPr>
              <a:t>Use your existing drinkware</a:t>
            </a:r>
          </a:p>
        </p:txBody>
      </p:sp>
      <p:sp>
        <p:nvSpPr>
          <p:cNvPr id="20" name="Freeform 20"/>
          <p:cNvSpPr/>
          <p:nvPr/>
        </p:nvSpPr>
        <p:spPr>
          <a:xfrm flipH="1" flipV="1">
            <a:off x="13330934" y="1091234"/>
            <a:ext cx="3998861" cy="1187455"/>
          </a:xfrm>
          <a:custGeom>
            <a:avLst/>
            <a:gdLst/>
            <a:ahLst/>
            <a:cxnLst/>
            <a:rect l="l" t="t" r="r" b="b"/>
            <a:pathLst>
              <a:path w="3998861" h="1187455">
                <a:moveTo>
                  <a:pt x="3998861" y="1187455"/>
                </a:moveTo>
                <a:lnTo>
                  <a:pt x="0" y="1187455"/>
                </a:lnTo>
                <a:lnTo>
                  <a:pt x="0" y="0"/>
                </a:lnTo>
                <a:lnTo>
                  <a:pt x="3998861" y="0"/>
                </a:lnTo>
                <a:lnTo>
                  <a:pt x="3998861" y="1187455"/>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21" name="Freeform 21"/>
          <p:cNvSpPr/>
          <p:nvPr/>
        </p:nvSpPr>
        <p:spPr>
          <a:xfrm flipH="1" flipV="1">
            <a:off x="11581927" y="1091234"/>
            <a:ext cx="1187455" cy="1187455"/>
          </a:xfrm>
          <a:custGeom>
            <a:avLst/>
            <a:gdLst/>
            <a:ahLst/>
            <a:cxnLst/>
            <a:rect l="l" t="t" r="r" b="b"/>
            <a:pathLst>
              <a:path w="1187455" h="1187455">
                <a:moveTo>
                  <a:pt x="1187456" y="1187455"/>
                </a:moveTo>
                <a:lnTo>
                  <a:pt x="0" y="1187455"/>
                </a:lnTo>
                <a:lnTo>
                  <a:pt x="0" y="0"/>
                </a:lnTo>
                <a:lnTo>
                  <a:pt x="1187456" y="0"/>
                </a:lnTo>
                <a:lnTo>
                  <a:pt x="1187456" y="1187455"/>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22" name="Group 22"/>
          <p:cNvGrpSpPr/>
          <p:nvPr/>
        </p:nvGrpSpPr>
        <p:grpSpPr>
          <a:xfrm>
            <a:off x="1028700" y="933450"/>
            <a:ext cx="1169496" cy="1154115"/>
            <a:chOff x="0" y="0"/>
            <a:chExt cx="308015" cy="303965"/>
          </a:xfrm>
        </p:grpSpPr>
        <p:sp>
          <p:nvSpPr>
            <p:cNvPr id="23" name="Freeform 23"/>
            <p:cNvSpPr/>
            <p:nvPr/>
          </p:nvSpPr>
          <p:spPr>
            <a:xfrm>
              <a:off x="0" y="0"/>
              <a:ext cx="308015" cy="303965"/>
            </a:xfrm>
            <a:custGeom>
              <a:avLst/>
              <a:gdLst/>
              <a:ahLst/>
              <a:cxnLst/>
              <a:rect l="l" t="t" r="r" b="b"/>
              <a:pathLst>
                <a:path w="308015" h="303965">
                  <a:moveTo>
                    <a:pt x="151982" y="0"/>
                  </a:moveTo>
                  <a:lnTo>
                    <a:pt x="156033" y="0"/>
                  </a:lnTo>
                  <a:cubicBezTo>
                    <a:pt x="239971" y="0"/>
                    <a:pt x="308015" y="68045"/>
                    <a:pt x="308015" y="151982"/>
                  </a:cubicBezTo>
                  <a:lnTo>
                    <a:pt x="308015" y="151982"/>
                  </a:lnTo>
                  <a:cubicBezTo>
                    <a:pt x="308015" y="235920"/>
                    <a:pt x="239971" y="303965"/>
                    <a:pt x="156033" y="303965"/>
                  </a:cubicBezTo>
                  <a:lnTo>
                    <a:pt x="151982" y="303965"/>
                  </a:lnTo>
                  <a:cubicBezTo>
                    <a:pt x="68045" y="303965"/>
                    <a:pt x="0" y="235920"/>
                    <a:pt x="0" y="151982"/>
                  </a:cubicBezTo>
                  <a:lnTo>
                    <a:pt x="0" y="151982"/>
                  </a:lnTo>
                  <a:cubicBezTo>
                    <a:pt x="0" y="68045"/>
                    <a:pt x="68045" y="0"/>
                    <a:pt x="151982" y="0"/>
                  </a:cubicBezTo>
                  <a:close/>
                </a:path>
              </a:pathLst>
            </a:custGeom>
            <a:solidFill>
              <a:srgbClr val="AFC8E1"/>
            </a:solidFill>
            <a:ln cap="rnd">
              <a:noFill/>
              <a:prstDash val="solid"/>
              <a:round/>
            </a:ln>
          </p:spPr>
        </p:sp>
        <p:sp>
          <p:nvSpPr>
            <p:cNvPr id="24" name="TextBox 24"/>
            <p:cNvSpPr txBox="1"/>
            <p:nvPr/>
          </p:nvSpPr>
          <p:spPr>
            <a:xfrm>
              <a:off x="0" y="0"/>
              <a:ext cx="308015" cy="303965"/>
            </a:xfrm>
            <a:prstGeom prst="rect">
              <a:avLst/>
            </a:prstGeom>
          </p:spPr>
          <p:txBody>
            <a:bodyPr lIns="50800" tIns="50800" rIns="50800" bIns="50800" rtlCol="0" anchor="ctr"/>
            <a:lstStyle/>
            <a:p>
              <a:pPr marL="0" lvl="0" indent="0" algn="ctr">
                <a:lnSpc>
                  <a:spcPts val="6719"/>
                </a:lnSpc>
                <a:spcBef>
                  <a:spcPct val="0"/>
                </a:spcBef>
              </a:pPr>
              <a:r>
                <a:rPr lang="en-US" sz="4799" b="1" dirty="0">
                  <a:solidFill>
                    <a:srgbClr val="000000"/>
                  </a:solidFill>
                  <a:latin typeface="Aileron Bold"/>
                  <a:ea typeface="Aileron Bold"/>
                  <a:cs typeface="Aileron Bold"/>
                  <a:sym typeface="Aileron Bold"/>
                </a:rPr>
                <a:t>01</a:t>
              </a:r>
            </a:p>
          </p:txBody>
        </p:sp>
      </p:grpSp>
      <p:sp>
        <p:nvSpPr>
          <p:cNvPr id="25" name="TextBox 25"/>
          <p:cNvSpPr txBox="1"/>
          <p:nvPr/>
        </p:nvSpPr>
        <p:spPr>
          <a:xfrm>
            <a:off x="1543775" y="989807"/>
            <a:ext cx="3948725" cy="936625"/>
          </a:xfrm>
          <a:prstGeom prst="rect">
            <a:avLst/>
          </a:prstGeom>
        </p:spPr>
        <p:txBody>
          <a:bodyPr lIns="0" tIns="0" rIns="0" bIns="0" rtlCol="0" anchor="t">
            <a:spAutoFit/>
          </a:bodyPr>
          <a:lstStyle/>
          <a:p>
            <a:pPr algn="ctr">
              <a:lnSpc>
                <a:spcPts val="7699"/>
              </a:lnSpc>
            </a:pPr>
            <a:r>
              <a:rPr lang="en-US" sz="5499" b="1">
                <a:solidFill>
                  <a:srgbClr val="192F40"/>
                </a:solidFill>
                <a:latin typeface="Aileron Heavy"/>
                <a:ea typeface="Aileron Heavy"/>
                <a:cs typeface="Aileron Heavy"/>
                <a:sym typeface="Aileron Heavy"/>
              </a:rPr>
              <a:t>Topic</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sp>
        <p:nvSpPr>
          <p:cNvPr id="2" name="Freeform 2"/>
          <p:cNvSpPr/>
          <p:nvPr/>
        </p:nvSpPr>
        <p:spPr>
          <a:xfrm>
            <a:off x="14208464" y="463390"/>
            <a:ext cx="1130620" cy="1130620"/>
          </a:xfrm>
          <a:custGeom>
            <a:avLst/>
            <a:gdLst/>
            <a:ahLst/>
            <a:cxnLst/>
            <a:rect l="l" t="t" r="r" b="b"/>
            <a:pathLst>
              <a:path w="1130620" h="1130620">
                <a:moveTo>
                  <a:pt x="0" y="0"/>
                </a:moveTo>
                <a:lnTo>
                  <a:pt x="1130620" y="0"/>
                </a:lnTo>
                <a:lnTo>
                  <a:pt x="1130620" y="1130620"/>
                </a:lnTo>
                <a:lnTo>
                  <a:pt x="0" y="113062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5339084" y="886398"/>
            <a:ext cx="2346567" cy="2376817"/>
          </a:xfrm>
          <a:custGeom>
            <a:avLst/>
            <a:gdLst/>
            <a:ahLst/>
            <a:cxnLst/>
            <a:rect l="l" t="t" r="r" b="b"/>
            <a:pathLst>
              <a:path w="2346567" h="2376817">
                <a:moveTo>
                  <a:pt x="0" y="0"/>
                </a:moveTo>
                <a:lnTo>
                  <a:pt x="2346566" y="0"/>
                </a:lnTo>
                <a:lnTo>
                  <a:pt x="2346566" y="2376817"/>
                </a:lnTo>
                <a:lnTo>
                  <a:pt x="0" y="2376817"/>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TextBox 4"/>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5</a:t>
            </a:r>
          </a:p>
        </p:txBody>
      </p:sp>
      <p:sp>
        <p:nvSpPr>
          <p:cNvPr id="5" name="Freeform 5"/>
          <p:cNvSpPr/>
          <p:nvPr/>
        </p:nvSpPr>
        <p:spPr>
          <a:xfrm>
            <a:off x="1200786" y="8662894"/>
            <a:ext cx="3048431" cy="1141776"/>
          </a:xfrm>
          <a:custGeom>
            <a:avLst/>
            <a:gdLst/>
            <a:ahLst/>
            <a:cxnLst/>
            <a:rect l="l" t="t" r="r" b="b"/>
            <a:pathLst>
              <a:path w="3048431" h="1141776">
                <a:moveTo>
                  <a:pt x="0" y="0"/>
                </a:moveTo>
                <a:lnTo>
                  <a:pt x="3048431" y="0"/>
                </a:lnTo>
                <a:lnTo>
                  <a:pt x="3048431" y="1141776"/>
                </a:lnTo>
                <a:lnTo>
                  <a:pt x="0" y="1141776"/>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6" name="TextBox 6"/>
          <p:cNvSpPr txBox="1"/>
          <p:nvPr/>
        </p:nvSpPr>
        <p:spPr>
          <a:xfrm>
            <a:off x="1028700" y="8970342"/>
            <a:ext cx="3392603" cy="469730"/>
          </a:xfrm>
          <a:prstGeom prst="rect">
            <a:avLst/>
          </a:prstGeom>
        </p:spPr>
        <p:txBody>
          <a:bodyPr lIns="0" tIns="0" rIns="0" bIns="0" rtlCol="0" anchor="t">
            <a:spAutoFit/>
          </a:bodyPr>
          <a:lstStyle/>
          <a:p>
            <a:pPr algn="ctr">
              <a:lnSpc>
                <a:spcPts val="3870"/>
              </a:lnSpc>
              <a:spcBef>
                <a:spcPct val="0"/>
              </a:spcBef>
            </a:pPr>
            <a:r>
              <a:rPr lang="en-US" sz="2764" b="1">
                <a:solidFill>
                  <a:srgbClr val="000000"/>
                </a:solidFill>
                <a:latin typeface="Aileron Heavy"/>
                <a:ea typeface="Aileron Heavy"/>
                <a:cs typeface="Aileron Heavy"/>
                <a:sym typeface="Aileron Heavy"/>
              </a:rPr>
              <a:t>Transport Layer</a:t>
            </a:r>
          </a:p>
        </p:txBody>
      </p:sp>
      <p:sp>
        <p:nvSpPr>
          <p:cNvPr id="7" name="Freeform 7"/>
          <p:cNvSpPr/>
          <p:nvPr/>
        </p:nvSpPr>
        <p:spPr>
          <a:xfrm>
            <a:off x="1200786" y="2692327"/>
            <a:ext cx="3048431" cy="1141776"/>
          </a:xfrm>
          <a:custGeom>
            <a:avLst/>
            <a:gdLst/>
            <a:ahLst/>
            <a:cxnLst/>
            <a:rect l="l" t="t" r="r" b="b"/>
            <a:pathLst>
              <a:path w="3048431" h="1141776">
                <a:moveTo>
                  <a:pt x="0" y="0"/>
                </a:moveTo>
                <a:lnTo>
                  <a:pt x="3048431" y="0"/>
                </a:lnTo>
                <a:lnTo>
                  <a:pt x="3048431" y="1141776"/>
                </a:lnTo>
                <a:lnTo>
                  <a:pt x="0" y="1141776"/>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8" name="TextBox 8"/>
          <p:cNvSpPr txBox="1"/>
          <p:nvPr/>
        </p:nvSpPr>
        <p:spPr>
          <a:xfrm>
            <a:off x="1463520" y="2999774"/>
            <a:ext cx="2522963" cy="469730"/>
          </a:xfrm>
          <a:prstGeom prst="rect">
            <a:avLst/>
          </a:prstGeom>
        </p:spPr>
        <p:txBody>
          <a:bodyPr lIns="0" tIns="0" rIns="0" bIns="0" rtlCol="0" anchor="t">
            <a:spAutoFit/>
          </a:bodyPr>
          <a:lstStyle/>
          <a:p>
            <a:pPr algn="ctr">
              <a:lnSpc>
                <a:spcPts val="3870"/>
              </a:lnSpc>
              <a:spcBef>
                <a:spcPct val="0"/>
              </a:spcBef>
            </a:pPr>
            <a:r>
              <a:rPr lang="en-US" sz="2764" b="1">
                <a:solidFill>
                  <a:srgbClr val="000000"/>
                </a:solidFill>
                <a:latin typeface="Aileron Heavy"/>
                <a:ea typeface="Aileron Heavy"/>
                <a:cs typeface="Aileron Heavy"/>
                <a:sym typeface="Aileron Heavy"/>
              </a:rPr>
              <a:t>Physical Layer</a:t>
            </a:r>
          </a:p>
        </p:txBody>
      </p:sp>
      <p:sp>
        <p:nvSpPr>
          <p:cNvPr id="9" name="Freeform 9"/>
          <p:cNvSpPr/>
          <p:nvPr/>
        </p:nvSpPr>
        <p:spPr>
          <a:xfrm>
            <a:off x="9432038" y="7521118"/>
            <a:ext cx="3048431" cy="1141776"/>
          </a:xfrm>
          <a:custGeom>
            <a:avLst/>
            <a:gdLst/>
            <a:ahLst/>
            <a:cxnLst/>
            <a:rect l="l" t="t" r="r" b="b"/>
            <a:pathLst>
              <a:path w="3048431" h="1141776">
                <a:moveTo>
                  <a:pt x="0" y="0"/>
                </a:moveTo>
                <a:lnTo>
                  <a:pt x="3048431" y="0"/>
                </a:lnTo>
                <a:lnTo>
                  <a:pt x="3048431" y="1141776"/>
                </a:lnTo>
                <a:lnTo>
                  <a:pt x="0" y="1141776"/>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0" name="TextBox 10"/>
          <p:cNvSpPr txBox="1"/>
          <p:nvPr/>
        </p:nvSpPr>
        <p:spPr>
          <a:xfrm>
            <a:off x="9288940" y="7588730"/>
            <a:ext cx="3479567" cy="952537"/>
          </a:xfrm>
          <a:prstGeom prst="rect">
            <a:avLst/>
          </a:prstGeom>
        </p:spPr>
        <p:txBody>
          <a:bodyPr lIns="0" tIns="0" rIns="0" bIns="0" rtlCol="0" anchor="t">
            <a:spAutoFit/>
          </a:bodyPr>
          <a:lstStyle/>
          <a:p>
            <a:pPr algn="ctr">
              <a:lnSpc>
                <a:spcPts val="3870"/>
              </a:lnSpc>
            </a:pPr>
            <a:r>
              <a:rPr lang="en-US" sz="2764" b="1">
                <a:solidFill>
                  <a:srgbClr val="000000"/>
                </a:solidFill>
                <a:latin typeface="Aileron Heavy"/>
                <a:ea typeface="Aileron Heavy"/>
                <a:cs typeface="Aileron Heavy"/>
                <a:sym typeface="Aileron Heavy"/>
              </a:rPr>
              <a:t>Application</a:t>
            </a:r>
          </a:p>
          <a:p>
            <a:pPr algn="ctr">
              <a:lnSpc>
                <a:spcPts val="3870"/>
              </a:lnSpc>
              <a:spcBef>
                <a:spcPct val="0"/>
              </a:spcBef>
            </a:pPr>
            <a:r>
              <a:rPr lang="en-US" sz="2764" b="1">
                <a:solidFill>
                  <a:srgbClr val="000000"/>
                </a:solidFill>
                <a:latin typeface="Aileron Heavy"/>
                <a:ea typeface="Aileron Heavy"/>
                <a:cs typeface="Aileron Heavy"/>
                <a:sym typeface="Aileron Heavy"/>
              </a:rPr>
              <a:t> Layer</a:t>
            </a:r>
          </a:p>
        </p:txBody>
      </p:sp>
      <p:sp>
        <p:nvSpPr>
          <p:cNvPr id="11" name="Freeform 11"/>
          <p:cNvSpPr/>
          <p:nvPr/>
        </p:nvSpPr>
        <p:spPr>
          <a:xfrm>
            <a:off x="9432038" y="5586227"/>
            <a:ext cx="3048431" cy="1141776"/>
          </a:xfrm>
          <a:custGeom>
            <a:avLst/>
            <a:gdLst/>
            <a:ahLst/>
            <a:cxnLst/>
            <a:rect l="l" t="t" r="r" b="b"/>
            <a:pathLst>
              <a:path w="3048431" h="1141776">
                <a:moveTo>
                  <a:pt x="0" y="0"/>
                </a:moveTo>
                <a:lnTo>
                  <a:pt x="3048431" y="0"/>
                </a:lnTo>
                <a:lnTo>
                  <a:pt x="3048431" y="1141776"/>
                </a:lnTo>
                <a:lnTo>
                  <a:pt x="0" y="1141776"/>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2" name="TextBox 12"/>
          <p:cNvSpPr txBox="1"/>
          <p:nvPr/>
        </p:nvSpPr>
        <p:spPr>
          <a:xfrm>
            <a:off x="9216470" y="5652272"/>
            <a:ext cx="3624507" cy="952537"/>
          </a:xfrm>
          <a:prstGeom prst="rect">
            <a:avLst/>
          </a:prstGeom>
        </p:spPr>
        <p:txBody>
          <a:bodyPr lIns="0" tIns="0" rIns="0" bIns="0" rtlCol="0" anchor="t">
            <a:spAutoFit/>
          </a:bodyPr>
          <a:lstStyle/>
          <a:p>
            <a:pPr algn="ctr">
              <a:lnSpc>
                <a:spcPts val="3870"/>
              </a:lnSpc>
            </a:pPr>
            <a:r>
              <a:rPr lang="en-US" sz="2764" b="1">
                <a:solidFill>
                  <a:srgbClr val="000000"/>
                </a:solidFill>
                <a:latin typeface="Aileron Heavy"/>
                <a:ea typeface="Aileron Heavy"/>
                <a:cs typeface="Aileron Heavy"/>
                <a:sym typeface="Aileron Heavy"/>
              </a:rPr>
              <a:t>Presentation</a:t>
            </a:r>
          </a:p>
          <a:p>
            <a:pPr algn="ctr">
              <a:lnSpc>
                <a:spcPts val="3870"/>
              </a:lnSpc>
              <a:spcBef>
                <a:spcPct val="0"/>
              </a:spcBef>
            </a:pPr>
            <a:r>
              <a:rPr lang="en-US" sz="2764" b="1">
                <a:solidFill>
                  <a:srgbClr val="000000"/>
                </a:solidFill>
                <a:latin typeface="Aileron Heavy"/>
                <a:ea typeface="Aileron Heavy"/>
                <a:cs typeface="Aileron Heavy"/>
                <a:sym typeface="Aileron Heavy"/>
              </a:rPr>
              <a:t> Layer</a:t>
            </a:r>
          </a:p>
        </p:txBody>
      </p:sp>
      <p:grpSp>
        <p:nvGrpSpPr>
          <p:cNvPr id="13" name="Group 13"/>
          <p:cNvGrpSpPr/>
          <p:nvPr/>
        </p:nvGrpSpPr>
        <p:grpSpPr>
          <a:xfrm>
            <a:off x="1028700" y="886399"/>
            <a:ext cx="1169496" cy="1201166"/>
            <a:chOff x="0" y="-12392"/>
            <a:chExt cx="308015" cy="316357"/>
          </a:xfrm>
        </p:grpSpPr>
        <p:sp>
          <p:nvSpPr>
            <p:cNvPr id="14" name="Freeform 14"/>
            <p:cNvSpPr/>
            <p:nvPr/>
          </p:nvSpPr>
          <p:spPr>
            <a:xfrm>
              <a:off x="0" y="0"/>
              <a:ext cx="308015" cy="303965"/>
            </a:xfrm>
            <a:custGeom>
              <a:avLst/>
              <a:gdLst/>
              <a:ahLst/>
              <a:cxnLst/>
              <a:rect l="l" t="t" r="r" b="b"/>
              <a:pathLst>
                <a:path w="308015" h="303965">
                  <a:moveTo>
                    <a:pt x="151982" y="0"/>
                  </a:moveTo>
                  <a:lnTo>
                    <a:pt x="156033" y="0"/>
                  </a:lnTo>
                  <a:cubicBezTo>
                    <a:pt x="239971" y="0"/>
                    <a:pt x="308015" y="68045"/>
                    <a:pt x="308015" y="151982"/>
                  </a:cubicBezTo>
                  <a:lnTo>
                    <a:pt x="308015" y="151982"/>
                  </a:lnTo>
                  <a:cubicBezTo>
                    <a:pt x="308015" y="235920"/>
                    <a:pt x="239971" y="303965"/>
                    <a:pt x="156033" y="303965"/>
                  </a:cubicBezTo>
                  <a:lnTo>
                    <a:pt x="151982" y="303965"/>
                  </a:lnTo>
                  <a:cubicBezTo>
                    <a:pt x="68045" y="303965"/>
                    <a:pt x="0" y="235920"/>
                    <a:pt x="0" y="151982"/>
                  </a:cubicBezTo>
                  <a:lnTo>
                    <a:pt x="0" y="151982"/>
                  </a:lnTo>
                  <a:cubicBezTo>
                    <a:pt x="0" y="68045"/>
                    <a:pt x="68045" y="0"/>
                    <a:pt x="151982" y="0"/>
                  </a:cubicBezTo>
                  <a:close/>
                </a:path>
              </a:pathLst>
            </a:custGeom>
            <a:solidFill>
              <a:srgbClr val="AFC8E1"/>
            </a:solidFill>
            <a:ln cap="rnd">
              <a:noFill/>
              <a:prstDash val="solid"/>
              <a:round/>
            </a:ln>
          </p:spPr>
        </p:sp>
        <p:sp>
          <p:nvSpPr>
            <p:cNvPr id="15" name="TextBox 15"/>
            <p:cNvSpPr txBox="1"/>
            <p:nvPr/>
          </p:nvSpPr>
          <p:spPr>
            <a:xfrm>
              <a:off x="0" y="-12392"/>
              <a:ext cx="308015" cy="316357"/>
            </a:xfrm>
            <a:prstGeom prst="rect">
              <a:avLst/>
            </a:prstGeom>
          </p:spPr>
          <p:txBody>
            <a:bodyPr lIns="50800" tIns="50800" rIns="50800" bIns="50800" rtlCol="0" anchor="ctr"/>
            <a:lstStyle/>
            <a:p>
              <a:pPr marL="0" lvl="0" indent="0" algn="ctr">
                <a:lnSpc>
                  <a:spcPts val="6719"/>
                </a:lnSpc>
                <a:spcBef>
                  <a:spcPct val="0"/>
                </a:spcBef>
              </a:pPr>
              <a:r>
                <a:rPr lang="en-US" sz="4799" b="1" dirty="0">
                  <a:solidFill>
                    <a:srgbClr val="000000"/>
                  </a:solidFill>
                  <a:latin typeface="Aileron Bold"/>
                  <a:ea typeface="Aileron Bold"/>
                  <a:cs typeface="Aileron Bold"/>
                  <a:sym typeface="Aileron Bold"/>
                </a:rPr>
                <a:t>02</a:t>
              </a:r>
            </a:p>
          </p:txBody>
        </p:sp>
      </p:grpSp>
      <p:sp>
        <p:nvSpPr>
          <p:cNvPr id="16" name="TextBox 16"/>
          <p:cNvSpPr txBox="1"/>
          <p:nvPr/>
        </p:nvSpPr>
        <p:spPr>
          <a:xfrm>
            <a:off x="1543775" y="989807"/>
            <a:ext cx="8626543" cy="936625"/>
          </a:xfrm>
          <a:prstGeom prst="rect">
            <a:avLst/>
          </a:prstGeom>
        </p:spPr>
        <p:txBody>
          <a:bodyPr lIns="0" tIns="0" rIns="0" bIns="0" rtlCol="0" anchor="t">
            <a:spAutoFit/>
          </a:bodyPr>
          <a:lstStyle/>
          <a:p>
            <a:pPr algn="ctr">
              <a:lnSpc>
                <a:spcPts val="7699"/>
              </a:lnSpc>
            </a:pPr>
            <a:r>
              <a:rPr lang="en-US" sz="5499" b="1">
                <a:solidFill>
                  <a:srgbClr val="192F40"/>
                </a:solidFill>
                <a:latin typeface="Aileron Heavy"/>
                <a:ea typeface="Aileron Heavy"/>
                <a:cs typeface="Aileron Heavy"/>
                <a:sym typeface="Aileron Heavy"/>
              </a:rPr>
              <a:t>System architecture </a:t>
            </a:r>
          </a:p>
        </p:txBody>
      </p:sp>
      <p:sp>
        <p:nvSpPr>
          <p:cNvPr id="17" name="Freeform 17"/>
          <p:cNvSpPr/>
          <p:nvPr/>
        </p:nvSpPr>
        <p:spPr>
          <a:xfrm>
            <a:off x="9432038" y="3634258"/>
            <a:ext cx="3048431" cy="1141776"/>
          </a:xfrm>
          <a:custGeom>
            <a:avLst/>
            <a:gdLst/>
            <a:ahLst/>
            <a:cxnLst/>
            <a:rect l="l" t="t" r="r" b="b"/>
            <a:pathLst>
              <a:path w="3048431" h="1141776">
                <a:moveTo>
                  <a:pt x="0" y="0"/>
                </a:moveTo>
                <a:lnTo>
                  <a:pt x="3048431" y="0"/>
                </a:lnTo>
                <a:lnTo>
                  <a:pt x="3048431" y="1141776"/>
                </a:lnTo>
                <a:lnTo>
                  <a:pt x="0" y="1141776"/>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8" name="TextBox 18"/>
          <p:cNvSpPr txBox="1"/>
          <p:nvPr/>
        </p:nvSpPr>
        <p:spPr>
          <a:xfrm>
            <a:off x="9694772" y="3941706"/>
            <a:ext cx="2522963" cy="469730"/>
          </a:xfrm>
          <a:prstGeom prst="rect">
            <a:avLst/>
          </a:prstGeom>
        </p:spPr>
        <p:txBody>
          <a:bodyPr lIns="0" tIns="0" rIns="0" bIns="0" rtlCol="0" anchor="t">
            <a:spAutoFit/>
          </a:bodyPr>
          <a:lstStyle/>
          <a:p>
            <a:pPr algn="ctr">
              <a:lnSpc>
                <a:spcPts val="3870"/>
              </a:lnSpc>
              <a:spcBef>
                <a:spcPct val="0"/>
              </a:spcBef>
            </a:pPr>
            <a:r>
              <a:rPr lang="en-US" sz="2764" b="1">
                <a:solidFill>
                  <a:srgbClr val="000000"/>
                </a:solidFill>
                <a:latin typeface="Aileron Heavy"/>
                <a:ea typeface="Aileron Heavy"/>
                <a:cs typeface="Aileron Heavy"/>
                <a:sym typeface="Aileron Heavy"/>
              </a:rPr>
              <a:t>Session Layer</a:t>
            </a:r>
          </a:p>
        </p:txBody>
      </p:sp>
      <p:grpSp>
        <p:nvGrpSpPr>
          <p:cNvPr id="19" name="Group 19"/>
          <p:cNvGrpSpPr/>
          <p:nvPr/>
        </p:nvGrpSpPr>
        <p:grpSpPr>
          <a:xfrm>
            <a:off x="1200786" y="4683892"/>
            <a:ext cx="3048431" cy="1141776"/>
            <a:chOff x="0" y="0"/>
            <a:chExt cx="4064575" cy="1522368"/>
          </a:xfrm>
        </p:grpSpPr>
        <p:sp>
          <p:nvSpPr>
            <p:cNvPr id="20" name="Freeform 20"/>
            <p:cNvSpPr/>
            <p:nvPr/>
          </p:nvSpPr>
          <p:spPr>
            <a:xfrm>
              <a:off x="0" y="0"/>
              <a:ext cx="4064575" cy="1522368"/>
            </a:xfrm>
            <a:custGeom>
              <a:avLst/>
              <a:gdLst/>
              <a:ahLst/>
              <a:cxnLst/>
              <a:rect l="l" t="t" r="r" b="b"/>
              <a:pathLst>
                <a:path w="4064575" h="1522368">
                  <a:moveTo>
                    <a:pt x="0" y="0"/>
                  </a:moveTo>
                  <a:lnTo>
                    <a:pt x="4064575" y="0"/>
                  </a:lnTo>
                  <a:lnTo>
                    <a:pt x="4064575" y="1522368"/>
                  </a:lnTo>
                  <a:lnTo>
                    <a:pt x="0" y="1522368"/>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21" name="TextBox 21"/>
            <p:cNvSpPr txBox="1"/>
            <p:nvPr/>
          </p:nvSpPr>
          <p:spPr>
            <a:xfrm>
              <a:off x="350312" y="428980"/>
              <a:ext cx="3363951" cy="607257"/>
            </a:xfrm>
            <a:prstGeom prst="rect">
              <a:avLst/>
            </a:prstGeom>
          </p:spPr>
          <p:txBody>
            <a:bodyPr lIns="0" tIns="0" rIns="0" bIns="0" rtlCol="0" anchor="t">
              <a:spAutoFit/>
            </a:bodyPr>
            <a:lstStyle/>
            <a:p>
              <a:pPr algn="ctr">
                <a:lnSpc>
                  <a:spcPts val="3870"/>
                </a:lnSpc>
                <a:spcBef>
                  <a:spcPct val="0"/>
                </a:spcBef>
              </a:pPr>
              <a:endParaRPr/>
            </a:p>
          </p:txBody>
        </p:sp>
      </p:grpSp>
      <p:sp>
        <p:nvSpPr>
          <p:cNvPr id="22" name="TextBox 22"/>
          <p:cNvSpPr txBox="1"/>
          <p:nvPr/>
        </p:nvSpPr>
        <p:spPr>
          <a:xfrm>
            <a:off x="1334929" y="4991109"/>
            <a:ext cx="2780145" cy="469730"/>
          </a:xfrm>
          <a:prstGeom prst="rect">
            <a:avLst/>
          </a:prstGeom>
        </p:spPr>
        <p:txBody>
          <a:bodyPr lIns="0" tIns="0" rIns="0" bIns="0" rtlCol="0" anchor="t">
            <a:spAutoFit/>
          </a:bodyPr>
          <a:lstStyle/>
          <a:p>
            <a:pPr algn="ctr">
              <a:lnSpc>
                <a:spcPts val="3870"/>
              </a:lnSpc>
              <a:spcBef>
                <a:spcPct val="0"/>
              </a:spcBef>
            </a:pPr>
            <a:r>
              <a:rPr lang="en-US" sz="2764" b="1">
                <a:solidFill>
                  <a:srgbClr val="000000"/>
                </a:solidFill>
                <a:latin typeface="Aileron Heavy"/>
                <a:ea typeface="Aileron Heavy"/>
                <a:cs typeface="Aileron Heavy"/>
                <a:sym typeface="Aileron Heavy"/>
              </a:rPr>
              <a:t>Data Link Layer</a:t>
            </a:r>
          </a:p>
        </p:txBody>
      </p:sp>
      <p:sp>
        <p:nvSpPr>
          <p:cNvPr id="23" name="Freeform 23"/>
          <p:cNvSpPr/>
          <p:nvPr/>
        </p:nvSpPr>
        <p:spPr>
          <a:xfrm>
            <a:off x="1200786" y="6673393"/>
            <a:ext cx="3048431" cy="1141776"/>
          </a:xfrm>
          <a:custGeom>
            <a:avLst/>
            <a:gdLst/>
            <a:ahLst/>
            <a:cxnLst/>
            <a:rect l="l" t="t" r="r" b="b"/>
            <a:pathLst>
              <a:path w="3048431" h="1141776">
                <a:moveTo>
                  <a:pt x="0" y="0"/>
                </a:moveTo>
                <a:lnTo>
                  <a:pt x="3048431" y="0"/>
                </a:lnTo>
                <a:lnTo>
                  <a:pt x="3048431" y="1141776"/>
                </a:lnTo>
                <a:lnTo>
                  <a:pt x="0" y="1141776"/>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24" name="TextBox 24"/>
          <p:cNvSpPr txBox="1"/>
          <p:nvPr/>
        </p:nvSpPr>
        <p:spPr>
          <a:xfrm>
            <a:off x="1200786" y="6980841"/>
            <a:ext cx="3048431" cy="469730"/>
          </a:xfrm>
          <a:prstGeom prst="rect">
            <a:avLst/>
          </a:prstGeom>
        </p:spPr>
        <p:txBody>
          <a:bodyPr lIns="0" tIns="0" rIns="0" bIns="0" rtlCol="0" anchor="t">
            <a:spAutoFit/>
          </a:bodyPr>
          <a:lstStyle/>
          <a:p>
            <a:pPr algn="ctr">
              <a:lnSpc>
                <a:spcPts val="3870"/>
              </a:lnSpc>
              <a:spcBef>
                <a:spcPct val="0"/>
              </a:spcBef>
            </a:pPr>
            <a:r>
              <a:rPr lang="en-US" sz="2764" b="1">
                <a:solidFill>
                  <a:srgbClr val="000000"/>
                </a:solidFill>
                <a:latin typeface="Aileron Heavy"/>
                <a:ea typeface="Aileron Heavy"/>
                <a:cs typeface="Aileron Heavy"/>
                <a:sym typeface="Aileron Heavy"/>
              </a:rPr>
              <a:t>Network Layer</a:t>
            </a:r>
          </a:p>
        </p:txBody>
      </p:sp>
      <p:sp>
        <p:nvSpPr>
          <p:cNvPr id="25" name="TextBox 25"/>
          <p:cNvSpPr txBox="1"/>
          <p:nvPr/>
        </p:nvSpPr>
        <p:spPr>
          <a:xfrm>
            <a:off x="4421303" y="2499310"/>
            <a:ext cx="6461065" cy="1736725"/>
          </a:xfrm>
          <a:prstGeom prst="rect">
            <a:avLst/>
          </a:prstGeom>
        </p:spPr>
        <p:txBody>
          <a:bodyPr lIns="0" tIns="0" rIns="0" bIns="0" rtlCol="0" anchor="t">
            <a:spAutoFit/>
          </a:bodyPr>
          <a:lstStyle/>
          <a:p>
            <a:pPr marL="539748" lvl="1" indent="-269874" algn="l">
              <a:lnSpc>
                <a:spcPts val="3499"/>
              </a:lnSpc>
              <a:buFont typeface="Arial"/>
              <a:buChar char="•"/>
            </a:pPr>
            <a:r>
              <a:rPr lang="en-US" sz="2499">
                <a:solidFill>
                  <a:srgbClr val="000000"/>
                </a:solidFill>
                <a:latin typeface="Aileron"/>
                <a:ea typeface="Aileron"/>
                <a:cs typeface="Aileron"/>
                <a:sym typeface="Aileron"/>
              </a:rPr>
              <a:t>HX711 + Pressure Sensor Module</a:t>
            </a:r>
          </a:p>
          <a:p>
            <a:pPr marL="539748" lvl="1" indent="-269874" algn="l">
              <a:lnSpc>
                <a:spcPts val="3499"/>
              </a:lnSpc>
              <a:buFont typeface="Arial"/>
              <a:buChar char="•"/>
            </a:pPr>
            <a:r>
              <a:rPr lang="en-US" sz="2499">
                <a:solidFill>
                  <a:srgbClr val="000000"/>
                </a:solidFill>
                <a:latin typeface="Aileron"/>
                <a:ea typeface="Aileron"/>
                <a:cs typeface="Aileron"/>
                <a:sym typeface="Aileron"/>
              </a:rPr>
              <a:t>Bakelite board</a:t>
            </a:r>
          </a:p>
          <a:p>
            <a:pPr marL="539748" lvl="1" indent="-269874" algn="l">
              <a:lnSpc>
                <a:spcPts val="3499"/>
              </a:lnSpc>
              <a:buFont typeface="Arial"/>
              <a:buChar char="•"/>
            </a:pPr>
            <a:r>
              <a:rPr lang="en-US" sz="2499">
                <a:solidFill>
                  <a:srgbClr val="000000"/>
                </a:solidFill>
                <a:latin typeface="Aileron"/>
                <a:ea typeface="Aileron"/>
                <a:cs typeface="Aileron"/>
                <a:sym typeface="Aileron"/>
              </a:rPr>
              <a:t>LED Light Strips</a:t>
            </a:r>
          </a:p>
          <a:p>
            <a:pPr marL="539748" lvl="1" indent="-269874" algn="l">
              <a:lnSpc>
                <a:spcPts val="3499"/>
              </a:lnSpc>
              <a:buFont typeface="Arial"/>
              <a:buChar char="•"/>
            </a:pPr>
            <a:r>
              <a:rPr lang="en-US" sz="2499">
                <a:solidFill>
                  <a:srgbClr val="000000"/>
                </a:solidFill>
                <a:latin typeface="Aileron"/>
                <a:ea typeface="Aileron"/>
                <a:cs typeface="Aileron"/>
                <a:sym typeface="Aileron"/>
              </a:rPr>
              <a:t>Button</a:t>
            </a:r>
          </a:p>
        </p:txBody>
      </p:sp>
      <p:sp>
        <p:nvSpPr>
          <p:cNvPr id="26" name="TextBox 26"/>
          <p:cNvSpPr txBox="1"/>
          <p:nvPr/>
        </p:nvSpPr>
        <p:spPr>
          <a:xfrm>
            <a:off x="4360383" y="5027854"/>
            <a:ext cx="3059807" cy="422275"/>
          </a:xfrm>
          <a:prstGeom prst="rect">
            <a:avLst/>
          </a:prstGeom>
        </p:spPr>
        <p:txBody>
          <a:bodyPr lIns="0" tIns="0" rIns="0" bIns="0" rtlCol="0" anchor="t">
            <a:spAutoFit/>
          </a:bodyPr>
          <a:lstStyle/>
          <a:p>
            <a:pPr marL="539749" lvl="1" indent="-269875" algn="ctr">
              <a:lnSpc>
                <a:spcPts val="3499"/>
              </a:lnSpc>
              <a:buFont typeface="Arial"/>
              <a:buChar char="•"/>
            </a:pPr>
            <a:r>
              <a:rPr lang="en-US" sz="2499">
                <a:solidFill>
                  <a:srgbClr val="000000"/>
                </a:solidFill>
                <a:latin typeface="Aileron"/>
                <a:ea typeface="Aileron"/>
                <a:cs typeface="Aileron"/>
                <a:sym typeface="Aileron"/>
              </a:rPr>
              <a:t>ESP32 Wi-Fi / BLE</a:t>
            </a:r>
          </a:p>
        </p:txBody>
      </p:sp>
      <p:sp>
        <p:nvSpPr>
          <p:cNvPr id="27" name="TextBox 27"/>
          <p:cNvSpPr txBox="1"/>
          <p:nvPr/>
        </p:nvSpPr>
        <p:spPr>
          <a:xfrm>
            <a:off x="4342275" y="6990366"/>
            <a:ext cx="3966667" cy="422275"/>
          </a:xfrm>
          <a:prstGeom prst="rect">
            <a:avLst/>
          </a:prstGeom>
        </p:spPr>
        <p:txBody>
          <a:bodyPr lIns="0" tIns="0" rIns="0" bIns="0" rtlCol="0" anchor="t">
            <a:spAutoFit/>
          </a:bodyPr>
          <a:lstStyle/>
          <a:p>
            <a:pPr marL="539749" lvl="1" indent="-269875" algn="ctr">
              <a:lnSpc>
                <a:spcPts val="3499"/>
              </a:lnSpc>
              <a:buFont typeface="Arial"/>
              <a:buChar char="•"/>
            </a:pPr>
            <a:r>
              <a:rPr lang="en-US" sz="2499">
                <a:solidFill>
                  <a:srgbClr val="000000"/>
                </a:solidFill>
                <a:latin typeface="Aileron"/>
                <a:ea typeface="Aileron"/>
                <a:cs typeface="Aileron"/>
                <a:sym typeface="Aileron"/>
              </a:rPr>
              <a:t>ESP32 Wi-Fi  IP Address </a:t>
            </a:r>
          </a:p>
        </p:txBody>
      </p:sp>
      <p:sp>
        <p:nvSpPr>
          <p:cNvPr id="28" name="TextBox 28"/>
          <p:cNvSpPr txBox="1"/>
          <p:nvPr/>
        </p:nvSpPr>
        <p:spPr>
          <a:xfrm>
            <a:off x="4360383" y="8615269"/>
            <a:ext cx="4419421" cy="129857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000000"/>
                </a:solidFill>
                <a:latin typeface="Aileron"/>
                <a:ea typeface="Aileron"/>
                <a:cs typeface="Aileron"/>
                <a:sym typeface="Aileron"/>
              </a:rPr>
              <a:t>Use BLE packet transmission protocol to transmit sensor data</a:t>
            </a:r>
          </a:p>
        </p:txBody>
      </p:sp>
      <p:sp>
        <p:nvSpPr>
          <p:cNvPr id="29" name="TextBox 29"/>
          <p:cNvSpPr txBox="1"/>
          <p:nvPr/>
        </p:nvSpPr>
        <p:spPr>
          <a:xfrm>
            <a:off x="12595253" y="3586633"/>
            <a:ext cx="4705669" cy="129857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000000"/>
                </a:solidFill>
                <a:latin typeface="Aileron"/>
                <a:ea typeface="Aileron"/>
                <a:cs typeface="Aileron"/>
                <a:sym typeface="Aileron"/>
              </a:rPr>
              <a:t>ESP32 maintains a session with the Blynk cloud server (Wi-Fi/BLE connection)</a:t>
            </a:r>
          </a:p>
        </p:txBody>
      </p:sp>
      <p:sp>
        <p:nvSpPr>
          <p:cNvPr id="30" name="TextBox 30"/>
          <p:cNvSpPr txBox="1"/>
          <p:nvPr/>
        </p:nvSpPr>
        <p:spPr>
          <a:xfrm>
            <a:off x="12694621" y="5429428"/>
            <a:ext cx="3461891" cy="129857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000000"/>
                </a:solidFill>
                <a:latin typeface="Aileron"/>
                <a:ea typeface="Aileron"/>
                <a:cs typeface="Aileron"/>
                <a:sym typeface="Aileron"/>
              </a:rPr>
              <a:t>analog → digital</a:t>
            </a:r>
          </a:p>
          <a:p>
            <a:pPr marL="539749" lvl="1" indent="-269875" algn="l">
              <a:lnSpc>
                <a:spcPts val="3499"/>
              </a:lnSpc>
              <a:buFont typeface="Arial"/>
              <a:buChar char="•"/>
            </a:pPr>
            <a:r>
              <a:rPr lang="en-US" sz="2499">
                <a:solidFill>
                  <a:srgbClr val="000000"/>
                </a:solidFill>
                <a:latin typeface="Aileron"/>
                <a:ea typeface="Aileron"/>
                <a:cs typeface="Aileron"/>
                <a:sym typeface="Aileron"/>
              </a:rPr>
              <a:t>Format the data and send it to Blynk App</a:t>
            </a:r>
          </a:p>
        </p:txBody>
      </p:sp>
      <p:sp>
        <p:nvSpPr>
          <p:cNvPr id="31" name="TextBox 31"/>
          <p:cNvSpPr txBox="1"/>
          <p:nvPr/>
        </p:nvSpPr>
        <p:spPr>
          <a:xfrm>
            <a:off x="12595253" y="7473493"/>
            <a:ext cx="4927847" cy="129857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000000"/>
                </a:solidFill>
                <a:latin typeface="Aileron"/>
                <a:ea typeface="Aileron"/>
                <a:cs typeface="Aileron"/>
                <a:sym typeface="Aileron"/>
              </a:rPr>
              <a:t>Display the user interface through the Blynk IoT platform and Arduino IDE program</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sp>
        <p:nvSpPr>
          <p:cNvPr id="2" name="TextBox 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6</a:t>
            </a:r>
          </a:p>
        </p:txBody>
      </p:sp>
      <p:sp>
        <p:nvSpPr>
          <p:cNvPr id="3" name="TextBox 3"/>
          <p:cNvSpPr txBox="1"/>
          <p:nvPr/>
        </p:nvSpPr>
        <p:spPr>
          <a:xfrm>
            <a:off x="1894692" y="986459"/>
            <a:ext cx="4401829" cy="936625"/>
          </a:xfrm>
          <a:prstGeom prst="rect">
            <a:avLst/>
          </a:prstGeom>
        </p:spPr>
        <p:txBody>
          <a:bodyPr lIns="0" tIns="0" rIns="0" bIns="0" rtlCol="0" anchor="t">
            <a:spAutoFit/>
          </a:bodyPr>
          <a:lstStyle/>
          <a:p>
            <a:pPr algn="ctr">
              <a:lnSpc>
                <a:spcPts val="7699"/>
              </a:lnSpc>
            </a:pPr>
            <a:r>
              <a:rPr lang="en-US" sz="5499" b="1">
                <a:solidFill>
                  <a:srgbClr val="192F40"/>
                </a:solidFill>
                <a:latin typeface="Aileron Heavy"/>
                <a:ea typeface="Aileron Heavy"/>
                <a:cs typeface="Aileron Heavy"/>
                <a:sym typeface="Aileron Heavy"/>
              </a:rPr>
              <a:t>Hardware</a:t>
            </a:r>
          </a:p>
        </p:txBody>
      </p:sp>
      <p:grpSp>
        <p:nvGrpSpPr>
          <p:cNvPr id="4" name="Group 4"/>
          <p:cNvGrpSpPr/>
          <p:nvPr/>
        </p:nvGrpSpPr>
        <p:grpSpPr>
          <a:xfrm>
            <a:off x="1028700" y="1028700"/>
            <a:ext cx="1120505" cy="956918"/>
            <a:chOff x="0" y="0"/>
            <a:chExt cx="295112" cy="252028"/>
          </a:xfrm>
        </p:grpSpPr>
        <p:sp>
          <p:nvSpPr>
            <p:cNvPr id="5" name="Freeform 5"/>
            <p:cNvSpPr/>
            <p:nvPr/>
          </p:nvSpPr>
          <p:spPr>
            <a:xfrm>
              <a:off x="0" y="0"/>
              <a:ext cx="295112" cy="252028"/>
            </a:xfrm>
            <a:custGeom>
              <a:avLst/>
              <a:gdLst/>
              <a:ahLst/>
              <a:cxnLst/>
              <a:rect l="l" t="t" r="r" b="b"/>
              <a:pathLst>
                <a:path w="295112" h="252028">
                  <a:moveTo>
                    <a:pt x="126014" y="0"/>
                  </a:moveTo>
                  <a:lnTo>
                    <a:pt x="169098" y="0"/>
                  </a:lnTo>
                  <a:cubicBezTo>
                    <a:pt x="238694" y="0"/>
                    <a:pt x="295112" y="56418"/>
                    <a:pt x="295112" y="126014"/>
                  </a:cubicBezTo>
                  <a:lnTo>
                    <a:pt x="295112" y="126014"/>
                  </a:lnTo>
                  <a:cubicBezTo>
                    <a:pt x="295112" y="195609"/>
                    <a:pt x="238694" y="252028"/>
                    <a:pt x="169098" y="252028"/>
                  </a:cubicBezTo>
                  <a:lnTo>
                    <a:pt x="126014" y="252028"/>
                  </a:lnTo>
                  <a:cubicBezTo>
                    <a:pt x="56418" y="252028"/>
                    <a:pt x="0" y="195609"/>
                    <a:pt x="0" y="126014"/>
                  </a:cubicBezTo>
                  <a:lnTo>
                    <a:pt x="0" y="126014"/>
                  </a:lnTo>
                  <a:cubicBezTo>
                    <a:pt x="0" y="56418"/>
                    <a:pt x="56418" y="0"/>
                    <a:pt x="126014" y="0"/>
                  </a:cubicBezTo>
                  <a:close/>
                </a:path>
              </a:pathLst>
            </a:custGeom>
            <a:solidFill>
              <a:srgbClr val="AFC8E1"/>
            </a:solidFill>
            <a:ln cap="rnd">
              <a:noFill/>
              <a:prstDash val="solid"/>
              <a:round/>
            </a:ln>
          </p:spPr>
        </p:sp>
        <p:sp>
          <p:nvSpPr>
            <p:cNvPr id="6" name="TextBox 6"/>
            <p:cNvSpPr txBox="1"/>
            <p:nvPr/>
          </p:nvSpPr>
          <p:spPr>
            <a:xfrm>
              <a:off x="0" y="0"/>
              <a:ext cx="295112" cy="252028"/>
            </a:xfrm>
            <a:prstGeom prst="rect">
              <a:avLst/>
            </a:prstGeom>
          </p:spPr>
          <p:txBody>
            <a:bodyPr lIns="50800" tIns="50800" rIns="50800" bIns="50800" rtlCol="0" anchor="ctr"/>
            <a:lstStyle/>
            <a:p>
              <a:pPr marL="0" lvl="0" indent="0" algn="ctr">
                <a:lnSpc>
                  <a:spcPts val="6719"/>
                </a:lnSpc>
                <a:spcBef>
                  <a:spcPct val="0"/>
                </a:spcBef>
              </a:pPr>
              <a:r>
                <a:rPr lang="en-US" sz="4800" b="1" dirty="0">
                  <a:solidFill>
                    <a:srgbClr val="000000"/>
                  </a:solidFill>
                  <a:latin typeface="Aileron Bold"/>
                  <a:ea typeface="Aileron Bold"/>
                  <a:cs typeface="Aileron Bold"/>
                  <a:sym typeface="Aileron Bold"/>
                </a:rPr>
                <a:t>03</a:t>
              </a:r>
            </a:p>
          </p:txBody>
        </p:sp>
      </p:grpSp>
      <p:grpSp>
        <p:nvGrpSpPr>
          <p:cNvPr id="7" name="Group 7"/>
          <p:cNvGrpSpPr/>
          <p:nvPr/>
        </p:nvGrpSpPr>
        <p:grpSpPr>
          <a:xfrm>
            <a:off x="2845507" y="3129746"/>
            <a:ext cx="5134166" cy="809328"/>
            <a:chOff x="0" y="0"/>
            <a:chExt cx="1352208" cy="213156"/>
          </a:xfrm>
        </p:grpSpPr>
        <p:sp>
          <p:nvSpPr>
            <p:cNvPr id="8" name="Freeform 8"/>
            <p:cNvSpPr/>
            <p:nvPr/>
          </p:nvSpPr>
          <p:spPr>
            <a:xfrm>
              <a:off x="0" y="0"/>
              <a:ext cx="1352208" cy="213156"/>
            </a:xfrm>
            <a:custGeom>
              <a:avLst/>
              <a:gdLst/>
              <a:ahLst/>
              <a:cxnLst/>
              <a:rect l="l" t="t" r="r" b="b"/>
              <a:pathLst>
                <a:path w="1352208" h="213156">
                  <a:moveTo>
                    <a:pt x="106578" y="0"/>
                  </a:moveTo>
                  <a:lnTo>
                    <a:pt x="1245630" y="0"/>
                  </a:lnTo>
                  <a:cubicBezTo>
                    <a:pt x="1304492" y="0"/>
                    <a:pt x="1352208" y="47717"/>
                    <a:pt x="1352208" y="106578"/>
                  </a:cubicBezTo>
                  <a:lnTo>
                    <a:pt x="1352208" y="106578"/>
                  </a:lnTo>
                  <a:cubicBezTo>
                    <a:pt x="1352208" y="165440"/>
                    <a:pt x="1304492" y="213156"/>
                    <a:pt x="1245630" y="213156"/>
                  </a:cubicBezTo>
                  <a:lnTo>
                    <a:pt x="106578" y="213156"/>
                  </a:lnTo>
                  <a:cubicBezTo>
                    <a:pt x="47717" y="213156"/>
                    <a:pt x="0" y="165440"/>
                    <a:pt x="0" y="106578"/>
                  </a:cubicBezTo>
                  <a:lnTo>
                    <a:pt x="0" y="106578"/>
                  </a:lnTo>
                  <a:cubicBezTo>
                    <a:pt x="0" y="47717"/>
                    <a:pt x="47717" y="0"/>
                    <a:pt x="106578" y="0"/>
                  </a:cubicBezTo>
                  <a:close/>
                </a:path>
              </a:pathLst>
            </a:custGeom>
            <a:solidFill>
              <a:srgbClr val="AFC8E1"/>
            </a:solidFill>
            <a:ln cap="rnd">
              <a:noFill/>
              <a:prstDash val="solid"/>
              <a:round/>
            </a:ln>
          </p:spPr>
        </p:sp>
        <p:sp>
          <p:nvSpPr>
            <p:cNvPr id="9" name="TextBox 9"/>
            <p:cNvSpPr txBox="1"/>
            <p:nvPr/>
          </p:nvSpPr>
          <p:spPr>
            <a:xfrm>
              <a:off x="0" y="-57150"/>
              <a:ext cx="1352208" cy="270306"/>
            </a:xfrm>
            <a:prstGeom prst="rect">
              <a:avLst/>
            </a:prstGeom>
          </p:spPr>
          <p:txBody>
            <a:bodyPr lIns="50800" tIns="50800" rIns="50800" bIns="50800" rtlCol="0" anchor="ctr"/>
            <a:lstStyle/>
            <a:p>
              <a:pPr marL="0" lvl="0" indent="0" algn="ctr">
                <a:lnSpc>
                  <a:spcPts val="3640"/>
                </a:lnSpc>
                <a:spcBef>
                  <a:spcPct val="0"/>
                </a:spcBef>
              </a:pPr>
              <a:endParaRPr/>
            </a:p>
          </p:txBody>
        </p:sp>
      </p:grpSp>
      <p:sp>
        <p:nvSpPr>
          <p:cNvPr id="10" name="TextBox 10"/>
          <p:cNvSpPr txBox="1"/>
          <p:nvPr/>
        </p:nvSpPr>
        <p:spPr>
          <a:xfrm>
            <a:off x="3288865" y="3184842"/>
            <a:ext cx="4339313" cy="622935"/>
          </a:xfrm>
          <a:prstGeom prst="rect">
            <a:avLst/>
          </a:prstGeom>
        </p:spPr>
        <p:txBody>
          <a:bodyPr lIns="0" tIns="0" rIns="0" bIns="0" rtlCol="0" anchor="t">
            <a:spAutoFit/>
          </a:bodyPr>
          <a:lstStyle/>
          <a:p>
            <a:pPr algn="ctr">
              <a:lnSpc>
                <a:spcPts val="5040"/>
              </a:lnSpc>
              <a:spcBef>
                <a:spcPct val="0"/>
              </a:spcBef>
            </a:pPr>
            <a:r>
              <a:rPr lang="en-US" sz="3600" b="1">
                <a:solidFill>
                  <a:srgbClr val="000000"/>
                </a:solidFill>
                <a:latin typeface="Aileron Bold"/>
                <a:ea typeface="Aileron Bold"/>
                <a:cs typeface="Aileron Bold"/>
                <a:sym typeface="Aileron Bold"/>
              </a:rPr>
              <a:t>1.Weight sensor</a:t>
            </a:r>
          </a:p>
        </p:txBody>
      </p:sp>
      <p:grpSp>
        <p:nvGrpSpPr>
          <p:cNvPr id="11" name="Group 11"/>
          <p:cNvGrpSpPr/>
          <p:nvPr/>
        </p:nvGrpSpPr>
        <p:grpSpPr>
          <a:xfrm>
            <a:off x="2845507" y="5501174"/>
            <a:ext cx="5134166" cy="809328"/>
            <a:chOff x="0" y="0"/>
            <a:chExt cx="1352208" cy="213156"/>
          </a:xfrm>
        </p:grpSpPr>
        <p:sp>
          <p:nvSpPr>
            <p:cNvPr id="12" name="Freeform 12"/>
            <p:cNvSpPr/>
            <p:nvPr/>
          </p:nvSpPr>
          <p:spPr>
            <a:xfrm>
              <a:off x="0" y="0"/>
              <a:ext cx="1352208" cy="213156"/>
            </a:xfrm>
            <a:custGeom>
              <a:avLst/>
              <a:gdLst/>
              <a:ahLst/>
              <a:cxnLst/>
              <a:rect l="l" t="t" r="r" b="b"/>
              <a:pathLst>
                <a:path w="1352208" h="213156">
                  <a:moveTo>
                    <a:pt x="106578" y="0"/>
                  </a:moveTo>
                  <a:lnTo>
                    <a:pt x="1245630" y="0"/>
                  </a:lnTo>
                  <a:cubicBezTo>
                    <a:pt x="1304492" y="0"/>
                    <a:pt x="1352208" y="47717"/>
                    <a:pt x="1352208" y="106578"/>
                  </a:cubicBezTo>
                  <a:lnTo>
                    <a:pt x="1352208" y="106578"/>
                  </a:lnTo>
                  <a:cubicBezTo>
                    <a:pt x="1352208" y="165440"/>
                    <a:pt x="1304492" y="213156"/>
                    <a:pt x="1245630" y="213156"/>
                  </a:cubicBezTo>
                  <a:lnTo>
                    <a:pt x="106578" y="213156"/>
                  </a:lnTo>
                  <a:cubicBezTo>
                    <a:pt x="47717" y="213156"/>
                    <a:pt x="0" y="165440"/>
                    <a:pt x="0" y="106578"/>
                  </a:cubicBezTo>
                  <a:lnTo>
                    <a:pt x="0" y="106578"/>
                  </a:lnTo>
                  <a:cubicBezTo>
                    <a:pt x="0" y="47717"/>
                    <a:pt x="47717" y="0"/>
                    <a:pt x="106578" y="0"/>
                  </a:cubicBezTo>
                  <a:close/>
                </a:path>
              </a:pathLst>
            </a:custGeom>
            <a:solidFill>
              <a:srgbClr val="AFC8E1"/>
            </a:solidFill>
            <a:ln cap="rnd">
              <a:noFill/>
              <a:prstDash val="solid"/>
              <a:round/>
            </a:ln>
          </p:spPr>
        </p:sp>
        <p:sp>
          <p:nvSpPr>
            <p:cNvPr id="13" name="TextBox 13"/>
            <p:cNvSpPr txBox="1"/>
            <p:nvPr/>
          </p:nvSpPr>
          <p:spPr>
            <a:xfrm>
              <a:off x="0" y="-57150"/>
              <a:ext cx="1352208" cy="270306"/>
            </a:xfrm>
            <a:prstGeom prst="rect">
              <a:avLst/>
            </a:prstGeom>
          </p:spPr>
          <p:txBody>
            <a:bodyPr lIns="50800" tIns="50800" rIns="50800" bIns="50800" rtlCol="0" anchor="ctr"/>
            <a:lstStyle/>
            <a:p>
              <a:pPr marL="0" lvl="0" indent="0" algn="ctr">
                <a:lnSpc>
                  <a:spcPts val="3640"/>
                </a:lnSpc>
                <a:spcBef>
                  <a:spcPct val="0"/>
                </a:spcBef>
              </a:pPr>
              <a:endParaRPr/>
            </a:p>
          </p:txBody>
        </p:sp>
      </p:grpSp>
      <p:sp>
        <p:nvSpPr>
          <p:cNvPr id="14" name="TextBox 14"/>
          <p:cNvSpPr txBox="1"/>
          <p:nvPr/>
        </p:nvSpPr>
        <p:spPr>
          <a:xfrm>
            <a:off x="3151429" y="5556271"/>
            <a:ext cx="4614185" cy="587084"/>
          </a:xfrm>
          <a:prstGeom prst="rect">
            <a:avLst/>
          </a:prstGeom>
        </p:spPr>
        <p:txBody>
          <a:bodyPr lIns="0" tIns="0" rIns="0" bIns="0" rtlCol="0" anchor="t">
            <a:spAutoFit/>
          </a:bodyPr>
          <a:lstStyle/>
          <a:p>
            <a:pPr algn="ctr">
              <a:lnSpc>
                <a:spcPts val="5040"/>
              </a:lnSpc>
              <a:spcBef>
                <a:spcPct val="0"/>
              </a:spcBef>
            </a:pPr>
            <a:r>
              <a:rPr lang="en-US" sz="3600" b="1" dirty="0" smtClean="0">
                <a:solidFill>
                  <a:srgbClr val="000000"/>
                </a:solidFill>
                <a:latin typeface="Aileron Bold"/>
                <a:ea typeface="Aileron Bold"/>
                <a:cs typeface="Aileron Bold"/>
                <a:sym typeface="Aileron Bold"/>
              </a:rPr>
              <a:t>2.Perfboard</a:t>
            </a:r>
            <a:endParaRPr lang="en-US" sz="3600" b="1" dirty="0">
              <a:solidFill>
                <a:srgbClr val="000000"/>
              </a:solidFill>
              <a:latin typeface="Aileron Bold"/>
              <a:ea typeface="Aileron Bold"/>
              <a:cs typeface="Aileron Bold"/>
              <a:sym typeface="Aileron Bold"/>
            </a:endParaRPr>
          </a:p>
        </p:txBody>
      </p:sp>
      <p:grpSp>
        <p:nvGrpSpPr>
          <p:cNvPr id="15" name="Group 15"/>
          <p:cNvGrpSpPr/>
          <p:nvPr/>
        </p:nvGrpSpPr>
        <p:grpSpPr>
          <a:xfrm>
            <a:off x="2845507" y="7620688"/>
            <a:ext cx="5134166" cy="809328"/>
            <a:chOff x="0" y="0"/>
            <a:chExt cx="1352208" cy="213156"/>
          </a:xfrm>
        </p:grpSpPr>
        <p:sp>
          <p:nvSpPr>
            <p:cNvPr id="16" name="Freeform 16"/>
            <p:cNvSpPr/>
            <p:nvPr/>
          </p:nvSpPr>
          <p:spPr>
            <a:xfrm>
              <a:off x="0" y="0"/>
              <a:ext cx="1352208" cy="213156"/>
            </a:xfrm>
            <a:custGeom>
              <a:avLst/>
              <a:gdLst/>
              <a:ahLst/>
              <a:cxnLst/>
              <a:rect l="l" t="t" r="r" b="b"/>
              <a:pathLst>
                <a:path w="1352208" h="213156">
                  <a:moveTo>
                    <a:pt x="106578" y="0"/>
                  </a:moveTo>
                  <a:lnTo>
                    <a:pt x="1245630" y="0"/>
                  </a:lnTo>
                  <a:cubicBezTo>
                    <a:pt x="1304492" y="0"/>
                    <a:pt x="1352208" y="47717"/>
                    <a:pt x="1352208" y="106578"/>
                  </a:cubicBezTo>
                  <a:lnTo>
                    <a:pt x="1352208" y="106578"/>
                  </a:lnTo>
                  <a:cubicBezTo>
                    <a:pt x="1352208" y="165440"/>
                    <a:pt x="1304492" y="213156"/>
                    <a:pt x="1245630" y="213156"/>
                  </a:cubicBezTo>
                  <a:lnTo>
                    <a:pt x="106578" y="213156"/>
                  </a:lnTo>
                  <a:cubicBezTo>
                    <a:pt x="47717" y="213156"/>
                    <a:pt x="0" y="165440"/>
                    <a:pt x="0" y="106578"/>
                  </a:cubicBezTo>
                  <a:lnTo>
                    <a:pt x="0" y="106578"/>
                  </a:lnTo>
                  <a:cubicBezTo>
                    <a:pt x="0" y="47717"/>
                    <a:pt x="47717" y="0"/>
                    <a:pt x="106578" y="0"/>
                  </a:cubicBezTo>
                  <a:close/>
                </a:path>
              </a:pathLst>
            </a:custGeom>
            <a:solidFill>
              <a:srgbClr val="AFC8E1"/>
            </a:solidFill>
            <a:ln cap="rnd">
              <a:noFill/>
              <a:prstDash val="solid"/>
              <a:round/>
            </a:ln>
          </p:spPr>
        </p:sp>
        <p:sp>
          <p:nvSpPr>
            <p:cNvPr id="17" name="TextBox 17"/>
            <p:cNvSpPr txBox="1"/>
            <p:nvPr/>
          </p:nvSpPr>
          <p:spPr>
            <a:xfrm>
              <a:off x="0" y="-57150"/>
              <a:ext cx="1352208" cy="270306"/>
            </a:xfrm>
            <a:prstGeom prst="rect">
              <a:avLst/>
            </a:prstGeom>
          </p:spPr>
          <p:txBody>
            <a:bodyPr lIns="50800" tIns="50800" rIns="50800" bIns="50800" rtlCol="0" anchor="ctr"/>
            <a:lstStyle/>
            <a:p>
              <a:pPr marL="0" lvl="0" indent="0" algn="ctr">
                <a:lnSpc>
                  <a:spcPts val="3640"/>
                </a:lnSpc>
                <a:spcBef>
                  <a:spcPct val="0"/>
                </a:spcBef>
              </a:pPr>
              <a:endParaRPr/>
            </a:p>
          </p:txBody>
        </p:sp>
      </p:grpSp>
      <p:sp>
        <p:nvSpPr>
          <p:cNvPr id="18" name="TextBox 18"/>
          <p:cNvSpPr txBox="1"/>
          <p:nvPr/>
        </p:nvSpPr>
        <p:spPr>
          <a:xfrm>
            <a:off x="3105497" y="7675785"/>
            <a:ext cx="4614185" cy="622935"/>
          </a:xfrm>
          <a:prstGeom prst="rect">
            <a:avLst/>
          </a:prstGeom>
        </p:spPr>
        <p:txBody>
          <a:bodyPr lIns="0" tIns="0" rIns="0" bIns="0" rtlCol="0" anchor="t">
            <a:spAutoFit/>
          </a:bodyPr>
          <a:lstStyle/>
          <a:p>
            <a:pPr algn="ctr">
              <a:lnSpc>
                <a:spcPts val="5040"/>
              </a:lnSpc>
              <a:spcBef>
                <a:spcPct val="0"/>
              </a:spcBef>
            </a:pPr>
            <a:r>
              <a:rPr lang="en-US" sz="3600" b="1">
                <a:solidFill>
                  <a:srgbClr val="000000"/>
                </a:solidFill>
                <a:latin typeface="Aileron Bold"/>
                <a:ea typeface="Aileron Bold"/>
                <a:cs typeface="Aileron Bold"/>
                <a:sym typeface="Aileron Bold"/>
              </a:rPr>
              <a:t>3.LED Light Strips</a:t>
            </a:r>
          </a:p>
        </p:txBody>
      </p:sp>
      <p:grpSp>
        <p:nvGrpSpPr>
          <p:cNvPr id="19" name="Group 19"/>
          <p:cNvGrpSpPr/>
          <p:nvPr/>
        </p:nvGrpSpPr>
        <p:grpSpPr>
          <a:xfrm>
            <a:off x="10308327" y="3129746"/>
            <a:ext cx="5134166" cy="809328"/>
            <a:chOff x="0" y="0"/>
            <a:chExt cx="1352208" cy="213156"/>
          </a:xfrm>
        </p:grpSpPr>
        <p:sp>
          <p:nvSpPr>
            <p:cNvPr id="20" name="Freeform 20"/>
            <p:cNvSpPr/>
            <p:nvPr/>
          </p:nvSpPr>
          <p:spPr>
            <a:xfrm>
              <a:off x="0" y="0"/>
              <a:ext cx="1352208" cy="213156"/>
            </a:xfrm>
            <a:custGeom>
              <a:avLst/>
              <a:gdLst/>
              <a:ahLst/>
              <a:cxnLst/>
              <a:rect l="l" t="t" r="r" b="b"/>
              <a:pathLst>
                <a:path w="1352208" h="213156">
                  <a:moveTo>
                    <a:pt x="106578" y="0"/>
                  </a:moveTo>
                  <a:lnTo>
                    <a:pt x="1245630" y="0"/>
                  </a:lnTo>
                  <a:cubicBezTo>
                    <a:pt x="1304492" y="0"/>
                    <a:pt x="1352208" y="47717"/>
                    <a:pt x="1352208" y="106578"/>
                  </a:cubicBezTo>
                  <a:lnTo>
                    <a:pt x="1352208" y="106578"/>
                  </a:lnTo>
                  <a:cubicBezTo>
                    <a:pt x="1352208" y="165440"/>
                    <a:pt x="1304492" y="213156"/>
                    <a:pt x="1245630" y="213156"/>
                  </a:cubicBezTo>
                  <a:lnTo>
                    <a:pt x="106578" y="213156"/>
                  </a:lnTo>
                  <a:cubicBezTo>
                    <a:pt x="47717" y="213156"/>
                    <a:pt x="0" y="165440"/>
                    <a:pt x="0" y="106578"/>
                  </a:cubicBezTo>
                  <a:lnTo>
                    <a:pt x="0" y="106578"/>
                  </a:lnTo>
                  <a:cubicBezTo>
                    <a:pt x="0" y="47717"/>
                    <a:pt x="47717" y="0"/>
                    <a:pt x="106578" y="0"/>
                  </a:cubicBezTo>
                  <a:close/>
                </a:path>
              </a:pathLst>
            </a:custGeom>
            <a:solidFill>
              <a:srgbClr val="AFC8E1"/>
            </a:solidFill>
            <a:ln cap="rnd">
              <a:noFill/>
              <a:prstDash val="solid"/>
              <a:round/>
            </a:ln>
          </p:spPr>
        </p:sp>
        <p:sp>
          <p:nvSpPr>
            <p:cNvPr id="21" name="TextBox 21"/>
            <p:cNvSpPr txBox="1"/>
            <p:nvPr/>
          </p:nvSpPr>
          <p:spPr>
            <a:xfrm>
              <a:off x="0" y="-57150"/>
              <a:ext cx="1352208" cy="270306"/>
            </a:xfrm>
            <a:prstGeom prst="rect">
              <a:avLst/>
            </a:prstGeom>
          </p:spPr>
          <p:txBody>
            <a:bodyPr lIns="50800" tIns="50800" rIns="50800" bIns="50800" rtlCol="0" anchor="ctr"/>
            <a:lstStyle/>
            <a:p>
              <a:pPr marL="0" lvl="0" indent="0" algn="ctr">
                <a:lnSpc>
                  <a:spcPts val="3640"/>
                </a:lnSpc>
                <a:spcBef>
                  <a:spcPct val="0"/>
                </a:spcBef>
              </a:pPr>
              <a:endParaRPr/>
            </a:p>
          </p:txBody>
        </p:sp>
      </p:grpSp>
      <p:sp>
        <p:nvSpPr>
          <p:cNvPr id="22" name="TextBox 22"/>
          <p:cNvSpPr txBox="1"/>
          <p:nvPr/>
        </p:nvSpPr>
        <p:spPr>
          <a:xfrm>
            <a:off x="11768700" y="3184842"/>
            <a:ext cx="2213420" cy="587084"/>
          </a:xfrm>
          <a:prstGeom prst="rect">
            <a:avLst/>
          </a:prstGeom>
        </p:spPr>
        <p:txBody>
          <a:bodyPr lIns="0" tIns="0" rIns="0" bIns="0" rtlCol="0" anchor="t">
            <a:spAutoFit/>
          </a:bodyPr>
          <a:lstStyle/>
          <a:p>
            <a:pPr algn="ctr">
              <a:lnSpc>
                <a:spcPts val="5040"/>
              </a:lnSpc>
              <a:spcBef>
                <a:spcPct val="0"/>
              </a:spcBef>
            </a:pPr>
            <a:r>
              <a:rPr lang="en-US" sz="3600" b="1" dirty="0" smtClean="0">
                <a:solidFill>
                  <a:srgbClr val="000000"/>
                </a:solidFill>
                <a:latin typeface="Aileron Bold"/>
                <a:ea typeface="Aileron Bold"/>
                <a:cs typeface="Aileron Bold"/>
                <a:sym typeface="Aileron Bold"/>
              </a:rPr>
              <a:t>4.Button</a:t>
            </a:r>
            <a:endParaRPr lang="en-US" sz="3600" b="1" dirty="0">
              <a:solidFill>
                <a:srgbClr val="000000"/>
              </a:solidFill>
              <a:latin typeface="Aileron Bold"/>
              <a:ea typeface="Aileron Bold"/>
              <a:cs typeface="Aileron Bold"/>
              <a:sym typeface="Aileron Bold"/>
            </a:endParaRPr>
          </a:p>
        </p:txBody>
      </p:sp>
      <p:grpSp>
        <p:nvGrpSpPr>
          <p:cNvPr id="23" name="Group 23"/>
          <p:cNvGrpSpPr/>
          <p:nvPr/>
        </p:nvGrpSpPr>
        <p:grpSpPr>
          <a:xfrm>
            <a:off x="10308327" y="5501174"/>
            <a:ext cx="5134166" cy="809328"/>
            <a:chOff x="0" y="0"/>
            <a:chExt cx="1352208" cy="213156"/>
          </a:xfrm>
        </p:grpSpPr>
        <p:sp>
          <p:nvSpPr>
            <p:cNvPr id="24" name="Freeform 24"/>
            <p:cNvSpPr/>
            <p:nvPr/>
          </p:nvSpPr>
          <p:spPr>
            <a:xfrm>
              <a:off x="0" y="0"/>
              <a:ext cx="1352208" cy="213156"/>
            </a:xfrm>
            <a:custGeom>
              <a:avLst/>
              <a:gdLst/>
              <a:ahLst/>
              <a:cxnLst/>
              <a:rect l="l" t="t" r="r" b="b"/>
              <a:pathLst>
                <a:path w="1352208" h="213156">
                  <a:moveTo>
                    <a:pt x="106578" y="0"/>
                  </a:moveTo>
                  <a:lnTo>
                    <a:pt x="1245630" y="0"/>
                  </a:lnTo>
                  <a:cubicBezTo>
                    <a:pt x="1304492" y="0"/>
                    <a:pt x="1352208" y="47717"/>
                    <a:pt x="1352208" y="106578"/>
                  </a:cubicBezTo>
                  <a:lnTo>
                    <a:pt x="1352208" y="106578"/>
                  </a:lnTo>
                  <a:cubicBezTo>
                    <a:pt x="1352208" y="165440"/>
                    <a:pt x="1304492" y="213156"/>
                    <a:pt x="1245630" y="213156"/>
                  </a:cubicBezTo>
                  <a:lnTo>
                    <a:pt x="106578" y="213156"/>
                  </a:lnTo>
                  <a:cubicBezTo>
                    <a:pt x="47717" y="213156"/>
                    <a:pt x="0" y="165440"/>
                    <a:pt x="0" y="106578"/>
                  </a:cubicBezTo>
                  <a:lnTo>
                    <a:pt x="0" y="106578"/>
                  </a:lnTo>
                  <a:cubicBezTo>
                    <a:pt x="0" y="47717"/>
                    <a:pt x="47717" y="0"/>
                    <a:pt x="106578" y="0"/>
                  </a:cubicBezTo>
                  <a:close/>
                </a:path>
              </a:pathLst>
            </a:custGeom>
            <a:solidFill>
              <a:srgbClr val="AFC8E1"/>
            </a:solidFill>
            <a:ln cap="rnd">
              <a:noFill/>
              <a:prstDash val="solid"/>
              <a:round/>
            </a:ln>
          </p:spPr>
        </p:sp>
        <p:sp>
          <p:nvSpPr>
            <p:cNvPr id="25" name="TextBox 25"/>
            <p:cNvSpPr txBox="1"/>
            <p:nvPr/>
          </p:nvSpPr>
          <p:spPr>
            <a:xfrm>
              <a:off x="0" y="-57150"/>
              <a:ext cx="1352208" cy="270306"/>
            </a:xfrm>
            <a:prstGeom prst="rect">
              <a:avLst/>
            </a:prstGeom>
          </p:spPr>
          <p:txBody>
            <a:bodyPr lIns="50800" tIns="50800" rIns="50800" bIns="50800" rtlCol="0" anchor="ctr"/>
            <a:lstStyle/>
            <a:p>
              <a:pPr marL="0" lvl="0" indent="0" algn="ctr">
                <a:lnSpc>
                  <a:spcPts val="3640"/>
                </a:lnSpc>
                <a:spcBef>
                  <a:spcPct val="0"/>
                </a:spcBef>
              </a:pPr>
              <a:endParaRPr/>
            </a:p>
          </p:txBody>
        </p:sp>
      </p:grpSp>
      <p:sp>
        <p:nvSpPr>
          <p:cNvPr id="26" name="TextBox 26"/>
          <p:cNvSpPr txBox="1"/>
          <p:nvPr/>
        </p:nvSpPr>
        <p:spPr>
          <a:xfrm>
            <a:off x="11290164" y="5556271"/>
            <a:ext cx="3170492" cy="622935"/>
          </a:xfrm>
          <a:prstGeom prst="rect">
            <a:avLst/>
          </a:prstGeom>
        </p:spPr>
        <p:txBody>
          <a:bodyPr lIns="0" tIns="0" rIns="0" bIns="0" rtlCol="0" anchor="t">
            <a:spAutoFit/>
          </a:bodyPr>
          <a:lstStyle/>
          <a:p>
            <a:pPr algn="ctr">
              <a:lnSpc>
                <a:spcPts val="5040"/>
              </a:lnSpc>
              <a:spcBef>
                <a:spcPct val="0"/>
              </a:spcBef>
            </a:pPr>
            <a:r>
              <a:rPr lang="en-US" sz="3600" b="1">
                <a:solidFill>
                  <a:srgbClr val="000000"/>
                </a:solidFill>
                <a:latin typeface="Aileron Bold"/>
                <a:ea typeface="Aileron Bold"/>
                <a:cs typeface="Aileron Bold"/>
                <a:sym typeface="Aileron Bold"/>
              </a:rPr>
              <a:t>5.ESP32</a:t>
            </a:r>
          </a:p>
        </p:txBody>
      </p:sp>
      <p:sp>
        <p:nvSpPr>
          <p:cNvPr id="27" name="Freeform 27"/>
          <p:cNvSpPr/>
          <p:nvPr/>
        </p:nvSpPr>
        <p:spPr>
          <a:xfrm flipH="1" flipV="1">
            <a:off x="13330934" y="1091234"/>
            <a:ext cx="3998861" cy="1187455"/>
          </a:xfrm>
          <a:custGeom>
            <a:avLst/>
            <a:gdLst/>
            <a:ahLst/>
            <a:cxnLst/>
            <a:rect l="l" t="t" r="r" b="b"/>
            <a:pathLst>
              <a:path w="3998861" h="1187455">
                <a:moveTo>
                  <a:pt x="3998861" y="1187455"/>
                </a:moveTo>
                <a:lnTo>
                  <a:pt x="0" y="1187455"/>
                </a:lnTo>
                <a:lnTo>
                  <a:pt x="0" y="0"/>
                </a:lnTo>
                <a:lnTo>
                  <a:pt x="3998861" y="0"/>
                </a:lnTo>
                <a:lnTo>
                  <a:pt x="3998861" y="1187455"/>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28" name="Freeform 28"/>
          <p:cNvSpPr/>
          <p:nvPr/>
        </p:nvSpPr>
        <p:spPr>
          <a:xfrm flipH="1" flipV="1">
            <a:off x="11581927" y="1091234"/>
            <a:ext cx="1187455" cy="1187455"/>
          </a:xfrm>
          <a:custGeom>
            <a:avLst/>
            <a:gdLst/>
            <a:ahLst/>
            <a:cxnLst/>
            <a:rect l="l" t="t" r="r" b="b"/>
            <a:pathLst>
              <a:path w="1187455" h="1187455">
                <a:moveTo>
                  <a:pt x="1187456" y="1187455"/>
                </a:moveTo>
                <a:lnTo>
                  <a:pt x="0" y="1187455"/>
                </a:lnTo>
                <a:lnTo>
                  <a:pt x="0" y="0"/>
                </a:lnTo>
                <a:lnTo>
                  <a:pt x="1187456" y="0"/>
                </a:lnTo>
                <a:lnTo>
                  <a:pt x="1187456" y="1187455"/>
                </a:lnTo>
                <a:close/>
              </a:path>
            </a:pathLst>
          </a:custGeom>
          <a:blipFill>
            <a:blip r:embed="rId4">
              <a:extLst>
                <a:ext uri="{96DAC541-7B7A-43D3-8B79-37D633B846F1}">
                  <asvg:svgBlip xmlns="" xmlns:asvg="http://schemas.microsoft.com/office/drawing/2016/SVG/main" r:embed="rId5"/>
                </a:ext>
              </a:extLst>
            </a:blip>
            <a:stretch>
              <a:fillRect/>
            </a:stretch>
          </a:blipFill>
        </p:spPr>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5886092" cy="814365"/>
            <a:chOff x="0" y="0"/>
            <a:chExt cx="1550246" cy="214483"/>
          </a:xfrm>
        </p:grpSpPr>
        <p:sp>
          <p:nvSpPr>
            <p:cNvPr id="3" name="Freeform 3"/>
            <p:cNvSpPr/>
            <p:nvPr/>
          </p:nvSpPr>
          <p:spPr>
            <a:xfrm>
              <a:off x="0" y="0"/>
              <a:ext cx="1550246" cy="214483"/>
            </a:xfrm>
            <a:custGeom>
              <a:avLst/>
              <a:gdLst/>
              <a:ahLst/>
              <a:cxnLst/>
              <a:rect l="l" t="t" r="r" b="b"/>
              <a:pathLst>
                <a:path w="1550246" h="214483">
                  <a:moveTo>
                    <a:pt x="107241" y="0"/>
                  </a:moveTo>
                  <a:lnTo>
                    <a:pt x="1443005" y="0"/>
                  </a:lnTo>
                  <a:cubicBezTo>
                    <a:pt x="1502233" y="0"/>
                    <a:pt x="1550246" y="48014"/>
                    <a:pt x="1550246" y="107241"/>
                  </a:cubicBezTo>
                  <a:lnTo>
                    <a:pt x="1550246" y="107241"/>
                  </a:lnTo>
                  <a:cubicBezTo>
                    <a:pt x="1550246" y="135684"/>
                    <a:pt x="1538948" y="162961"/>
                    <a:pt x="1518836" y="183073"/>
                  </a:cubicBezTo>
                  <a:cubicBezTo>
                    <a:pt x="1498724" y="203184"/>
                    <a:pt x="1471447" y="214483"/>
                    <a:pt x="1443005" y="214483"/>
                  </a:cubicBezTo>
                  <a:lnTo>
                    <a:pt x="107241" y="214483"/>
                  </a:lnTo>
                  <a:cubicBezTo>
                    <a:pt x="48014" y="214483"/>
                    <a:pt x="0" y="166469"/>
                    <a:pt x="0" y="107241"/>
                  </a:cubicBezTo>
                  <a:lnTo>
                    <a:pt x="0" y="107241"/>
                  </a:lnTo>
                  <a:cubicBezTo>
                    <a:pt x="0" y="48014"/>
                    <a:pt x="48014" y="0"/>
                    <a:pt x="107241" y="0"/>
                  </a:cubicBezTo>
                  <a:close/>
                </a:path>
              </a:pathLst>
            </a:custGeom>
            <a:solidFill>
              <a:srgbClr val="AFC8E1"/>
            </a:solidFill>
            <a:ln cap="rnd">
              <a:noFill/>
              <a:prstDash val="solid"/>
              <a:round/>
            </a:ln>
          </p:spPr>
        </p:sp>
        <p:sp>
          <p:nvSpPr>
            <p:cNvPr id="4" name="TextBox 4"/>
            <p:cNvSpPr txBox="1"/>
            <p:nvPr/>
          </p:nvSpPr>
          <p:spPr>
            <a:xfrm>
              <a:off x="0" y="-57150"/>
              <a:ext cx="1550246" cy="271633"/>
            </a:xfrm>
            <a:prstGeom prst="rect">
              <a:avLst/>
            </a:prstGeom>
          </p:spPr>
          <p:txBody>
            <a:bodyPr lIns="50800" tIns="50800" rIns="50800" bIns="50800" rtlCol="0" anchor="ctr"/>
            <a:lstStyle/>
            <a:p>
              <a:pPr marL="0" lvl="0" indent="0" algn="ctr">
                <a:lnSpc>
                  <a:spcPts val="3640"/>
                </a:lnSpc>
                <a:spcBef>
                  <a:spcPct val="0"/>
                </a:spcBef>
              </a:pPr>
              <a:endParaRPr/>
            </a:p>
          </p:txBody>
        </p:sp>
      </p:grpSp>
      <p:sp>
        <p:nvSpPr>
          <p:cNvPr id="5" name="TextBox 5"/>
          <p:cNvSpPr txBox="1"/>
          <p:nvPr/>
        </p:nvSpPr>
        <p:spPr>
          <a:xfrm>
            <a:off x="1472936" y="880405"/>
            <a:ext cx="4997620" cy="962660"/>
          </a:xfrm>
          <a:prstGeom prst="rect">
            <a:avLst/>
          </a:prstGeom>
        </p:spPr>
        <p:txBody>
          <a:bodyPr lIns="0" tIns="0" rIns="0" bIns="0" rtlCol="0" anchor="t">
            <a:spAutoFit/>
          </a:bodyPr>
          <a:lstStyle/>
          <a:p>
            <a:pPr algn="ctr">
              <a:lnSpc>
                <a:spcPts val="7840"/>
              </a:lnSpc>
              <a:spcBef>
                <a:spcPct val="0"/>
              </a:spcBef>
            </a:pPr>
            <a:r>
              <a:rPr lang="en-US" sz="5600" b="1">
                <a:solidFill>
                  <a:srgbClr val="000000"/>
                </a:solidFill>
                <a:latin typeface="Aileron Bold"/>
                <a:ea typeface="Aileron Bold"/>
                <a:cs typeface="Aileron Bold"/>
                <a:sym typeface="Aileron Bold"/>
              </a:rPr>
              <a:t>Weight sensor</a:t>
            </a:r>
          </a:p>
        </p:txBody>
      </p:sp>
      <p:sp>
        <p:nvSpPr>
          <p:cNvPr id="6" name="Freeform 6"/>
          <p:cNvSpPr/>
          <p:nvPr/>
        </p:nvSpPr>
        <p:spPr>
          <a:xfrm>
            <a:off x="10914155" y="5514340"/>
            <a:ext cx="4394130" cy="4394130"/>
          </a:xfrm>
          <a:custGeom>
            <a:avLst/>
            <a:gdLst/>
            <a:ahLst/>
            <a:cxnLst/>
            <a:rect l="l" t="t" r="r" b="b"/>
            <a:pathLst>
              <a:path w="4394130" h="4394130">
                <a:moveTo>
                  <a:pt x="0" y="0"/>
                </a:moveTo>
                <a:lnTo>
                  <a:pt x="4394130" y="0"/>
                </a:lnTo>
                <a:lnTo>
                  <a:pt x="4394130" y="4394130"/>
                </a:lnTo>
                <a:lnTo>
                  <a:pt x="0" y="4394130"/>
                </a:lnTo>
                <a:lnTo>
                  <a:pt x="0" y="0"/>
                </a:lnTo>
                <a:close/>
              </a:path>
            </a:pathLst>
          </a:custGeom>
          <a:blipFill>
            <a:blip r:embed="rId2"/>
            <a:stretch>
              <a:fillRect/>
            </a:stretch>
          </a:blipFill>
        </p:spPr>
      </p:sp>
      <p:sp>
        <p:nvSpPr>
          <p:cNvPr id="7" name="TextBox 7"/>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7</a:t>
            </a:r>
          </a:p>
        </p:txBody>
      </p:sp>
      <p:sp>
        <p:nvSpPr>
          <p:cNvPr id="8" name="TextBox 8"/>
          <p:cNvSpPr txBox="1"/>
          <p:nvPr/>
        </p:nvSpPr>
        <p:spPr>
          <a:xfrm>
            <a:off x="1359779" y="2894967"/>
            <a:ext cx="14759439" cy="2701290"/>
          </a:xfrm>
          <a:prstGeom prst="rect">
            <a:avLst/>
          </a:prstGeom>
        </p:spPr>
        <p:txBody>
          <a:bodyPr lIns="0" tIns="0" rIns="0" bIns="0" rtlCol="0" anchor="t">
            <a:spAutoFit/>
          </a:bodyPr>
          <a:lstStyle/>
          <a:p>
            <a:pPr marL="712470" lvl="1" indent="-356235" algn="just">
              <a:lnSpc>
                <a:spcPts val="4290"/>
              </a:lnSpc>
              <a:buFont typeface="Arial"/>
              <a:buChar char="•"/>
            </a:pPr>
            <a:r>
              <a:rPr lang="en-US" sz="3300" spc="66">
                <a:solidFill>
                  <a:srgbClr val="000000"/>
                </a:solidFill>
                <a:latin typeface="Aileron"/>
                <a:ea typeface="Aileron"/>
                <a:cs typeface="Aileron"/>
                <a:sym typeface="Aileron"/>
              </a:rPr>
              <a:t>Model: HX711 + Pressure Sensor Module (5kg)</a:t>
            </a:r>
          </a:p>
          <a:p>
            <a:pPr algn="just">
              <a:lnSpc>
                <a:spcPts val="4290"/>
              </a:lnSpc>
            </a:pPr>
            <a:endParaRPr lang="en-US" sz="3300" spc="66">
              <a:solidFill>
                <a:srgbClr val="000000"/>
              </a:solidFill>
              <a:latin typeface="Aileron"/>
              <a:ea typeface="Aileron"/>
              <a:cs typeface="Aileron"/>
              <a:sym typeface="Aileron"/>
            </a:endParaRPr>
          </a:p>
          <a:p>
            <a:pPr marL="712470" lvl="1" indent="-356235" algn="just">
              <a:lnSpc>
                <a:spcPts val="4290"/>
              </a:lnSpc>
              <a:buFont typeface="Arial"/>
              <a:buChar char="•"/>
            </a:pPr>
            <a:r>
              <a:rPr lang="en-US" sz="3300" spc="66">
                <a:solidFill>
                  <a:srgbClr val="000000"/>
                </a:solidFill>
                <a:latin typeface="Aileron"/>
                <a:ea typeface="Aileron"/>
                <a:cs typeface="Aileron"/>
                <a:sym typeface="Aileron"/>
              </a:rPr>
              <a:t>Purpose: Amplifies the signal received by the Load Cell and transmits it to the HX711, which converts the analog signal into a digital signal and transmits it to the ESP32.</a:t>
            </a:r>
          </a:p>
        </p:txBody>
      </p:sp>
      <p:sp>
        <p:nvSpPr>
          <p:cNvPr id="9" name="Freeform 9"/>
          <p:cNvSpPr/>
          <p:nvPr/>
        </p:nvSpPr>
        <p:spPr>
          <a:xfrm>
            <a:off x="1028700" y="7751071"/>
            <a:ext cx="1507229" cy="1507229"/>
          </a:xfrm>
          <a:custGeom>
            <a:avLst/>
            <a:gdLst/>
            <a:ahLst/>
            <a:cxnLst/>
            <a:rect l="l" t="t" r="r" b="b"/>
            <a:pathLst>
              <a:path w="1507229" h="1507229">
                <a:moveTo>
                  <a:pt x="0" y="0"/>
                </a:moveTo>
                <a:lnTo>
                  <a:pt x="1507229" y="0"/>
                </a:lnTo>
                <a:lnTo>
                  <a:pt x="1507229" y="1507229"/>
                </a:lnTo>
                <a:lnTo>
                  <a:pt x="0" y="1507229"/>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0" name="Freeform 10"/>
          <p:cNvSpPr/>
          <p:nvPr/>
        </p:nvSpPr>
        <p:spPr>
          <a:xfrm>
            <a:off x="14979745" y="2200275"/>
            <a:ext cx="2288115" cy="679452"/>
          </a:xfrm>
          <a:custGeom>
            <a:avLst/>
            <a:gdLst/>
            <a:ahLst/>
            <a:cxnLst/>
            <a:rect l="l" t="t" r="r" b="b"/>
            <a:pathLst>
              <a:path w="2288115" h="679452">
                <a:moveTo>
                  <a:pt x="0" y="0"/>
                </a:moveTo>
                <a:lnTo>
                  <a:pt x="2288115" y="0"/>
                </a:lnTo>
                <a:lnTo>
                  <a:pt x="2288115" y="679452"/>
                </a:lnTo>
                <a:lnTo>
                  <a:pt x="0" y="679452"/>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a:ln cap="sq">
            <a:noFill/>
            <a:prstDash val="solid"/>
            <a:miter/>
          </a:ln>
        </p:spPr>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5366742" cy="875368"/>
            <a:chOff x="0" y="0"/>
            <a:chExt cx="1413463" cy="230550"/>
          </a:xfrm>
        </p:grpSpPr>
        <p:sp>
          <p:nvSpPr>
            <p:cNvPr id="3" name="Freeform 3"/>
            <p:cNvSpPr/>
            <p:nvPr/>
          </p:nvSpPr>
          <p:spPr>
            <a:xfrm>
              <a:off x="0" y="0"/>
              <a:ext cx="1413463" cy="230550"/>
            </a:xfrm>
            <a:custGeom>
              <a:avLst/>
              <a:gdLst/>
              <a:ahLst/>
              <a:cxnLst/>
              <a:rect l="l" t="t" r="r" b="b"/>
              <a:pathLst>
                <a:path w="1413463" h="230550">
                  <a:moveTo>
                    <a:pt x="115275" y="0"/>
                  </a:moveTo>
                  <a:lnTo>
                    <a:pt x="1298188" y="0"/>
                  </a:lnTo>
                  <a:cubicBezTo>
                    <a:pt x="1361853" y="0"/>
                    <a:pt x="1413463" y="51610"/>
                    <a:pt x="1413463" y="115275"/>
                  </a:cubicBezTo>
                  <a:lnTo>
                    <a:pt x="1413463" y="115275"/>
                  </a:lnTo>
                  <a:cubicBezTo>
                    <a:pt x="1413463" y="178939"/>
                    <a:pt x="1361853" y="230550"/>
                    <a:pt x="1298188" y="230550"/>
                  </a:cubicBezTo>
                  <a:lnTo>
                    <a:pt x="115275" y="230550"/>
                  </a:lnTo>
                  <a:cubicBezTo>
                    <a:pt x="51610" y="230550"/>
                    <a:pt x="0" y="178939"/>
                    <a:pt x="0" y="115275"/>
                  </a:cubicBezTo>
                  <a:lnTo>
                    <a:pt x="0" y="115275"/>
                  </a:lnTo>
                  <a:cubicBezTo>
                    <a:pt x="0" y="51610"/>
                    <a:pt x="51610" y="0"/>
                    <a:pt x="115275" y="0"/>
                  </a:cubicBezTo>
                  <a:close/>
                </a:path>
              </a:pathLst>
            </a:custGeom>
            <a:solidFill>
              <a:srgbClr val="AFC8E1"/>
            </a:solidFill>
            <a:ln cap="rnd">
              <a:noFill/>
              <a:prstDash val="solid"/>
              <a:round/>
            </a:ln>
          </p:spPr>
        </p:sp>
        <p:sp>
          <p:nvSpPr>
            <p:cNvPr id="4" name="TextBox 4"/>
            <p:cNvSpPr txBox="1"/>
            <p:nvPr/>
          </p:nvSpPr>
          <p:spPr>
            <a:xfrm>
              <a:off x="0" y="-57150"/>
              <a:ext cx="1413463" cy="287700"/>
            </a:xfrm>
            <a:prstGeom prst="rect">
              <a:avLst/>
            </a:prstGeom>
          </p:spPr>
          <p:txBody>
            <a:bodyPr lIns="50800" tIns="50800" rIns="50800" bIns="50800" rtlCol="0" anchor="ctr"/>
            <a:lstStyle/>
            <a:p>
              <a:pPr marL="0" lvl="0" indent="0" algn="ctr">
                <a:lnSpc>
                  <a:spcPts val="3640"/>
                </a:lnSpc>
                <a:spcBef>
                  <a:spcPct val="0"/>
                </a:spcBef>
              </a:pPr>
              <a:endParaRPr/>
            </a:p>
          </p:txBody>
        </p:sp>
      </p:grpSp>
      <p:sp>
        <p:nvSpPr>
          <p:cNvPr id="5" name="TextBox 5"/>
          <p:cNvSpPr txBox="1"/>
          <p:nvPr/>
        </p:nvSpPr>
        <p:spPr>
          <a:xfrm>
            <a:off x="1028700" y="945684"/>
            <a:ext cx="5366742" cy="936625"/>
          </a:xfrm>
          <a:prstGeom prst="rect">
            <a:avLst/>
          </a:prstGeom>
        </p:spPr>
        <p:txBody>
          <a:bodyPr lIns="0" tIns="0" rIns="0" bIns="0" rtlCol="0" anchor="t">
            <a:spAutoFit/>
          </a:bodyPr>
          <a:lstStyle/>
          <a:p>
            <a:pPr algn="ctr">
              <a:lnSpc>
                <a:spcPts val="7699"/>
              </a:lnSpc>
              <a:spcBef>
                <a:spcPct val="0"/>
              </a:spcBef>
            </a:pPr>
            <a:r>
              <a:rPr lang="en-US" sz="5499" b="1" dirty="0" err="1" smtClean="0">
                <a:solidFill>
                  <a:srgbClr val="000000"/>
                </a:solidFill>
                <a:latin typeface="Aileron Bold"/>
                <a:ea typeface="Aileron Bold"/>
                <a:cs typeface="Aileron Bold"/>
                <a:sym typeface="Aileron Bold"/>
              </a:rPr>
              <a:t>Perfboard</a:t>
            </a:r>
            <a:endParaRPr lang="en-US" sz="5499" b="1" dirty="0">
              <a:solidFill>
                <a:srgbClr val="000000"/>
              </a:solidFill>
              <a:latin typeface="Aileron Bold"/>
              <a:ea typeface="Aileron Bold"/>
              <a:cs typeface="Aileron Bold"/>
              <a:sym typeface="Aileron Bold"/>
            </a:endParaRPr>
          </a:p>
        </p:txBody>
      </p:sp>
      <p:sp>
        <p:nvSpPr>
          <p:cNvPr id="6" name="Freeform 6"/>
          <p:cNvSpPr/>
          <p:nvPr/>
        </p:nvSpPr>
        <p:spPr>
          <a:xfrm>
            <a:off x="11273883" y="3339821"/>
            <a:ext cx="5010459" cy="5129284"/>
          </a:xfrm>
          <a:custGeom>
            <a:avLst/>
            <a:gdLst/>
            <a:ahLst/>
            <a:cxnLst/>
            <a:rect l="l" t="t" r="r" b="b"/>
            <a:pathLst>
              <a:path w="5010459" h="5129284">
                <a:moveTo>
                  <a:pt x="0" y="0"/>
                </a:moveTo>
                <a:lnTo>
                  <a:pt x="5010458" y="0"/>
                </a:lnTo>
                <a:lnTo>
                  <a:pt x="5010458" y="5129283"/>
                </a:lnTo>
                <a:lnTo>
                  <a:pt x="0" y="5129283"/>
                </a:lnTo>
                <a:lnTo>
                  <a:pt x="0" y="0"/>
                </a:lnTo>
                <a:close/>
              </a:path>
            </a:pathLst>
          </a:custGeom>
          <a:blipFill>
            <a:blip r:embed="rId2"/>
            <a:stretch>
              <a:fillRect/>
            </a:stretch>
          </a:blipFill>
        </p:spPr>
      </p:sp>
      <p:sp>
        <p:nvSpPr>
          <p:cNvPr id="7" name="TextBox 7"/>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8</a:t>
            </a:r>
          </a:p>
        </p:txBody>
      </p:sp>
      <p:sp>
        <p:nvSpPr>
          <p:cNvPr id="8" name="TextBox 8"/>
          <p:cNvSpPr txBox="1"/>
          <p:nvPr/>
        </p:nvSpPr>
        <p:spPr>
          <a:xfrm>
            <a:off x="1690859" y="3273146"/>
            <a:ext cx="8443741" cy="1769715"/>
          </a:xfrm>
          <a:prstGeom prst="rect">
            <a:avLst/>
          </a:prstGeom>
        </p:spPr>
        <p:txBody>
          <a:bodyPr wrap="square" lIns="0" tIns="0" rIns="0" bIns="0" rtlCol="0" anchor="t">
            <a:spAutoFit/>
          </a:bodyPr>
          <a:lstStyle/>
          <a:p>
            <a:pPr marL="712470" lvl="1" indent="-356235" algn="l">
              <a:lnSpc>
                <a:spcPts val="4620"/>
              </a:lnSpc>
              <a:buFont typeface="Arial"/>
              <a:buChar char="•"/>
            </a:pPr>
            <a:r>
              <a:rPr lang="en-US" sz="3300" dirty="0">
                <a:solidFill>
                  <a:srgbClr val="000000"/>
                </a:solidFill>
                <a:latin typeface="Aileron"/>
                <a:ea typeface="Aileron"/>
                <a:cs typeface="Aileron"/>
                <a:sym typeface="Aileron"/>
              </a:rPr>
              <a:t>Size: 85mm*85mm (900 holes)</a:t>
            </a:r>
          </a:p>
          <a:p>
            <a:pPr algn="l">
              <a:lnSpc>
                <a:spcPts val="4620"/>
              </a:lnSpc>
            </a:pPr>
            <a:endParaRPr lang="en-US" sz="3300" dirty="0">
              <a:solidFill>
                <a:srgbClr val="000000"/>
              </a:solidFill>
              <a:latin typeface="Aileron"/>
              <a:ea typeface="Aileron"/>
              <a:cs typeface="Aileron"/>
              <a:sym typeface="Aileron"/>
            </a:endParaRPr>
          </a:p>
          <a:p>
            <a:pPr marL="712470" lvl="1" indent="-356235" algn="l">
              <a:lnSpc>
                <a:spcPts val="4620"/>
              </a:lnSpc>
              <a:buFont typeface="Arial"/>
              <a:buChar char="•"/>
            </a:pPr>
            <a:r>
              <a:rPr lang="en-US" sz="3300" dirty="0">
                <a:solidFill>
                  <a:srgbClr val="000000"/>
                </a:solidFill>
                <a:latin typeface="Aileron"/>
                <a:ea typeface="Aileron"/>
                <a:cs typeface="Aileron"/>
                <a:sym typeface="Aileron"/>
              </a:rPr>
              <a:t>Purpose: To integrate all components</a:t>
            </a:r>
          </a:p>
        </p:txBody>
      </p:sp>
      <p:sp>
        <p:nvSpPr>
          <p:cNvPr id="9" name="Freeform 9"/>
          <p:cNvSpPr/>
          <p:nvPr/>
        </p:nvSpPr>
        <p:spPr>
          <a:xfrm>
            <a:off x="1028700" y="7751071"/>
            <a:ext cx="1507229" cy="1507229"/>
          </a:xfrm>
          <a:custGeom>
            <a:avLst/>
            <a:gdLst/>
            <a:ahLst/>
            <a:cxnLst/>
            <a:rect l="l" t="t" r="r" b="b"/>
            <a:pathLst>
              <a:path w="1507229" h="1507229">
                <a:moveTo>
                  <a:pt x="0" y="0"/>
                </a:moveTo>
                <a:lnTo>
                  <a:pt x="1507229" y="0"/>
                </a:lnTo>
                <a:lnTo>
                  <a:pt x="1507229" y="1507229"/>
                </a:lnTo>
                <a:lnTo>
                  <a:pt x="0" y="1507229"/>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0" name="Freeform 10"/>
          <p:cNvSpPr/>
          <p:nvPr/>
        </p:nvSpPr>
        <p:spPr>
          <a:xfrm>
            <a:off x="14979745" y="2200275"/>
            <a:ext cx="2288115" cy="679452"/>
          </a:xfrm>
          <a:custGeom>
            <a:avLst/>
            <a:gdLst/>
            <a:ahLst/>
            <a:cxnLst/>
            <a:rect l="l" t="t" r="r" b="b"/>
            <a:pathLst>
              <a:path w="2288115" h="679452">
                <a:moveTo>
                  <a:pt x="0" y="0"/>
                </a:moveTo>
                <a:lnTo>
                  <a:pt x="2288115" y="0"/>
                </a:lnTo>
                <a:lnTo>
                  <a:pt x="2288115" y="679452"/>
                </a:lnTo>
                <a:lnTo>
                  <a:pt x="0" y="679452"/>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a:ln cap="sq">
            <a:noFill/>
            <a:prstDash val="solid"/>
            <a:miter/>
          </a:ln>
        </p:spPr>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5926535" cy="880284"/>
            <a:chOff x="0" y="0"/>
            <a:chExt cx="1560898" cy="231844"/>
          </a:xfrm>
        </p:grpSpPr>
        <p:sp>
          <p:nvSpPr>
            <p:cNvPr id="3" name="Freeform 3"/>
            <p:cNvSpPr/>
            <p:nvPr/>
          </p:nvSpPr>
          <p:spPr>
            <a:xfrm>
              <a:off x="0" y="0"/>
              <a:ext cx="1560898" cy="231844"/>
            </a:xfrm>
            <a:custGeom>
              <a:avLst/>
              <a:gdLst/>
              <a:ahLst/>
              <a:cxnLst/>
              <a:rect l="l" t="t" r="r" b="b"/>
              <a:pathLst>
                <a:path w="1560898" h="231844">
                  <a:moveTo>
                    <a:pt x="115922" y="0"/>
                  </a:moveTo>
                  <a:lnTo>
                    <a:pt x="1444976" y="0"/>
                  </a:lnTo>
                  <a:cubicBezTo>
                    <a:pt x="1475721" y="0"/>
                    <a:pt x="1505206" y="12213"/>
                    <a:pt x="1526945" y="33953"/>
                  </a:cubicBezTo>
                  <a:cubicBezTo>
                    <a:pt x="1548685" y="55692"/>
                    <a:pt x="1560898" y="85178"/>
                    <a:pt x="1560898" y="115922"/>
                  </a:cubicBezTo>
                  <a:lnTo>
                    <a:pt x="1560898" y="115922"/>
                  </a:lnTo>
                  <a:cubicBezTo>
                    <a:pt x="1560898" y="146667"/>
                    <a:pt x="1548685" y="176152"/>
                    <a:pt x="1526945" y="197891"/>
                  </a:cubicBezTo>
                  <a:cubicBezTo>
                    <a:pt x="1505206" y="219631"/>
                    <a:pt x="1475721" y="231844"/>
                    <a:pt x="1444976" y="231844"/>
                  </a:cubicBezTo>
                  <a:lnTo>
                    <a:pt x="115922" y="231844"/>
                  </a:lnTo>
                  <a:cubicBezTo>
                    <a:pt x="85178" y="231844"/>
                    <a:pt x="55692" y="219631"/>
                    <a:pt x="33953" y="197891"/>
                  </a:cubicBezTo>
                  <a:cubicBezTo>
                    <a:pt x="12213" y="176152"/>
                    <a:pt x="0" y="146667"/>
                    <a:pt x="0" y="115922"/>
                  </a:cubicBezTo>
                  <a:lnTo>
                    <a:pt x="0" y="115922"/>
                  </a:lnTo>
                  <a:cubicBezTo>
                    <a:pt x="0" y="85178"/>
                    <a:pt x="12213" y="55692"/>
                    <a:pt x="33953" y="33953"/>
                  </a:cubicBezTo>
                  <a:cubicBezTo>
                    <a:pt x="55692" y="12213"/>
                    <a:pt x="85178" y="0"/>
                    <a:pt x="115922" y="0"/>
                  </a:cubicBezTo>
                  <a:close/>
                </a:path>
              </a:pathLst>
            </a:custGeom>
            <a:solidFill>
              <a:srgbClr val="AFC8E1"/>
            </a:solidFill>
            <a:ln cap="rnd">
              <a:noFill/>
              <a:prstDash val="solid"/>
              <a:round/>
            </a:ln>
          </p:spPr>
        </p:sp>
        <p:sp>
          <p:nvSpPr>
            <p:cNvPr id="4" name="TextBox 4"/>
            <p:cNvSpPr txBox="1"/>
            <p:nvPr/>
          </p:nvSpPr>
          <p:spPr>
            <a:xfrm>
              <a:off x="0" y="-57150"/>
              <a:ext cx="1560898" cy="288994"/>
            </a:xfrm>
            <a:prstGeom prst="rect">
              <a:avLst/>
            </a:prstGeom>
          </p:spPr>
          <p:txBody>
            <a:bodyPr lIns="50800" tIns="50800" rIns="50800" bIns="50800" rtlCol="0" anchor="ctr"/>
            <a:lstStyle/>
            <a:p>
              <a:pPr marL="0" lvl="0" indent="0" algn="ctr">
                <a:lnSpc>
                  <a:spcPts val="3640"/>
                </a:lnSpc>
                <a:spcBef>
                  <a:spcPct val="0"/>
                </a:spcBef>
              </a:pPr>
              <a:endParaRPr/>
            </a:p>
          </p:txBody>
        </p:sp>
      </p:grpSp>
      <p:sp>
        <p:nvSpPr>
          <p:cNvPr id="5" name="TextBox 5"/>
          <p:cNvSpPr txBox="1"/>
          <p:nvPr/>
        </p:nvSpPr>
        <p:spPr>
          <a:xfrm>
            <a:off x="1318466" y="972359"/>
            <a:ext cx="5347003" cy="936625"/>
          </a:xfrm>
          <a:prstGeom prst="rect">
            <a:avLst/>
          </a:prstGeom>
        </p:spPr>
        <p:txBody>
          <a:bodyPr lIns="0" tIns="0" rIns="0" bIns="0" rtlCol="0" anchor="t">
            <a:spAutoFit/>
          </a:bodyPr>
          <a:lstStyle/>
          <a:p>
            <a:pPr algn="ctr">
              <a:lnSpc>
                <a:spcPts val="7699"/>
              </a:lnSpc>
              <a:spcBef>
                <a:spcPct val="0"/>
              </a:spcBef>
            </a:pPr>
            <a:r>
              <a:rPr lang="en-US" sz="5499" b="1">
                <a:solidFill>
                  <a:srgbClr val="000000"/>
                </a:solidFill>
                <a:latin typeface="Aileron Bold"/>
                <a:ea typeface="Aileron Bold"/>
                <a:cs typeface="Aileron Bold"/>
                <a:sym typeface="Aileron Bold"/>
              </a:rPr>
              <a:t>LED Light Strips</a:t>
            </a:r>
          </a:p>
        </p:txBody>
      </p:sp>
      <p:sp>
        <p:nvSpPr>
          <p:cNvPr id="6" name="Freeform 6"/>
          <p:cNvSpPr/>
          <p:nvPr/>
        </p:nvSpPr>
        <p:spPr>
          <a:xfrm>
            <a:off x="12357239" y="1288834"/>
            <a:ext cx="4590845" cy="4590845"/>
          </a:xfrm>
          <a:custGeom>
            <a:avLst/>
            <a:gdLst/>
            <a:ahLst/>
            <a:cxnLst/>
            <a:rect l="l" t="t" r="r" b="b"/>
            <a:pathLst>
              <a:path w="4590845" h="4590845">
                <a:moveTo>
                  <a:pt x="0" y="0"/>
                </a:moveTo>
                <a:lnTo>
                  <a:pt x="4590845" y="0"/>
                </a:lnTo>
                <a:lnTo>
                  <a:pt x="4590845" y="4590845"/>
                </a:lnTo>
                <a:lnTo>
                  <a:pt x="0" y="4590845"/>
                </a:lnTo>
                <a:lnTo>
                  <a:pt x="0" y="0"/>
                </a:lnTo>
                <a:close/>
              </a:path>
            </a:pathLst>
          </a:custGeom>
          <a:blipFill>
            <a:blip r:embed="rId2"/>
            <a:stretch>
              <a:fillRect/>
            </a:stretch>
          </a:blipFill>
        </p:spPr>
      </p:sp>
      <p:sp>
        <p:nvSpPr>
          <p:cNvPr id="7" name="TextBox 7"/>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9</a:t>
            </a:r>
          </a:p>
        </p:txBody>
      </p:sp>
      <p:sp>
        <p:nvSpPr>
          <p:cNvPr id="8" name="TextBox 8"/>
          <p:cNvSpPr txBox="1"/>
          <p:nvPr/>
        </p:nvSpPr>
        <p:spPr>
          <a:xfrm>
            <a:off x="1318466" y="3336853"/>
            <a:ext cx="10133185" cy="3244215"/>
          </a:xfrm>
          <a:prstGeom prst="rect">
            <a:avLst/>
          </a:prstGeom>
        </p:spPr>
        <p:txBody>
          <a:bodyPr lIns="0" tIns="0" rIns="0" bIns="0" rtlCol="0" anchor="t">
            <a:spAutoFit/>
          </a:bodyPr>
          <a:lstStyle/>
          <a:p>
            <a:pPr marL="712470" lvl="1" indent="-356235" algn="just">
              <a:lnSpc>
                <a:spcPts val="4290"/>
              </a:lnSpc>
              <a:buFont typeface="Arial"/>
              <a:buChar char="•"/>
            </a:pPr>
            <a:r>
              <a:rPr lang="en-US" sz="3300" spc="66">
                <a:solidFill>
                  <a:srgbClr val="000000"/>
                </a:solidFill>
                <a:latin typeface="Aileron"/>
                <a:ea typeface="Aileron"/>
                <a:cs typeface="Aileron"/>
                <a:sym typeface="Aileron"/>
              </a:rPr>
              <a:t>Model: ws2812b</a:t>
            </a:r>
          </a:p>
          <a:p>
            <a:pPr algn="just">
              <a:lnSpc>
                <a:spcPts val="4290"/>
              </a:lnSpc>
            </a:pPr>
            <a:endParaRPr lang="en-US" sz="3300" spc="66">
              <a:solidFill>
                <a:srgbClr val="000000"/>
              </a:solidFill>
              <a:latin typeface="Aileron"/>
              <a:ea typeface="Aileron"/>
              <a:cs typeface="Aileron"/>
              <a:sym typeface="Aileron"/>
            </a:endParaRPr>
          </a:p>
          <a:p>
            <a:pPr marL="712470" lvl="1" indent="-356235" algn="just">
              <a:lnSpc>
                <a:spcPts val="4290"/>
              </a:lnSpc>
              <a:buFont typeface="Arial"/>
              <a:buChar char="•"/>
            </a:pPr>
            <a:r>
              <a:rPr lang="en-US" sz="3300" spc="66">
                <a:solidFill>
                  <a:srgbClr val="000000"/>
                </a:solidFill>
                <a:latin typeface="Aileron"/>
                <a:ea typeface="Aileron"/>
                <a:cs typeface="Aileron"/>
                <a:sym typeface="Aileron"/>
              </a:rPr>
              <a:t>Size: 24 LEDs, approximately 40cm</a:t>
            </a:r>
          </a:p>
          <a:p>
            <a:pPr algn="just">
              <a:lnSpc>
                <a:spcPts val="4290"/>
              </a:lnSpc>
            </a:pPr>
            <a:endParaRPr lang="en-US" sz="3300" spc="66">
              <a:solidFill>
                <a:srgbClr val="000000"/>
              </a:solidFill>
              <a:latin typeface="Aileron"/>
              <a:ea typeface="Aileron"/>
              <a:cs typeface="Aileron"/>
              <a:sym typeface="Aileron"/>
            </a:endParaRPr>
          </a:p>
          <a:p>
            <a:pPr marL="712470" lvl="1" indent="-356235" algn="just">
              <a:lnSpc>
                <a:spcPts val="4290"/>
              </a:lnSpc>
              <a:buFont typeface="Arial"/>
              <a:buChar char="•"/>
            </a:pPr>
            <a:r>
              <a:rPr lang="en-US" sz="3300" spc="66">
                <a:solidFill>
                  <a:srgbClr val="000000"/>
                </a:solidFill>
                <a:latin typeface="Aileron"/>
                <a:ea typeface="Aileron"/>
                <a:cs typeface="Aileron"/>
                <a:sym typeface="Aileron"/>
              </a:rPr>
              <a:t>Purpose: To remind customers when it's time to drink or refill their water bottle</a:t>
            </a:r>
          </a:p>
        </p:txBody>
      </p:sp>
      <p:sp>
        <p:nvSpPr>
          <p:cNvPr id="9" name="Freeform 9"/>
          <p:cNvSpPr/>
          <p:nvPr/>
        </p:nvSpPr>
        <p:spPr>
          <a:xfrm>
            <a:off x="1028700" y="7751071"/>
            <a:ext cx="1507229" cy="1507229"/>
          </a:xfrm>
          <a:custGeom>
            <a:avLst/>
            <a:gdLst/>
            <a:ahLst/>
            <a:cxnLst/>
            <a:rect l="l" t="t" r="r" b="b"/>
            <a:pathLst>
              <a:path w="1507229" h="1507229">
                <a:moveTo>
                  <a:pt x="0" y="0"/>
                </a:moveTo>
                <a:lnTo>
                  <a:pt x="1507229" y="0"/>
                </a:lnTo>
                <a:lnTo>
                  <a:pt x="1507229" y="1507229"/>
                </a:lnTo>
                <a:lnTo>
                  <a:pt x="0" y="1507229"/>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0" name="Freeform 10"/>
          <p:cNvSpPr/>
          <p:nvPr/>
        </p:nvSpPr>
        <p:spPr>
          <a:xfrm>
            <a:off x="13729175" y="8164959"/>
            <a:ext cx="2288115" cy="679452"/>
          </a:xfrm>
          <a:custGeom>
            <a:avLst/>
            <a:gdLst/>
            <a:ahLst/>
            <a:cxnLst/>
            <a:rect l="l" t="t" r="r" b="b"/>
            <a:pathLst>
              <a:path w="2288115" h="679452">
                <a:moveTo>
                  <a:pt x="0" y="0"/>
                </a:moveTo>
                <a:lnTo>
                  <a:pt x="2288115" y="0"/>
                </a:lnTo>
                <a:lnTo>
                  <a:pt x="2288115" y="679452"/>
                </a:lnTo>
                <a:lnTo>
                  <a:pt x="0" y="679452"/>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a:ln cap="sq">
            <a:noFill/>
            <a:prstDash val="solid"/>
            <a:miter/>
          </a:ln>
        </p:spPr>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5134166" cy="875368"/>
            <a:chOff x="0" y="0"/>
            <a:chExt cx="1352208" cy="230550"/>
          </a:xfrm>
        </p:grpSpPr>
        <p:sp>
          <p:nvSpPr>
            <p:cNvPr id="3" name="Freeform 3"/>
            <p:cNvSpPr/>
            <p:nvPr/>
          </p:nvSpPr>
          <p:spPr>
            <a:xfrm>
              <a:off x="0" y="0"/>
              <a:ext cx="1352208" cy="230550"/>
            </a:xfrm>
            <a:custGeom>
              <a:avLst/>
              <a:gdLst/>
              <a:ahLst/>
              <a:cxnLst/>
              <a:rect l="l" t="t" r="r" b="b"/>
              <a:pathLst>
                <a:path w="1352208" h="230550">
                  <a:moveTo>
                    <a:pt x="115275" y="0"/>
                  </a:moveTo>
                  <a:lnTo>
                    <a:pt x="1236934" y="0"/>
                  </a:lnTo>
                  <a:cubicBezTo>
                    <a:pt x="1300598" y="0"/>
                    <a:pt x="1352208" y="51610"/>
                    <a:pt x="1352208" y="115275"/>
                  </a:cubicBezTo>
                  <a:lnTo>
                    <a:pt x="1352208" y="115275"/>
                  </a:lnTo>
                  <a:cubicBezTo>
                    <a:pt x="1352208" y="178939"/>
                    <a:pt x="1300598" y="230550"/>
                    <a:pt x="1236934" y="230550"/>
                  </a:cubicBezTo>
                  <a:lnTo>
                    <a:pt x="115275" y="230550"/>
                  </a:lnTo>
                  <a:cubicBezTo>
                    <a:pt x="51610" y="230550"/>
                    <a:pt x="0" y="178939"/>
                    <a:pt x="0" y="115275"/>
                  </a:cubicBezTo>
                  <a:lnTo>
                    <a:pt x="0" y="115275"/>
                  </a:lnTo>
                  <a:cubicBezTo>
                    <a:pt x="0" y="51610"/>
                    <a:pt x="51610" y="0"/>
                    <a:pt x="115275" y="0"/>
                  </a:cubicBezTo>
                  <a:close/>
                </a:path>
              </a:pathLst>
            </a:custGeom>
            <a:solidFill>
              <a:srgbClr val="AFC8E1"/>
            </a:solidFill>
            <a:ln cap="rnd">
              <a:noFill/>
              <a:prstDash val="solid"/>
              <a:round/>
            </a:ln>
          </p:spPr>
        </p:sp>
        <p:sp>
          <p:nvSpPr>
            <p:cNvPr id="4" name="TextBox 4"/>
            <p:cNvSpPr txBox="1"/>
            <p:nvPr/>
          </p:nvSpPr>
          <p:spPr>
            <a:xfrm>
              <a:off x="0" y="-57150"/>
              <a:ext cx="1352208" cy="287700"/>
            </a:xfrm>
            <a:prstGeom prst="rect">
              <a:avLst/>
            </a:prstGeom>
          </p:spPr>
          <p:txBody>
            <a:bodyPr lIns="50800" tIns="50800" rIns="50800" bIns="50800" rtlCol="0" anchor="ctr"/>
            <a:lstStyle/>
            <a:p>
              <a:pPr marL="0" lvl="0" indent="0" algn="ctr">
                <a:lnSpc>
                  <a:spcPts val="3640"/>
                </a:lnSpc>
                <a:spcBef>
                  <a:spcPct val="0"/>
                </a:spcBef>
              </a:pPr>
              <a:endParaRPr/>
            </a:p>
          </p:txBody>
        </p:sp>
      </p:grpSp>
      <p:sp>
        <p:nvSpPr>
          <p:cNvPr id="5" name="TextBox 5"/>
          <p:cNvSpPr txBox="1"/>
          <p:nvPr/>
        </p:nvSpPr>
        <p:spPr>
          <a:xfrm>
            <a:off x="2205067" y="967443"/>
            <a:ext cx="2781433" cy="936625"/>
          </a:xfrm>
          <a:prstGeom prst="rect">
            <a:avLst/>
          </a:prstGeom>
        </p:spPr>
        <p:txBody>
          <a:bodyPr lIns="0" tIns="0" rIns="0" bIns="0" rtlCol="0" anchor="t">
            <a:spAutoFit/>
          </a:bodyPr>
          <a:lstStyle/>
          <a:p>
            <a:pPr algn="ctr">
              <a:lnSpc>
                <a:spcPts val="7699"/>
              </a:lnSpc>
              <a:spcBef>
                <a:spcPct val="0"/>
              </a:spcBef>
            </a:pPr>
            <a:r>
              <a:rPr lang="en-US" sz="5499" b="1">
                <a:solidFill>
                  <a:srgbClr val="000000"/>
                </a:solidFill>
                <a:latin typeface="Aileron Bold"/>
                <a:ea typeface="Aileron Bold"/>
                <a:cs typeface="Aileron Bold"/>
                <a:sym typeface="Aileron Bold"/>
              </a:rPr>
              <a:t>Button</a:t>
            </a:r>
          </a:p>
        </p:txBody>
      </p:sp>
      <p:sp>
        <p:nvSpPr>
          <p:cNvPr id="6" name="Freeform 6"/>
          <p:cNvSpPr/>
          <p:nvPr/>
        </p:nvSpPr>
        <p:spPr>
          <a:xfrm>
            <a:off x="5831422" y="5143500"/>
            <a:ext cx="6625156" cy="4589362"/>
          </a:xfrm>
          <a:custGeom>
            <a:avLst/>
            <a:gdLst/>
            <a:ahLst/>
            <a:cxnLst/>
            <a:rect l="l" t="t" r="r" b="b"/>
            <a:pathLst>
              <a:path w="6625156" h="4589362">
                <a:moveTo>
                  <a:pt x="0" y="0"/>
                </a:moveTo>
                <a:lnTo>
                  <a:pt x="6625156" y="0"/>
                </a:lnTo>
                <a:lnTo>
                  <a:pt x="6625156" y="4589362"/>
                </a:lnTo>
                <a:lnTo>
                  <a:pt x="0" y="4589362"/>
                </a:lnTo>
                <a:lnTo>
                  <a:pt x="0" y="0"/>
                </a:lnTo>
                <a:close/>
              </a:path>
            </a:pathLst>
          </a:custGeom>
          <a:blipFill>
            <a:blip r:embed="rId2"/>
            <a:stretch>
              <a:fillRect/>
            </a:stretch>
          </a:blipFill>
        </p:spPr>
      </p:sp>
      <p:sp>
        <p:nvSpPr>
          <p:cNvPr id="7" name="TextBox 7"/>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10</a:t>
            </a:r>
          </a:p>
        </p:txBody>
      </p:sp>
      <p:sp>
        <p:nvSpPr>
          <p:cNvPr id="8" name="TextBox 8"/>
          <p:cNvSpPr txBox="1"/>
          <p:nvPr/>
        </p:nvSpPr>
        <p:spPr>
          <a:xfrm>
            <a:off x="1904466" y="2803401"/>
            <a:ext cx="13640333" cy="1654299"/>
          </a:xfrm>
          <a:prstGeom prst="rect">
            <a:avLst/>
          </a:prstGeom>
        </p:spPr>
        <p:txBody>
          <a:bodyPr wrap="square" lIns="0" tIns="0" rIns="0" bIns="0" rtlCol="0" anchor="t">
            <a:spAutoFit/>
          </a:bodyPr>
          <a:lstStyle/>
          <a:p>
            <a:pPr marL="712470" lvl="1" indent="-356235" algn="just">
              <a:lnSpc>
                <a:spcPts val="4290"/>
              </a:lnSpc>
              <a:buFont typeface="Arial"/>
              <a:buChar char="•"/>
            </a:pPr>
            <a:r>
              <a:rPr lang="en-US" sz="3300" spc="66" dirty="0">
                <a:solidFill>
                  <a:srgbClr val="000000"/>
                </a:solidFill>
                <a:latin typeface="Aileron"/>
                <a:ea typeface="Aileron"/>
                <a:cs typeface="Aileron"/>
                <a:sym typeface="Aileron"/>
              </a:rPr>
              <a:t>Model: PBS-33B Reset (non-locking) button</a:t>
            </a:r>
          </a:p>
          <a:p>
            <a:pPr algn="just">
              <a:lnSpc>
                <a:spcPts val="4290"/>
              </a:lnSpc>
            </a:pPr>
            <a:endParaRPr lang="en-US" sz="3300" spc="66" dirty="0">
              <a:solidFill>
                <a:srgbClr val="000000"/>
              </a:solidFill>
              <a:latin typeface="Aileron"/>
              <a:ea typeface="Aileron"/>
              <a:cs typeface="Aileron"/>
              <a:sym typeface="Aileron"/>
            </a:endParaRPr>
          </a:p>
          <a:p>
            <a:pPr marL="712470" lvl="1" indent="-356235" algn="just">
              <a:lnSpc>
                <a:spcPts val="4290"/>
              </a:lnSpc>
              <a:buFont typeface="Arial"/>
              <a:buChar char="•"/>
            </a:pPr>
            <a:r>
              <a:rPr lang="en-US" sz="3300" spc="66" dirty="0">
                <a:solidFill>
                  <a:srgbClr val="000000"/>
                </a:solidFill>
                <a:latin typeface="Aileron"/>
                <a:ea typeface="Aileron"/>
                <a:cs typeface="Aileron"/>
                <a:sym typeface="Aileron"/>
              </a:rPr>
              <a:t>Purpose: Returns the weight of a cup placed on a coaster to zero.</a:t>
            </a:r>
          </a:p>
        </p:txBody>
      </p:sp>
      <p:sp>
        <p:nvSpPr>
          <p:cNvPr id="9" name="Freeform 9"/>
          <p:cNvSpPr/>
          <p:nvPr/>
        </p:nvSpPr>
        <p:spPr>
          <a:xfrm>
            <a:off x="1028700" y="7751071"/>
            <a:ext cx="1507229" cy="1507229"/>
          </a:xfrm>
          <a:custGeom>
            <a:avLst/>
            <a:gdLst/>
            <a:ahLst/>
            <a:cxnLst/>
            <a:rect l="l" t="t" r="r" b="b"/>
            <a:pathLst>
              <a:path w="1507229" h="1507229">
                <a:moveTo>
                  <a:pt x="0" y="0"/>
                </a:moveTo>
                <a:lnTo>
                  <a:pt x="1507229" y="0"/>
                </a:lnTo>
                <a:lnTo>
                  <a:pt x="1507229" y="1507229"/>
                </a:lnTo>
                <a:lnTo>
                  <a:pt x="0" y="1507229"/>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0" name="Freeform 10"/>
          <p:cNvSpPr/>
          <p:nvPr/>
        </p:nvSpPr>
        <p:spPr>
          <a:xfrm>
            <a:off x="14979745" y="2200275"/>
            <a:ext cx="2288115" cy="679452"/>
          </a:xfrm>
          <a:custGeom>
            <a:avLst/>
            <a:gdLst/>
            <a:ahLst/>
            <a:cxnLst/>
            <a:rect l="l" t="t" r="r" b="b"/>
            <a:pathLst>
              <a:path w="2288115" h="679452">
                <a:moveTo>
                  <a:pt x="0" y="0"/>
                </a:moveTo>
                <a:lnTo>
                  <a:pt x="2288115" y="0"/>
                </a:lnTo>
                <a:lnTo>
                  <a:pt x="2288115" y="679452"/>
                </a:lnTo>
                <a:lnTo>
                  <a:pt x="0" y="679452"/>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a:ln cap="sq">
            <a:noFill/>
            <a:prstDash val="solid"/>
            <a:miter/>
          </a:ln>
        </p:spPr>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5134166" cy="875368"/>
            <a:chOff x="0" y="0"/>
            <a:chExt cx="1352208" cy="230550"/>
          </a:xfrm>
        </p:grpSpPr>
        <p:sp>
          <p:nvSpPr>
            <p:cNvPr id="3" name="Freeform 3"/>
            <p:cNvSpPr/>
            <p:nvPr/>
          </p:nvSpPr>
          <p:spPr>
            <a:xfrm>
              <a:off x="0" y="0"/>
              <a:ext cx="1352208" cy="230550"/>
            </a:xfrm>
            <a:custGeom>
              <a:avLst/>
              <a:gdLst/>
              <a:ahLst/>
              <a:cxnLst/>
              <a:rect l="l" t="t" r="r" b="b"/>
              <a:pathLst>
                <a:path w="1352208" h="230550">
                  <a:moveTo>
                    <a:pt x="115275" y="0"/>
                  </a:moveTo>
                  <a:lnTo>
                    <a:pt x="1236934" y="0"/>
                  </a:lnTo>
                  <a:cubicBezTo>
                    <a:pt x="1300598" y="0"/>
                    <a:pt x="1352208" y="51610"/>
                    <a:pt x="1352208" y="115275"/>
                  </a:cubicBezTo>
                  <a:lnTo>
                    <a:pt x="1352208" y="115275"/>
                  </a:lnTo>
                  <a:cubicBezTo>
                    <a:pt x="1352208" y="178939"/>
                    <a:pt x="1300598" y="230550"/>
                    <a:pt x="1236934" y="230550"/>
                  </a:cubicBezTo>
                  <a:lnTo>
                    <a:pt x="115275" y="230550"/>
                  </a:lnTo>
                  <a:cubicBezTo>
                    <a:pt x="51610" y="230550"/>
                    <a:pt x="0" y="178939"/>
                    <a:pt x="0" y="115275"/>
                  </a:cubicBezTo>
                  <a:lnTo>
                    <a:pt x="0" y="115275"/>
                  </a:lnTo>
                  <a:cubicBezTo>
                    <a:pt x="0" y="51610"/>
                    <a:pt x="51610" y="0"/>
                    <a:pt x="115275" y="0"/>
                  </a:cubicBezTo>
                  <a:close/>
                </a:path>
              </a:pathLst>
            </a:custGeom>
            <a:solidFill>
              <a:srgbClr val="AFC8E1"/>
            </a:solidFill>
            <a:ln cap="rnd">
              <a:noFill/>
              <a:prstDash val="solid"/>
              <a:round/>
            </a:ln>
          </p:spPr>
        </p:sp>
        <p:sp>
          <p:nvSpPr>
            <p:cNvPr id="4" name="TextBox 4"/>
            <p:cNvSpPr txBox="1"/>
            <p:nvPr/>
          </p:nvSpPr>
          <p:spPr>
            <a:xfrm>
              <a:off x="0" y="-57150"/>
              <a:ext cx="1352208" cy="287700"/>
            </a:xfrm>
            <a:prstGeom prst="rect">
              <a:avLst/>
            </a:prstGeom>
          </p:spPr>
          <p:txBody>
            <a:bodyPr lIns="50800" tIns="50800" rIns="50800" bIns="50800" rtlCol="0" anchor="ctr"/>
            <a:lstStyle/>
            <a:p>
              <a:pPr marL="0" lvl="0" indent="0" algn="ctr">
                <a:lnSpc>
                  <a:spcPts val="3640"/>
                </a:lnSpc>
                <a:spcBef>
                  <a:spcPct val="0"/>
                </a:spcBef>
              </a:pPr>
              <a:endParaRPr/>
            </a:p>
          </p:txBody>
        </p:sp>
      </p:grpSp>
      <p:sp>
        <p:nvSpPr>
          <p:cNvPr id="5" name="TextBox 5"/>
          <p:cNvSpPr txBox="1"/>
          <p:nvPr/>
        </p:nvSpPr>
        <p:spPr>
          <a:xfrm>
            <a:off x="2324205" y="967443"/>
            <a:ext cx="2543156" cy="936625"/>
          </a:xfrm>
          <a:prstGeom prst="rect">
            <a:avLst/>
          </a:prstGeom>
        </p:spPr>
        <p:txBody>
          <a:bodyPr lIns="0" tIns="0" rIns="0" bIns="0" rtlCol="0" anchor="t">
            <a:spAutoFit/>
          </a:bodyPr>
          <a:lstStyle/>
          <a:p>
            <a:pPr algn="ctr">
              <a:lnSpc>
                <a:spcPts val="7699"/>
              </a:lnSpc>
              <a:spcBef>
                <a:spcPct val="0"/>
              </a:spcBef>
            </a:pPr>
            <a:r>
              <a:rPr lang="en-US" sz="5499" b="1">
                <a:solidFill>
                  <a:srgbClr val="000000"/>
                </a:solidFill>
                <a:latin typeface="Aileron Bold"/>
                <a:ea typeface="Aileron Bold"/>
                <a:cs typeface="Aileron Bold"/>
                <a:sym typeface="Aileron Bold"/>
              </a:rPr>
              <a:t>ESP32</a:t>
            </a:r>
          </a:p>
        </p:txBody>
      </p:sp>
      <p:sp>
        <p:nvSpPr>
          <p:cNvPr id="6" name="TextBox 6"/>
          <p:cNvSpPr txBox="1"/>
          <p:nvPr/>
        </p:nvSpPr>
        <p:spPr>
          <a:xfrm>
            <a:off x="1028700" y="2115691"/>
            <a:ext cx="11390047" cy="5343751"/>
          </a:xfrm>
          <a:prstGeom prst="rect">
            <a:avLst/>
          </a:prstGeom>
        </p:spPr>
        <p:txBody>
          <a:bodyPr lIns="0" tIns="0" rIns="0" bIns="0" rtlCol="0" anchor="t">
            <a:spAutoFit/>
          </a:bodyPr>
          <a:lstStyle/>
          <a:p>
            <a:pPr algn="l">
              <a:lnSpc>
                <a:spcPts val="3876"/>
              </a:lnSpc>
            </a:pPr>
            <a:r>
              <a:rPr lang="en-US" sz="2982" spc="59">
                <a:solidFill>
                  <a:srgbClr val="000000"/>
                </a:solidFill>
                <a:latin typeface="Aileron"/>
                <a:ea typeface="Aileron"/>
                <a:cs typeface="Aileron"/>
                <a:sym typeface="Aileron"/>
              </a:rPr>
              <a:t>Purpose:</a:t>
            </a:r>
          </a:p>
          <a:p>
            <a:pPr algn="l">
              <a:lnSpc>
                <a:spcPts val="3876"/>
              </a:lnSpc>
            </a:pPr>
            <a:r>
              <a:rPr lang="en-US" sz="2982" spc="59">
                <a:solidFill>
                  <a:srgbClr val="000000"/>
                </a:solidFill>
                <a:latin typeface="Aileron"/>
                <a:ea typeface="Aileron"/>
                <a:cs typeface="Aileron"/>
                <a:sym typeface="Aileron"/>
              </a:rPr>
              <a:t>1.Data Acquisition and Control: Receives digital signals (DT/SCK) from the HX711 module, calculates them, and converts them into actual weight (grams/ml of water or beverage). </a:t>
            </a:r>
          </a:p>
          <a:p>
            <a:pPr marL="643862" lvl="1" indent="-321931" algn="l">
              <a:lnSpc>
                <a:spcPts val="3876"/>
              </a:lnSpc>
              <a:buFont typeface="Arial"/>
              <a:buChar char="•"/>
            </a:pPr>
            <a:r>
              <a:rPr lang="en-US" sz="2982" spc="59">
                <a:solidFill>
                  <a:srgbClr val="000000"/>
                </a:solidFill>
                <a:latin typeface="Aileron"/>
                <a:ea typeface="Aileron"/>
                <a:cs typeface="Aileron"/>
                <a:sym typeface="Aileron"/>
              </a:rPr>
              <a:t>Control Output: Based on the calculated results, precisely controls the color, brightness, and dynamic effects of the WS2812B light bar. </a:t>
            </a:r>
          </a:p>
          <a:p>
            <a:pPr marL="643862" lvl="1" indent="-321931" algn="l">
              <a:lnSpc>
                <a:spcPts val="3876"/>
              </a:lnSpc>
              <a:buFont typeface="Arial"/>
              <a:buChar char="•"/>
            </a:pPr>
            <a:r>
              <a:rPr lang="en-US" sz="2982" spc="59">
                <a:solidFill>
                  <a:srgbClr val="000000"/>
                </a:solidFill>
                <a:latin typeface="Aileron"/>
                <a:ea typeface="Aileron"/>
                <a:cs typeface="Aileron"/>
                <a:sym typeface="Aileron"/>
              </a:rPr>
              <a:t>Input Processing: Monitors the status of the PBS-33B button and performs zero reset operations.</a:t>
            </a:r>
          </a:p>
          <a:p>
            <a:pPr algn="l">
              <a:lnSpc>
                <a:spcPts val="3876"/>
              </a:lnSpc>
            </a:pPr>
            <a:endParaRPr lang="en-US" sz="2982" spc="59">
              <a:solidFill>
                <a:srgbClr val="000000"/>
              </a:solidFill>
              <a:latin typeface="Aileron"/>
              <a:ea typeface="Aileron"/>
              <a:cs typeface="Aileron"/>
              <a:sym typeface="Aileron"/>
            </a:endParaRPr>
          </a:p>
          <a:p>
            <a:pPr algn="l">
              <a:lnSpc>
                <a:spcPts val="3876"/>
              </a:lnSpc>
            </a:pPr>
            <a:endParaRPr lang="en-US" sz="2982" spc="59">
              <a:solidFill>
                <a:srgbClr val="000000"/>
              </a:solidFill>
              <a:latin typeface="Aileron"/>
              <a:ea typeface="Aileron"/>
              <a:cs typeface="Aileron"/>
              <a:sym typeface="Aileron"/>
            </a:endParaRPr>
          </a:p>
        </p:txBody>
      </p:sp>
      <p:sp>
        <p:nvSpPr>
          <p:cNvPr id="7" name="Freeform 7"/>
          <p:cNvSpPr/>
          <p:nvPr/>
        </p:nvSpPr>
        <p:spPr>
          <a:xfrm>
            <a:off x="12998842" y="1904068"/>
            <a:ext cx="4861897" cy="3610603"/>
          </a:xfrm>
          <a:custGeom>
            <a:avLst/>
            <a:gdLst/>
            <a:ahLst/>
            <a:cxnLst/>
            <a:rect l="l" t="t" r="r" b="b"/>
            <a:pathLst>
              <a:path w="4861897" h="3610603">
                <a:moveTo>
                  <a:pt x="0" y="0"/>
                </a:moveTo>
                <a:lnTo>
                  <a:pt x="4861897" y="0"/>
                </a:lnTo>
                <a:lnTo>
                  <a:pt x="4861897" y="3610603"/>
                </a:lnTo>
                <a:lnTo>
                  <a:pt x="0" y="3610603"/>
                </a:lnTo>
                <a:lnTo>
                  <a:pt x="0" y="0"/>
                </a:lnTo>
                <a:close/>
              </a:path>
            </a:pathLst>
          </a:custGeom>
          <a:blipFill>
            <a:blip r:embed="rId2"/>
            <a:stretch>
              <a:fillRect/>
            </a:stretch>
          </a:blipFill>
        </p:spPr>
      </p:sp>
      <p:sp>
        <p:nvSpPr>
          <p:cNvPr id="8" name="TextBox 8"/>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11</a:t>
            </a:r>
          </a:p>
        </p:txBody>
      </p:sp>
      <p:sp>
        <p:nvSpPr>
          <p:cNvPr id="9" name="TextBox 9"/>
          <p:cNvSpPr txBox="1"/>
          <p:nvPr/>
        </p:nvSpPr>
        <p:spPr>
          <a:xfrm>
            <a:off x="1028700" y="6935108"/>
            <a:ext cx="16230600" cy="1943354"/>
          </a:xfrm>
          <a:prstGeom prst="rect">
            <a:avLst/>
          </a:prstGeom>
        </p:spPr>
        <p:txBody>
          <a:bodyPr lIns="0" tIns="0" rIns="0" bIns="0" rtlCol="0" anchor="t">
            <a:spAutoFit/>
          </a:bodyPr>
          <a:lstStyle/>
          <a:p>
            <a:pPr algn="l">
              <a:lnSpc>
                <a:spcPts val="3873"/>
              </a:lnSpc>
            </a:pPr>
            <a:r>
              <a:rPr lang="en-US" sz="2979" spc="59">
                <a:solidFill>
                  <a:srgbClr val="000000"/>
                </a:solidFill>
                <a:latin typeface="Aileron"/>
                <a:ea typeface="Aileron"/>
                <a:cs typeface="Aileron"/>
                <a:sym typeface="Aileron"/>
              </a:rPr>
              <a:t>2. Smart Connectivity: This is the most powerful feature of the ESP32. It can transmit weight and hydration data to a cloud server via Wi-Fi or to a mobile app via Bluetooth (BLE).</a:t>
            </a:r>
          </a:p>
          <a:p>
            <a:pPr algn="l">
              <a:lnSpc>
                <a:spcPts val="3873"/>
              </a:lnSpc>
            </a:pPr>
            <a:endParaRPr lang="en-US" sz="2979" spc="59">
              <a:solidFill>
                <a:srgbClr val="000000"/>
              </a:solidFill>
              <a:latin typeface="Aileron"/>
              <a:ea typeface="Aileron"/>
              <a:cs typeface="Aileron"/>
              <a:sym typeface="Aileron"/>
            </a:endParaRPr>
          </a:p>
          <a:p>
            <a:pPr algn="l">
              <a:lnSpc>
                <a:spcPts val="3873"/>
              </a:lnSpc>
            </a:pPr>
            <a:r>
              <a:rPr lang="en-US" sz="2979" spc="59">
                <a:solidFill>
                  <a:srgbClr val="000000"/>
                </a:solidFill>
                <a:latin typeface="Aileron"/>
                <a:ea typeface="Aileron"/>
                <a:cs typeface="Aileron"/>
                <a:sym typeface="Aileron"/>
              </a:rPr>
              <a:t>3. Logical Operations and State Management: Runs the Arduino program</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sp>
        <p:nvSpPr>
          <p:cNvPr id="2" name="Freeform 2"/>
          <p:cNvSpPr/>
          <p:nvPr/>
        </p:nvSpPr>
        <p:spPr>
          <a:xfrm>
            <a:off x="14208464" y="463390"/>
            <a:ext cx="1130620" cy="1130620"/>
          </a:xfrm>
          <a:custGeom>
            <a:avLst/>
            <a:gdLst/>
            <a:ahLst/>
            <a:cxnLst/>
            <a:rect l="l" t="t" r="r" b="b"/>
            <a:pathLst>
              <a:path w="1130620" h="1130620">
                <a:moveTo>
                  <a:pt x="0" y="0"/>
                </a:moveTo>
                <a:lnTo>
                  <a:pt x="1130620" y="0"/>
                </a:lnTo>
                <a:lnTo>
                  <a:pt x="1130620" y="1130620"/>
                </a:lnTo>
                <a:lnTo>
                  <a:pt x="0" y="113062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4983228" y="1091234"/>
            <a:ext cx="2346567" cy="2376817"/>
          </a:xfrm>
          <a:custGeom>
            <a:avLst/>
            <a:gdLst/>
            <a:ahLst/>
            <a:cxnLst/>
            <a:rect l="l" t="t" r="r" b="b"/>
            <a:pathLst>
              <a:path w="2346567" h="2376817">
                <a:moveTo>
                  <a:pt x="0" y="0"/>
                </a:moveTo>
                <a:lnTo>
                  <a:pt x="2346567" y="0"/>
                </a:lnTo>
                <a:lnTo>
                  <a:pt x="2346567" y="2376817"/>
                </a:lnTo>
                <a:lnTo>
                  <a:pt x="0" y="2376817"/>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4" name="Group 4"/>
          <p:cNvGrpSpPr/>
          <p:nvPr/>
        </p:nvGrpSpPr>
        <p:grpSpPr>
          <a:xfrm>
            <a:off x="1028700" y="933450"/>
            <a:ext cx="1169496" cy="1154115"/>
            <a:chOff x="0" y="0"/>
            <a:chExt cx="308015" cy="303965"/>
          </a:xfrm>
        </p:grpSpPr>
        <p:sp>
          <p:nvSpPr>
            <p:cNvPr id="5" name="Freeform 5"/>
            <p:cNvSpPr/>
            <p:nvPr/>
          </p:nvSpPr>
          <p:spPr>
            <a:xfrm>
              <a:off x="0" y="0"/>
              <a:ext cx="308015" cy="303965"/>
            </a:xfrm>
            <a:custGeom>
              <a:avLst/>
              <a:gdLst/>
              <a:ahLst/>
              <a:cxnLst/>
              <a:rect l="l" t="t" r="r" b="b"/>
              <a:pathLst>
                <a:path w="308015" h="303965">
                  <a:moveTo>
                    <a:pt x="151982" y="0"/>
                  </a:moveTo>
                  <a:lnTo>
                    <a:pt x="156033" y="0"/>
                  </a:lnTo>
                  <a:cubicBezTo>
                    <a:pt x="239971" y="0"/>
                    <a:pt x="308015" y="68045"/>
                    <a:pt x="308015" y="151982"/>
                  </a:cubicBezTo>
                  <a:lnTo>
                    <a:pt x="308015" y="151982"/>
                  </a:lnTo>
                  <a:cubicBezTo>
                    <a:pt x="308015" y="235920"/>
                    <a:pt x="239971" y="303965"/>
                    <a:pt x="156033" y="303965"/>
                  </a:cubicBezTo>
                  <a:lnTo>
                    <a:pt x="151982" y="303965"/>
                  </a:lnTo>
                  <a:cubicBezTo>
                    <a:pt x="68045" y="303965"/>
                    <a:pt x="0" y="235920"/>
                    <a:pt x="0" y="151982"/>
                  </a:cubicBezTo>
                  <a:lnTo>
                    <a:pt x="0" y="151982"/>
                  </a:lnTo>
                  <a:cubicBezTo>
                    <a:pt x="0" y="68045"/>
                    <a:pt x="68045" y="0"/>
                    <a:pt x="151982" y="0"/>
                  </a:cubicBezTo>
                  <a:close/>
                </a:path>
              </a:pathLst>
            </a:custGeom>
            <a:solidFill>
              <a:srgbClr val="AFC8E1"/>
            </a:solidFill>
            <a:ln cap="rnd">
              <a:noFill/>
              <a:prstDash val="solid"/>
              <a:round/>
            </a:ln>
          </p:spPr>
        </p:sp>
        <p:sp>
          <p:nvSpPr>
            <p:cNvPr id="6" name="TextBox 6"/>
            <p:cNvSpPr txBox="1"/>
            <p:nvPr/>
          </p:nvSpPr>
          <p:spPr>
            <a:xfrm>
              <a:off x="0" y="0"/>
              <a:ext cx="308015" cy="303965"/>
            </a:xfrm>
            <a:prstGeom prst="rect">
              <a:avLst/>
            </a:prstGeom>
          </p:spPr>
          <p:txBody>
            <a:bodyPr lIns="50800" tIns="50800" rIns="50800" bIns="50800" rtlCol="0" anchor="ctr"/>
            <a:lstStyle/>
            <a:p>
              <a:pPr marL="0" lvl="0" indent="0" algn="ctr">
                <a:lnSpc>
                  <a:spcPts val="6719"/>
                </a:lnSpc>
                <a:spcBef>
                  <a:spcPct val="0"/>
                </a:spcBef>
              </a:pPr>
              <a:r>
                <a:rPr lang="en-US" sz="4799" b="1" dirty="0">
                  <a:solidFill>
                    <a:srgbClr val="000000"/>
                  </a:solidFill>
                  <a:latin typeface="Aileron Bold"/>
                  <a:ea typeface="Aileron Bold"/>
                  <a:cs typeface="Aileron Bold"/>
                  <a:sym typeface="Aileron Bold"/>
                </a:rPr>
                <a:t>04</a:t>
              </a:r>
            </a:p>
          </p:txBody>
        </p:sp>
      </p:grpSp>
      <p:sp>
        <p:nvSpPr>
          <p:cNvPr id="7" name="Freeform 7"/>
          <p:cNvSpPr/>
          <p:nvPr/>
        </p:nvSpPr>
        <p:spPr>
          <a:xfrm>
            <a:off x="1074019" y="5539418"/>
            <a:ext cx="5933531" cy="3869694"/>
          </a:xfrm>
          <a:custGeom>
            <a:avLst/>
            <a:gdLst/>
            <a:ahLst/>
            <a:cxnLst/>
            <a:rect l="l" t="t" r="r" b="b"/>
            <a:pathLst>
              <a:path w="5933531" h="3869694">
                <a:moveTo>
                  <a:pt x="0" y="0"/>
                </a:moveTo>
                <a:lnTo>
                  <a:pt x="5933531" y="0"/>
                </a:lnTo>
                <a:lnTo>
                  <a:pt x="5933531" y="3869694"/>
                </a:lnTo>
                <a:lnTo>
                  <a:pt x="0" y="3869694"/>
                </a:lnTo>
                <a:lnTo>
                  <a:pt x="0" y="0"/>
                </a:lnTo>
                <a:close/>
              </a:path>
            </a:pathLst>
          </a:custGeom>
          <a:blipFill>
            <a:blip r:embed="rId6"/>
            <a:stretch>
              <a:fillRect/>
            </a:stretch>
          </a:blipFill>
        </p:spPr>
      </p:sp>
      <p:sp>
        <p:nvSpPr>
          <p:cNvPr id="8" name="Freeform 8"/>
          <p:cNvSpPr/>
          <p:nvPr/>
        </p:nvSpPr>
        <p:spPr>
          <a:xfrm>
            <a:off x="8828008" y="5239605"/>
            <a:ext cx="6741563" cy="4643251"/>
          </a:xfrm>
          <a:custGeom>
            <a:avLst/>
            <a:gdLst/>
            <a:ahLst/>
            <a:cxnLst/>
            <a:rect l="l" t="t" r="r" b="b"/>
            <a:pathLst>
              <a:path w="6741563" h="4643251">
                <a:moveTo>
                  <a:pt x="0" y="0"/>
                </a:moveTo>
                <a:lnTo>
                  <a:pt x="6741563" y="0"/>
                </a:lnTo>
                <a:lnTo>
                  <a:pt x="6741563" y="4643251"/>
                </a:lnTo>
                <a:lnTo>
                  <a:pt x="0" y="4643251"/>
                </a:lnTo>
                <a:lnTo>
                  <a:pt x="0" y="0"/>
                </a:lnTo>
                <a:close/>
              </a:path>
            </a:pathLst>
          </a:custGeom>
          <a:blipFill>
            <a:blip r:embed="rId7"/>
            <a:stretch>
              <a:fillRect/>
            </a:stretch>
          </a:blipFill>
        </p:spPr>
      </p:sp>
      <p:sp>
        <p:nvSpPr>
          <p:cNvPr id="9" name="TextBox 9"/>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12</a:t>
            </a:r>
          </a:p>
        </p:txBody>
      </p:sp>
      <p:sp>
        <p:nvSpPr>
          <p:cNvPr id="10" name="TextBox 10"/>
          <p:cNvSpPr txBox="1"/>
          <p:nvPr/>
        </p:nvSpPr>
        <p:spPr>
          <a:xfrm>
            <a:off x="2426262" y="989807"/>
            <a:ext cx="10588861" cy="936625"/>
          </a:xfrm>
          <a:prstGeom prst="rect">
            <a:avLst/>
          </a:prstGeom>
        </p:spPr>
        <p:txBody>
          <a:bodyPr lIns="0" tIns="0" rIns="0" bIns="0" rtlCol="0" anchor="t">
            <a:spAutoFit/>
          </a:bodyPr>
          <a:lstStyle/>
          <a:p>
            <a:pPr algn="l">
              <a:lnSpc>
                <a:spcPts val="7699"/>
              </a:lnSpc>
            </a:pPr>
            <a:r>
              <a:rPr lang="en-US" sz="5499" b="1">
                <a:solidFill>
                  <a:srgbClr val="192F40"/>
                </a:solidFill>
                <a:latin typeface="Aileron Heavy"/>
                <a:ea typeface="Aileron Heavy"/>
                <a:cs typeface="Aileron Heavy"/>
                <a:sym typeface="Aileron Heavy"/>
              </a:rPr>
              <a:t>Software －WOKWI  </a:t>
            </a:r>
          </a:p>
        </p:txBody>
      </p:sp>
      <p:sp>
        <p:nvSpPr>
          <p:cNvPr id="11" name="TextBox 11"/>
          <p:cNvSpPr txBox="1"/>
          <p:nvPr/>
        </p:nvSpPr>
        <p:spPr>
          <a:xfrm>
            <a:off x="1074019" y="2580322"/>
            <a:ext cx="13909210" cy="2390140"/>
          </a:xfrm>
          <a:prstGeom prst="rect">
            <a:avLst/>
          </a:prstGeom>
        </p:spPr>
        <p:txBody>
          <a:bodyPr lIns="0" tIns="0" rIns="0" bIns="0" rtlCol="0" anchor="t">
            <a:spAutoFit/>
          </a:bodyPr>
          <a:lstStyle/>
          <a:p>
            <a:pPr marL="0" lvl="0" indent="0" algn="l">
              <a:lnSpc>
                <a:spcPts val="4759"/>
              </a:lnSpc>
              <a:spcBef>
                <a:spcPct val="0"/>
              </a:spcBef>
            </a:pPr>
            <a:r>
              <a:rPr lang="en-US" sz="3399" u="none" strike="noStrike" spc="67">
                <a:solidFill>
                  <a:srgbClr val="000000"/>
                </a:solidFill>
                <a:latin typeface="Aileron"/>
                <a:ea typeface="Aileron"/>
                <a:cs typeface="Aileron"/>
                <a:sym typeface="Aileron"/>
              </a:rPr>
              <a:t>Test the operation and program execution of ESP32 on the development board.  Verify the feasibility of the required hardware and software resources to ensure that their specifications and functions fully meet the design requirements.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sp>
        <p:nvSpPr>
          <p:cNvPr id="2" name="Freeform 2"/>
          <p:cNvSpPr/>
          <p:nvPr/>
        </p:nvSpPr>
        <p:spPr>
          <a:xfrm>
            <a:off x="14208464" y="463390"/>
            <a:ext cx="1130620" cy="1130620"/>
          </a:xfrm>
          <a:custGeom>
            <a:avLst/>
            <a:gdLst/>
            <a:ahLst/>
            <a:cxnLst/>
            <a:rect l="l" t="t" r="r" b="b"/>
            <a:pathLst>
              <a:path w="1130620" h="1130620">
                <a:moveTo>
                  <a:pt x="0" y="0"/>
                </a:moveTo>
                <a:lnTo>
                  <a:pt x="1130620" y="0"/>
                </a:lnTo>
                <a:lnTo>
                  <a:pt x="1130620" y="1130620"/>
                </a:lnTo>
                <a:lnTo>
                  <a:pt x="0" y="113062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4983228" y="1091234"/>
            <a:ext cx="2346567" cy="2376817"/>
          </a:xfrm>
          <a:custGeom>
            <a:avLst/>
            <a:gdLst/>
            <a:ahLst/>
            <a:cxnLst/>
            <a:rect l="l" t="t" r="r" b="b"/>
            <a:pathLst>
              <a:path w="2346567" h="2376817">
                <a:moveTo>
                  <a:pt x="0" y="0"/>
                </a:moveTo>
                <a:lnTo>
                  <a:pt x="2346567" y="0"/>
                </a:lnTo>
                <a:lnTo>
                  <a:pt x="2346567" y="2376817"/>
                </a:lnTo>
                <a:lnTo>
                  <a:pt x="0" y="2376817"/>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4" name="Group 4"/>
          <p:cNvGrpSpPr/>
          <p:nvPr/>
        </p:nvGrpSpPr>
        <p:grpSpPr>
          <a:xfrm>
            <a:off x="1028700" y="933450"/>
            <a:ext cx="1169496" cy="1154115"/>
            <a:chOff x="0" y="0"/>
            <a:chExt cx="308015" cy="303965"/>
          </a:xfrm>
        </p:grpSpPr>
        <p:sp>
          <p:nvSpPr>
            <p:cNvPr id="5" name="Freeform 5"/>
            <p:cNvSpPr/>
            <p:nvPr/>
          </p:nvSpPr>
          <p:spPr>
            <a:xfrm>
              <a:off x="0" y="0"/>
              <a:ext cx="308015" cy="303965"/>
            </a:xfrm>
            <a:custGeom>
              <a:avLst/>
              <a:gdLst/>
              <a:ahLst/>
              <a:cxnLst/>
              <a:rect l="l" t="t" r="r" b="b"/>
              <a:pathLst>
                <a:path w="308015" h="303965">
                  <a:moveTo>
                    <a:pt x="151982" y="0"/>
                  </a:moveTo>
                  <a:lnTo>
                    <a:pt x="156033" y="0"/>
                  </a:lnTo>
                  <a:cubicBezTo>
                    <a:pt x="239971" y="0"/>
                    <a:pt x="308015" y="68045"/>
                    <a:pt x="308015" y="151982"/>
                  </a:cubicBezTo>
                  <a:lnTo>
                    <a:pt x="308015" y="151982"/>
                  </a:lnTo>
                  <a:cubicBezTo>
                    <a:pt x="308015" y="235920"/>
                    <a:pt x="239971" y="303965"/>
                    <a:pt x="156033" y="303965"/>
                  </a:cubicBezTo>
                  <a:lnTo>
                    <a:pt x="151982" y="303965"/>
                  </a:lnTo>
                  <a:cubicBezTo>
                    <a:pt x="68045" y="303965"/>
                    <a:pt x="0" y="235920"/>
                    <a:pt x="0" y="151982"/>
                  </a:cubicBezTo>
                  <a:lnTo>
                    <a:pt x="0" y="151982"/>
                  </a:lnTo>
                  <a:cubicBezTo>
                    <a:pt x="0" y="68045"/>
                    <a:pt x="68045" y="0"/>
                    <a:pt x="151982" y="0"/>
                  </a:cubicBezTo>
                  <a:close/>
                </a:path>
              </a:pathLst>
            </a:custGeom>
            <a:solidFill>
              <a:srgbClr val="AFC8E1"/>
            </a:solidFill>
            <a:ln cap="rnd">
              <a:noFill/>
              <a:prstDash val="solid"/>
              <a:round/>
            </a:ln>
          </p:spPr>
        </p:sp>
        <p:sp>
          <p:nvSpPr>
            <p:cNvPr id="6" name="TextBox 6"/>
            <p:cNvSpPr txBox="1"/>
            <p:nvPr/>
          </p:nvSpPr>
          <p:spPr>
            <a:xfrm>
              <a:off x="0" y="0"/>
              <a:ext cx="308015" cy="303965"/>
            </a:xfrm>
            <a:prstGeom prst="rect">
              <a:avLst/>
            </a:prstGeom>
          </p:spPr>
          <p:txBody>
            <a:bodyPr lIns="50800" tIns="50800" rIns="50800" bIns="50800" rtlCol="0" anchor="ctr"/>
            <a:lstStyle/>
            <a:p>
              <a:pPr marL="0" lvl="0" indent="0" algn="ctr">
                <a:lnSpc>
                  <a:spcPts val="6719"/>
                </a:lnSpc>
                <a:spcBef>
                  <a:spcPct val="0"/>
                </a:spcBef>
              </a:pPr>
              <a:r>
                <a:rPr lang="en-US" sz="4799" b="1" dirty="0">
                  <a:solidFill>
                    <a:srgbClr val="000000"/>
                  </a:solidFill>
                  <a:latin typeface="Aileron Bold"/>
                  <a:ea typeface="Aileron Bold"/>
                  <a:cs typeface="Aileron Bold"/>
                  <a:sym typeface="Aileron Bold"/>
                </a:rPr>
                <a:t>04</a:t>
              </a:r>
            </a:p>
          </p:txBody>
        </p:sp>
      </p:grpSp>
      <p:sp>
        <p:nvSpPr>
          <p:cNvPr id="7" name="Freeform 7"/>
          <p:cNvSpPr/>
          <p:nvPr/>
        </p:nvSpPr>
        <p:spPr>
          <a:xfrm>
            <a:off x="10289993" y="7661728"/>
            <a:ext cx="3298160" cy="2180140"/>
          </a:xfrm>
          <a:custGeom>
            <a:avLst/>
            <a:gdLst/>
            <a:ahLst/>
            <a:cxnLst/>
            <a:rect l="l" t="t" r="r" b="b"/>
            <a:pathLst>
              <a:path w="3298160" h="2180140">
                <a:moveTo>
                  <a:pt x="0" y="0"/>
                </a:moveTo>
                <a:lnTo>
                  <a:pt x="3298160" y="0"/>
                </a:lnTo>
                <a:lnTo>
                  <a:pt x="3298160" y="2180140"/>
                </a:lnTo>
                <a:lnTo>
                  <a:pt x="0" y="2180140"/>
                </a:lnTo>
                <a:lnTo>
                  <a:pt x="0" y="0"/>
                </a:lnTo>
                <a:close/>
              </a:path>
            </a:pathLst>
          </a:custGeom>
          <a:blipFill>
            <a:blip r:embed="rId6"/>
            <a:stretch>
              <a:fillRect/>
            </a:stretch>
          </a:blipFill>
        </p:spPr>
      </p:sp>
      <p:sp>
        <p:nvSpPr>
          <p:cNvPr id="8" name="Freeform 8"/>
          <p:cNvSpPr/>
          <p:nvPr/>
        </p:nvSpPr>
        <p:spPr>
          <a:xfrm>
            <a:off x="9470857" y="4105786"/>
            <a:ext cx="4936432" cy="1790586"/>
          </a:xfrm>
          <a:custGeom>
            <a:avLst/>
            <a:gdLst/>
            <a:ahLst/>
            <a:cxnLst/>
            <a:rect l="l" t="t" r="r" b="b"/>
            <a:pathLst>
              <a:path w="4936432" h="1790586">
                <a:moveTo>
                  <a:pt x="0" y="0"/>
                </a:moveTo>
                <a:lnTo>
                  <a:pt x="4936432" y="0"/>
                </a:lnTo>
                <a:lnTo>
                  <a:pt x="4936432" y="1790586"/>
                </a:lnTo>
                <a:lnTo>
                  <a:pt x="0" y="1790586"/>
                </a:lnTo>
                <a:lnTo>
                  <a:pt x="0" y="0"/>
                </a:lnTo>
                <a:close/>
              </a:path>
            </a:pathLst>
          </a:custGeom>
          <a:blipFill>
            <a:blip r:embed="rId7"/>
            <a:stretch>
              <a:fillRect/>
            </a:stretch>
          </a:blipFill>
        </p:spPr>
      </p:sp>
      <p:sp>
        <p:nvSpPr>
          <p:cNvPr id="9" name="Freeform 9"/>
          <p:cNvSpPr/>
          <p:nvPr/>
        </p:nvSpPr>
        <p:spPr>
          <a:xfrm>
            <a:off x="2458048" y="6636690"/>
            <a:ext cx="4366952" cy="3205178"/>
          </a:xfrm>
          <a:custGeom>
            <a:avLst/>
            <a:gdLst/>
            <a:ahLst/>
            <a:cxnLst/>
            <a:rect l="l" t="t" r="r" b="b"/>
            <a:pathLst>
              <a:path w="4366952" h="3205178">
                <a:moveTo>
                  <a:pt x="0" y="0"/>
                </a:moveTo>
                <a:lnTo>
                  <a:pt x="4366951" y="0"/>
                </a:lnTo>
                <a:lnTo>
                  <a:pt x="4366951" y="3205178"/>
                </a:lnTo>
                <a:lnTo>
                  <a:pt x="0" y="3205178"/>
                </a:lnTo>
                <a:lnTo>
                  <a:pt x="0" y="0"/>
                </a:lnTo>
                <a:close/>
              </a:path>
            </a:pathLst>
          </a:custGeom>
          <a:blipFill>
            <a:blip r:embed="rId8"/>
            <a:stretch>
              <a:fillRect/>
            </a:stretch>
          </a:blipFill>
        </p:spPr>
      </p:sp>
      <p:sp>
        <p:nvSpPr>
          <p:cNvPr id="10" name="TextBox 10"/>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13</a:t>
            </a:r>
          </a:p>
        </p:txBody>
      </p:sp>
      <p:sp>
        <p:nvSpPr>
          <p:cNvPr id="11" name="TextBox 11"/>
          <p:cNvSpPr txBox="1"/>
          <p:nvPr/>
        </p:nvSpPr>
        <p:spPr>
          <a:xfrm>
            <a:off x="2426262" y="989807"/>
            <a:ext cx="10588861" cy="936625"/>
          </a:xfrm>
          <a:prstGeom prst="rect">
            <a:avLst/>
          </a:prstGeom>
        </p:spPr>
        <p:txBody>
          <a:bodyPr lIns="0" tIns="0" rIns="0" bIns="0" rtlCol="0" anchor="t">
            <a:spAutoFit/>
          </a:bodyPr>
          <a:lstStyle/>
          <a:p>
            <a:pPr algn="l">
              <a:lnSpc>
                <a:spcPts val="7699"/>
              </a:lnSpc>
            </a:pPr>
            <a:r>
              <a:rPr lang="en-US" sz="5499" b="1">
                <a:solidFill>
                  <a:srgbClr val="192F40"/>
                </a:solidFill>
                <a:latin typeface="Aileron Heavy"/>
                <a:ea typeface="Aileron Heavy"/>
                <a:cs typeface="Aileron Heavy"/>
                <a:sym typeface="Aileron Heavy"/>
              </a:rPr>
              <a:t>Software －Blynk IoT platform</a:t>
            </a:r>
          </a:p>
        </p:txBody>
      </p:sp>
      <p:sp>
        <p:nvSpPr>
          <p:cNvPr id="12" name="TextBox 12"/>
          <p:cNvSpPr txBox="1"/>
          <p:nvPr/>
        </p:nvSpPr>
        <p:spPr>
          <a:xfrm>
            <a:off x="1507907" y="2878136"/>
            <a:ext cx="11879003" cy="589915"/>
          </a:xfrm>
          <a:prstGeom prst="rect">
            <a:avLst/>
          </a:prstGeom>
        </p:spPr>
        <p:txBody>
          <a:bodyPr lIns="0" tIns="0" rIns="0" bIns="0" rtlCol="0" anchor="t">
            <a:spAutoFit/>
          </a:bodyPr>
          <a:lstStyle/>
          <a:p>
            <a:pPr marL="0" lvl="0" indent="0" algn="l">
              <a:lnSpc>
                <a:spcPts val="4759"/>
              </a:lnSpc>
              <a:spcBef>
                <a:spcPct val="0"/>
              </a:spcBef>
            </a:pPr>
            <a:r>
              <a:rPr lang="en-US" sz="3399" spc="67">
                <a:solidFill>
                  <a:srgbClr val="000000"/>
                </a:solidFill>
                <a:latin typeface="Aileron"/>
                <a:ea typeface="Aileron"/>
                <a:cs typeface="Aileron"/>
                <a:sym typeface="Aileron"/>
              </a:rPr>
              <a:t>Functions are shown on the User Interface Display</a:t>
            </a:r>
          </a:p>
        </p:txBody>
      </p:sp>
      <p:grpSp>
        <p:nvGrpSpPr>
          <p:cNvPr id="13" name="Group 13"/>
          <p:cNvGrpSpPr/>
          <p:nvPr/>
        </p:nvGrpSpPr>
        <p:grpSpPr>
          <a:xfrm>
            <a:off x="2357106" y="3957709"/>
            <a:ext cx="5090303" cy="1955081"/>
            <a:chOff x="0" y="0"/>
            <a:chExt cx="6787071" cy="2606774"/>
          </a:xfrm>
        </p:grpSpPr>
        <p:sp>
          <p:nvSpPr>
            <p:cNvPr id="14" name="Freeform 14"/>
            <p:cNvSpPr/>
            <p:nvPr/>
          </p:nvSpPr>
          <p:spPr>
            <a:xfrm>
              <a:off x="0" y="0"/>
              <a:ext cx="6439122" cy="2606774"/>
            </a:xfrm>
            <a:custGeom>
              <a:avLst/>
              <a:gdLst/>
              <a:ahLst/>
              <a:cxnLst/>
              <a:rect l="l" t="t" r="r" b="b"/>
              <a:pathLst>
                <a:path w="6439122" h="2606774">
                  <a:moveTo>
                    <a:pt x="0" y="0"/>
                  </a:moveTo>
                  <a:lnTo>
                    <a:pt x="6439122" y="0"/>
                  </a:lnTo>
                  <a:lnTo>
                    <a:pt x="6439122" y="2606774"/>
                  </a:lnTo>
                  <a:lnTo>
                    <a:pt x="0" y="2606774"/>
                  </a:lnTo>
                  <a:lnTo>
                    <a:pt x="0" y="0"/>
                  </a:lnTo>
                  <a:close/>
                </a:path>
              </a:pathLst>
            </a:custGeom>
            <a:blipFill>
              <a:blip r:embed="rId9"/>
              <a:stretch>
                <a:fillRect/>
              </a:stretch>
            </a:blipFill>
          </p:spPr>
        </p:sp>
        <p:sp>
          <p:nvSpPr>
            <p:cNvPr id="15" name="TextBox 15"/>
            <p:cNvSpPr txBox="1"/>
            <p:nvPr/>
          </p:nvSpPr>
          <p:spPr>
            <a:xfrm>
              <a:off x="2681967" y="1236712"/>
              <a:ext cx="4105103" cy="751628"/>
            </a:xfrm>
            <a:prstGeom prst="rect">
              <a:avLst/>
            </a:prstGeom>
          </p:spPr>
          <p:txBody>
            <a:bodyPr lIns="0" tIns="0" rIns="0" bIns="0" rtlCol="0" anchor="t">
              <a:spAutoFit/>
            </a:bodyPr>
            <a:lstStyle/>
            <a:p>
              <a:pPr marL="0" lvl="0" indent="0" algn="l">
                <a:lnSpc>
                  <a:spcPts val="4759"/>
                </a:lnSpc>
                <a:spcBef>
                  <a:spcPct val="0"/>
                </a:spcBef>
              </a:pPr>
              <a:r>
                <a:rPr lang="en-US" sz="3399">
                  <a:solidFill>
                    <a:srgbClr val="000000"/>
                  </a:solidFill>
                  <a:latin typeface="Noto Sans T Chinese"/>
                  <a:ea typeface="Noto Sans T Chinese"/>
                  <a:cs typeface="Noto Sans T Chinese"/>
                  <a:sym typeface="Noto Sans T Chinese"/>
                </a:rPr>
                <a:t>2025/10/30</a:t>
              </a:r>
            </a:p>
          </p:txBody>
        </p:sp>
      </p:grpSp>
      <p:sp>
        <p:nvSpPr>
          <p:cNvPr id="16" name="TextBox 16"/>
          <p:cNvSpPr txBox="1"/>
          <p:nvPr/>
        </p:nvSpPr>
        <p:spPr>
          <a:xfrm>
            <a:off x="9144000" y="6145955"/>
            <a:ext cx="6928360" cy="1189990"/>
          </a:xfrm>
          <a:prstGeom prst="rect">
            <a:avLst/>
          </a:prstGeom>
        </p:spPr>
        <p:txBody>
          <a:bodyPr lIns="0" tIns="0" rIns="0" bIns="0" rtlCol="0" anchor="t">
            <a:spAutoFit/>
          </a:bodyPr>
          <a:lstStyle/>
          <a:p>
            <a:pPr algn="l">
              <a:lnSpc>
                <a:spcPts val="4759"/>
              </a:lnSpc>
            </a:pPr>
            <a:r>
              <a:rPr lang="en-US" sz="3399" spc="67">
                <a:solidFill>
                  <a:srgbClr val="000000"/>
                </a:solidFill>
                <a:latin typeface="Aileron"/>
                <a:ea typeface="Aileron"/>
                <a:cs typeface="Aileron"/>
                <a:sym typeface="Aileron"/>
              </a:rPr>
              <a:t>water level is insufficient－</a:t>
            </a:r>
            <a:r>
              <a:rPr lang="en-US" sz="3399" spc="67">
                <a:solidFill>
                  <a:srgbClr val="FF3131"/>
                </a:solidFill>
                <a:latin typeface="Aileron"/>
                <a:ea typeface="Aileron"/>
                <a:cs typeface="Aileron"/>
                <a:sym typeface="Aileron"/>
              </a:rPr>
              <a:t>RED</a:t>
            </a:r>
          </a:p>
          <a:p>
            <a:pPr marL="0" lvl="0" indent="0" algn="l">
              <a:lnSpc>
                <a:spcPts val="4759"/>
              </a:lnSpc>
              <a:spcBef>
                <a:spcPct val="0"/>
              </a:spcBef>
            </a:pPr>
            <a:r>
              <a:rPr lang="en-US" sz="3399" spc="67">
                <a:solidFill>
                  <a:srgbClr val="000000"/>
                </a:solidFill>
                <a:latin typeface="Aileron"/>
                <a:ea typeface="Aileron"/>
                <a:cs typeface="Aileron"/>
                <a:sym typeface="Aileron"/>
              </a:rPr>
              <a:t>water level is sufficient－</a:t>
            </a:r>
            <a:r>
              <a:rPr lang="en-US" sz="3399" spc="67">
                <a:solidFill>
                  <a:srgbClr val="23BC1B"/>
                </a:solidFill>
                <a:latin typeface="Aileron"/>
                <a:ea typeface="Aileron"/>
                <a:cs typeface="Aileron"/>
                <a:sym typeface="Aileron"/>
              </a:rPr>
              <a:t>GREEN</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sp>
        <p:nvSpPr>
          <p:cNvPr id="2" name="Freeform 2"/>
          <p:cNvSpPr/>
          <p:nvPr/>
        </p:nvSpPr>
        <p:spPr>
          <a:xfrm>
            <a:off x="15271746" y="-36037"/>
            <a:ext cx="1130620" cy="1130620"/>
          </a:xfrm>
          <a:custGeom>
            <a:avLst/>
            <a:gdLst/>
            <a:ahLst/>
            <a:cxnLst/>
            <a:rect l="l" t="t" r="r" b="b"/>
            <a:pathLst>
              <a:path w="1130620" h="1130620">
                <a:moveTo>
                  <a:pt x="0" y="0"/>
                </a:moveTo>
                <a:lnTo>
                  <a:pt x="1130620" y="0"/>
                </a:lnTo>
                <a:lnTo>
                  <a:pt x="1130620" y="1130619"/>
                </a:lnTo>
                <a:lnTo>
                  <a:pt x="0" y="113061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6402366" y="1028700"/>
            <a:ext cx="1449884" cy="1468575"/>
          </a:xfrm>
          <a:custGeom>
            <a:avLst/>
            <a:gdLst/>
            <a:ahLst/>
            <a:cxnLst/>
            <a:rect l="l" t="t" r="r" b="b"/>
            <a:pathLst>
              <a:path w="1449884" h="1468575">
                <a:moveTo>
                  <a:pt x="0" y="0"/>
                </a:moveTo>
                <a:lnTo>
                  <a:pt x="1449884" y="0"/>
                </a:lnTo>
                <a:lnTo>
                  <a:pt x="1449884" y="1468575"/>
                </a:lnTo>
                <a:lnTo>
                  <a:pt x="0" y="1468575"/>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7" name="AutoShape 7"/>
          <p:cNvSpPr/>
          <p:nvPr/>
        </p:nvSpPr>
        <p:spPr>
          <a:xfrm flipH="1">
            <a:off x="4982969" y="2917933"/>
            <a:ext cx="0" cy="6544406"/>
          </a:xfrm>
          <a:prstGeom prst="line">
            <a:avLst/>
          </a:prstGeom>
          <a:ln w="38100" cap="flat">
            <a:solidFill>
              <a:srgbClr val="A1BBD4"/>
            </a:solidFill>
            <a:prstDash val="solid"/>
            <a:headEnd type="none" w="sm" len="sm"/>
            <a:tailEnd type="none" w="sm" len="sm"/>
          </a:ln>
        </p:spPr>
      </p:sp>
      <p:sp>
        <p:nvSpPr>
          <p:cNvPr id="8" name="AutoShape 8"/>
          <p:cNvSpPr/>
          <p:nvPr/>
        </p:nvSpPr>
        <p:spPr>
          <a:xfrm flipH="1">
            <a:off x="9227156" y="2864706"/>
            <a:ext cx="0" cy="6544406"/>
          </a:xfrm>
          <a:prstGeom prst="line">
            <a:avLst/>
          </a:prstGeom>
          <a:ln w="38100" cap="flat">
            <a:solidFill>
              <a:srgbClr val="A1BBD4"/>
            </a:solidFill>
            <a:prstDash val="solid"/>
            <a:headEnd type="none" w="sm" len="sm"/>
            <a:tailEnd type="none" w="sm" len="sm"/>
          </a:ln>
        </p:spPr>
      </p:sp>
      <p:sp>
        <p:nvSpPr>
          <p:cNvPr id="9" name="AutoShape 9"/>
          <p:cNvSpPr/>
          <p:nvPr/>
        </p:nvSpPr>
        <p:spPr>
          <a:xfrm flipH="1">
            <a:off x="13699448" y="2864706"/>
            <a:ext cx="0" cy="6544406"/>
          </a:xfrm>
          <a:prstGeom prst="line">
            <a:avLst/>
          </a:prstGeom>
          <a:ln w="38100" cap="flat">
            <a:solidFill>
              <a:srgbClr val="A1BBD4"/>
            </a:solidFill>
            <a:prstDash val="solid"/>
            <a:headEnd type="none" w="sm" len="sm"/>
            <a:tailEnd type="none" w="sm" len="sm"/>
          </a:ln>
        </p:spPr>
      </p:sp>
      <p:grpSp>
        <p:nvGrpSpPr>
          <p:cNvPr id="10" name="Group 10"/>
          <p:cNvGrpSpPr/>
          <p:nvPr/>
        </p:nvGrpSpPr>
        <p:grpSpPr>
          <a:xfrm>
            <a:off x="1263127" y="3000845"/>
            <a:ext cx="3086100" cy="944180"/>
            <a:chOff x="0" y="0"/>
            <a:chExt cx="812800" cy="248673"/>
          </a:xfrm>
        </p:grpSpPr>
        <p:sp>
          <p:nvSpPr>
            <p:cNvPr id="11" name="Freeform 11"/>
            <p:cNvSpPr/>
            <p:nvPr/>
          </p:nvSpPr>
          <p:spPr>
            <a:xfrm>
              <a:off x="0" y="0"/>
              <a:ext cx="812800" cy="248673"/>
            </a:xfrm>
            <a:custGeom>
              <a:avLst/>
              <a:gdLst/>
              <a:ahLst/>
              <a:cxnLst/>
              <a:rect l="l" t="t" r="r" b="b"/>
              <a:pathLst>
                <a:path w="812800" h="248673">
                  <a:moveTo>
                    <a:pt x="124337" y="0"/>
                  </a:moveTo>
                  <a:lnTo>
                    <a:pt x="688464" y="0"/>
                  </a:lnTo>
                  <a:cubicBezTo>
                    <a:pt x="757133" y="0"/>
                    <a:pt x="812800" y="55667"/>
                    <a:pt x="812800" y="124337"/>
                  </a:cubicBezTo>
                  <a:lnTo>
                    <a:pt x="812800" y="124337"/>
                  </a:lnTo>
                  <a:cubicBezTo>
                    <a:pt x="812800" y="193006"/>
                    <a:pt x="757133" y="248673"/>
                    <a:pt x="688464" y="248673"/>
                  </a:cubicBezTo>
                  <a:lnTo>
                    <a:pt x="124337" y="248673"/>
                  </a:lnTo>
                  <a:cubicBezTo>
                    <a:pt x="55667" y="248673"/>
                    <a:pt x="0" y="193006"/>
                    <a:pt x="0" y="124337"/>
                  </a:cubicBezTo>
                  <a:lnTo>
                    <a:pt x="0" y="124337"/>
                  </a:lnTo>
                  <a:cubicBezTo>
                    <a:pt x="0" y="55667"/>
                    <a:pt x="55667" y="0"/>
                    <a:pt x="124337" y="0"/>
                  </a:cubicBezTo>
                  <a:close/>
                </a:path>
              </a:pathLst>
            </a:custGeom>
            <a:solidFill>
              <a:srgbClr val="FAEAA9"/>
            </a:solidFill>
          </p:spPr>
        </p:sp>
        <p:sp>
          <p:nvSpPr>
            <p:cNvPr id="12" name="TextBox 12"/>
            <p:cNvSpPr txBox="1"/>
            <p:nvPr/>
          </p:nvSpPr>
          <p:spPr>
            <a:xfrm>
              <a:off x="0" y="-47625"/>
              <a:ext cx="812800" cy="296298"/>
            </a:xfrm>
            <a:prstGeom prst="rect">
              <a:avLst/>
            </a:prstGeom>
          </p:spPr>
          <p:txBody>
            <a:bodyPr lIns="50800" tIns="50800" rIns="50800" bIns="50800" rtlCol="0" anchor="ctr"/>
            <a:lstStyle/>
            <a:p>
              <a:pPr algn="ctr">
                <a:lnSpc>
                  <a:spcPts val="3359"/>
                </a:lnSpc>
              </a:pPr>
              <a:endParaRPr/>
            </a:p>
          </p:txBody>
        </p:sp>
      </p:grpSp>
      <p:sp>
        <p:nvSpPr>
          <p:cNvPr id="13" name="TextBox 13"/>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14</a:t>
            </a:r>
          </a:p>
        </p:txBody>
      </p:sp>
      <p:sp>
        <p:nvSpPr>
          <p:cNvPr id="14" name="TextBox 14"/>
          <p:cNvSpPr txBox="1"/>
          <p:nvPr/>
        </p:nvSpPr>
        <p:spPr>
          <a:xfrm>
            <a:off x="2426262" y="1025525"/>
            <a:ext cx="10588861" cy="936625"/>
          </a:xfrm>
          <a:prstGeom prst="rect">
            <a:avLst/>
          </a:prstGeom>
        </p:spPr>
        <p:txBody>
          <a:bodyPr lIns="0" tIns="0" rIns="0" bIns="0" rtlCol="0" anchor="t">
            <a:spAutoFit/>
          </a:bodyPr>
          <a:lstStyle/>
          <a:p>
            <a:pPr algn="l">
              <a:lnSpc>
                <a:spcPts val="7699"/>
              </a:lnSpc>
            </a:pPr>
            <a:r>
              <a:rPr lang="en-US" sz="5499" b="1" dirty="0">
                <a:solidFill>
                  <a:srgbClr val="192F40"/>
                </a:solidFill>
                <a:latin typeface="Aileron Heavy"/>
                <a:ea typeface="Aileron Heavy"/>
                <a:cs typeface="Aileron Heavy"/>
                <a:sym typeface="Aileron Heavy"/>
              </a:rPr>
              <a:t>Software －Arduino  IDE</a:t>
            </a:r>
          </a:p>
        </p:txBody>
      </p:sp>
      <p:sp>
        <p:nvSpPr>
          <p:cNvPr id="15" name="TextBox 15"/>
          <p:cNvSpPr txBox="1"/>
          <p:nvPr/>
        </p:nvSpPr>
        <p:spPr>
          <a:xfrm>
            <a:off x="1634528" y="3126349"/>
            <a:ext cx="2343299" cy="589915"/>
          </a:xfrm>
          <a:prstGeom prst="rect">
            <a:avLst/>
          </a:prstGeom>
        </p:spPr>
        <p:txBody>
          <a:bodyPr lIns="0" tIns="0" rIns="0" bIns="0" rtlCol="0" anchor="t">
            <a:spAutoFit/>
          </a:bodyPr>
          <a:lstStyle/>
          <a:p>
            <a:pPr algn="ctr">
              <a:lnSpc>
                <a:spcPts val="4759"/>
              </a:lnSpc>
            </a:pPr>
            <a:r>
              <a:rPr lang="en-US" sz="3399">
                <a:solidFill>
                  <a:srgbClr val="000000"/>
                </a:solidFill>
                <a:latin typeface="Aileron"/>
                <a:ea typeface="Aileron"/>
                <a:cs typeface="Aileron"/>
                <a:sym typeface="Aileron"/>
              </a:rPr>
              <a:t>Record date</a:t>
            </a:r>
          </a:p>
        </p:txBody>
      </p:sp>
      <p:grpSp>
        <p:nvGrpSpPr>
          <p:cNvPr id="16" name="Group 16"/>
          <p:cNvGrpSpPr/>
          <p:nvPr/>
        </p:nvGrpSpPr>
        <p:grpSpPr>
          <a:xfrm>
            <a:off x="5487121" y="2864706"/>
            <a:ext cx="3086100" cy="1228294"/>
            <a:chOff x="0" y="0"/>
            <a:chExt cx="812800" cy="323501"/>
          </a:xfrm>
        </p:grpSpPr>
        <p:sp>
          <p:nvSpPr>
            <p:cNvPr id="17" name="Freeform 17"/>
            <p:cNvSpPr/>
            <p:nvPr/>
          </p:nvSpPr>
          <p:spPr>
            <a:xfrm>
              <a:off x="0" y="0"/>
              <a:ext cx="812800" cy="323501"/>
            </a:xfrm>
            <a:custGeom>
              <a:avLst/>
              <a:gdLst/>
              <a:ahLst/>
              <a:cxnLst/>
              <a:rect l="l" t="t" r="r" b="b"/>
              <a:pathLst>
                <a:path w="812800" h="323501">
                  <a:moveTo>
                    <a:pt x="127941" y="0"/>
                  </a:moveTo>
                  <a:lnTo>
                    <a:pt x="684859" y="0"/>
                  </a:lnTo>
                  <a:cubicBezTo>
                    <a:pt x="718791" y="0"/>
                    <a:pt x="751333" y="13479"/>
                    <a:pt x="775327" y="37473"/>
                  </a:cubicBezTo>
                  <a:cubicBezTo>
                    <a:pt x="799321" y="61467"/>
                    <a:pt x="812800" y="94009"/>
                    <a:pt x="812800" y="127941"/>
                  </a:cubicBezTo>
                  <a:lnTo>
                    <a:pt x="812800" y="195561"/>
                  </a:lnTo>
                  <a:cubicBezTo>
                    <a:pt x="812800" y="229493"/>
                    <a:pt x="799321" y="262035"/>
                    <a:pt x="775327" y="286028"/>
                  </a:cubicBezTo>
                  <a:cubicBezTo>
                    <a:pt x="751333" y="310022"/>
                    <a:pt x="718791" y="323501"/>
                    <a:pt x="684859" y="323501"/>
                  </a:cubicBezTo>
                  <a:lnTo>
                    <a:pt x="127941" y="323501"/>
                  </a:lnTo>
                  <a:cubicBezTo>
                    <a:pt x="94009" y="323501"/>
                    <a:pt x="61467" y="310022"/>
                    <a:pt x="37473" y="286028"/>
                  </a:cubicBezTo>
                  <a:cubicBezTo>
                    <a:pt x="13479" y="262035"/>
                    <a:pt x="0" y="229493"/>
                    <a:pt x="0" y="195561"/>
                  </a:cubicBezTo>
                  <a:lnTo>
                    <a:pt x="0" y="127941"/>
                  </a:lnTo>
                  <a:cubicBezTo>
                    <a:pt x="0" y="94009"/>
                    <a:pt x="13479" y="61467"/>
                    <a:pt x="37473" y="37473"/>
                  </a:cubicBezTo>
                  <a:cubicBezTo>
                    <a:pt x="61467" y="13479"/>
                    <a:pt x="94009" y="0"/>
                    <a:pt x="127941" y="0"/>
                  </a:cubicBezTo>
                  <a:close/>
                </a:path>
              </a:pathLst>
            </a:custGeom>
            <a:solidFill>
              <a:srgbClr val="CEE6F1"/>
            </a:solidFill>
          </p:spPr>
        </p:sp>
        <p:sp>
          <p:nvSpPr>
            <p:cNvPr id="18" name="TextBox 18"/>
            <p:cNvSpPr txBox="1"/>
            <p:nvPr/>
          </p:nvSpPr>
          <p:spPr>
            <a:xfrm>
              <a:off x="0" y="-47625"/>
              <a:ext cx="812800" cy="371126"/>
            </a:xfrm>
            <a:prstGeom prst="rect">
              <a:avLst/>
            </a:prstGeom>
          </p:spPr>
          <p:txBody>
            <a:bodyPr lIns="50800" tIns="50800" rIns="50800" bIns="50800" rtlCol="0" anchor="ctr"/>
            <a:lstStyle/>
            <a:p>
              <a:pPr algn="ctr">
                <a:lnSpc>
                  <a:spcPts val="3359"/>
                </a:lnSpc>
              </a:pPr>
              <a:endParaRPr/>
            </a:p>
          </p:txBody>
        </p:sp>
      </p:grpSp>
      <p:sp>
        <p:nvSpPr>
          <p:cNvPr id="19" name="TextBox 19"/>
          <p:cNvSpPr txBox="1"/>
          <p:nvPr/>
        </p:nvSpPr>
        <p:spPr>
          <a:xfrm>
            <a:off x="5685360" y="2888389"/>
            <a:ext cx="2689622" cy="1189990"/>
          </a:xfrm>
          <a:prstGeom prst="rect">
            <a:avLst/>
          </a:prstGeom>
        </p:spPr>
        <p:txBody>
          <a:bodyPr lIns="0" tIns="0" rIns="0" bIns="0" rtlCol="0" anchor="t">
            <a:spAutoFit/>
          </a:bodyPr>
          <a:lstStyle/>
          <a:p>
            <a:pPr algn="ctr">
              <a:lnSpc>
                <a:spcPts val="4759"/>
              </a:lnSpc>
            </a:pPr>
            <a:r>
              <a:rPr lang="en-US" sz="3399" dirty="0">
                <a:solidFill>
                  <a:srgbClr val="000000"/>
                </a:solidFill>
                <a:latin typeface="Aileron"/>
                <a:ea typeface="Aileron"/>
                <a:cs typeface="Aileron"/>
                <a:sym typeface="Aileron"/>
              </a:rPr>
              <a:t>Current bottle</a:t>
            </a:r>
          </a:p>
          <a:p>
            <a:pPr algn="ctr">
              <a:lnSpc>
                <a:spcPts val="4759"/>
              </a:lnSpc>
            </a:pPr>
            <a:r>
              <a:rPr lang="en-US" sz="3399" dirty="0">
                <a:solidFill>
                  <a:srgbClr val="000000"/>
                </a:solidFill>
                <a:latin typeface="Aileron"/>
                <a:ea typeface="Aileron"/>
                <a:cs typeface="Aileron"/>
                <a:sym typeface="Aileron"/>
              </a:rPr>
              <a:t> weight</a:t>
            </a:r>
          </a:p>
        </p:txBody>
      </p:sp>
      <p:grpSp>
        <p:nvGrpSpPr>
          <p:cNvPr id="20" name="Group 20"/>
          <p:cNvGrpSpPr/>
          <p:nvPr/>
        </p:nvGrpSpPr>
        <p:grpSpPr>
          <a:xfrm>
            <a:off x="9820346" y="2790719"/>
            <a:ext cx="3086100" cy="1302282"/>
            <a:chOff x="0" y="0"/>
            <a:chExt cx="812800" cy="342988"/>
          </a:xfrm>
        </p:grpSpPr>
        <p:sp>
          <p:nvSpPr>
            <p:cNvPr id="21" name="Freeform 21"/>
            <p:cNvSpPr/>
            <p:nvPr/>
          </p:nvSpPr>
          <p:spPr>
            <a:xfrm>
              <a:off x="0" y="0"/>
              <a:ext cx="812800" cy="342988"/>
            </a:xfrm>
            <a:custGeom>
              <a:avLst/>
              <a:gdLst/>
              <a:ahLst/>
              <a:cxnLst/>
              <a:rect l="l" t="t" r="r" b="b"/>
              <a:pathLst>
                <a:path w="812800" h="342988">
                  <a:moveTo>
                    <a:pt x="127941" y="0"/>
                  </a:moveTo>
                  <a:lnTo>
                    <a:pt x="684859" y="0"/>
                  </a:lnTo>
                  <a:cubicBezTo>
                    <a:pt x="718791" y="0"/>
                    <a:pt x="751333" y="13479"/>
                    <a:pt x="775327" y="37473"/>
                  </a:cubicBezTo>
                  <a:cubicBezTo>
                    <a:pt x="799321" y="61467"/>
                    <a:pt x="812800" y="94009"/>
                    <a:pt x="812800" y="127941"/>
                  </a:cubicBezTo>
                  <a:lnTo>
                    <a:pt x="812800" y="215047"/>
                  </a:lnTo>
                  <a:cubicBezTo>
                    <a:pt x="812800" y="285707"/>
                    <a:pt x="755519" y="342988"/>
                    <a:pt x="684859" y="342988"/>
                  </a:cubicBezTo>
                  <a:lnTo>
                    <a:pt x="127941" y="342988"/>
                  </a:lnTo>
                  <a:cubicBezTo>
                    <a:pt x="94009" y="342988"/>
                    <a:pt x="61467" y="329508"/>
                    <a:pt x="37473" y="305515"/>
                  </a:cubicBezTo>
                  <a:cubicBezTo>
                    <a:pt x="13479" y="281521"/>
                    <a:pt x="0" y="248979"/>
                    <a:pt x="0" y="215047"/>
                  </a:cubicBezTo>
                  <a:lnTo>
                    <a:pt x="0" y="127941"/>
                  </a:lnTo>
                  <a:cubicBezTo>
                    <a:pt x="0" y="94009"/>
                    <a:pt x="13479" y="61467"/>
                    <a:pt x="37473" y="37473"/>
                  </a:cubicBezTo>
                  <a:cubicBezTo>
                    <a:pt x="61467" y="13479"/>
                    <a:pt x="94009" y="0"/>
                    <a:pt x="127941" y="0"/>
                  </a:cubicBezTo>
                  <a:close/>
                </a:path>
              </a:pathLst>
            </a:custGeom>
            <a:solidFill>
              <a:srgbClr val="DEF1CE"/>
            </a:solidFill>
          </p:spPr>
        </p:sp>
        <p:sp>
          <p:nvSpPr>
            <p:cNvPr id="22" name="TextBox 22"/>
            <p:cNvSpPr txBox="1"/>
            <p:nvPr/>
          </p:nvSpPr>
          <p:spPr>
            <a:xfrm>
              <a:off x="0" y="-47625"/>
              <a:ext cx="812800" cy="390613"/>
            </a:xfrm>
            <a:prstGeom prst="rect">
              <a:avLst/>
            </a:prstGeom>
          </p:spPr>
          <p:txBody>
            <a:bodyPr lIns="50800" tIns="50800" rIns="50800" bIns="50800" rtlCol="0" anchor="ctr"/>
            <a:lstStyle/>
            <a:p>
              <a:pPr algn="ctr">
                <a:lnSpc>
                  <a:spcPts val="3359"/>
                </a:lnSpc>
              </a:pPr>
              <a:endParaRPr/>
            </a:p>
          </p:txBody>
        </p:sp>
      </p:grpSp>
      <p:sp>
        <p:nvSpPr>
          <p:cNvPr id="23" name="TextBox 23"/>
          <p:cNvSpPr txBox="1"/>
          <p:nvPr/>
        </p:nvSpPr>
        <p:spPr>
          <a:xfrm>
            <a:off x="10050639" y="2877940"/>
            <a:ext cx="2651522" cy="1189990"/>
          </a:xfrm>
          <a:prstGeom prst="rect">
            <a:avLst/>
          </a:prstGeom>
        </p:spPr>
        <p:txBody>
          <a:bodyPr lIns="0" tIns="0" rIns="0" bIns="0" rtlCol="0" anchor="t">
            <a:spAutoFit/>
          </a:bodyPr>
          <a:lstStyle/>
          <a:p>
            <a:pPr algn="ctr">
              <a:lnSpc>
                <a:spcPts val="4759"/>
              </a:lnSpc>
            </a:pPr>
            <a:r>
              <a:rPr lang="en-US" sz="3399" dirty="0">
                <a:solidFill>
                  <a:srgbClr val="000000"/>
                </a:solidFill>
                <a:latin typeface="Aileron"/>
                <a:ea typeface="Aileron"/>
                <a:cs typeface="Aileron"/>
                <a:sym typeface="Aileron"/>
              </a:rPr>
              <a:t>Today's water</a:t>
            </a:r>
          </a:p>
          <a:p>
            <a:pPr algn="ctr">
              <a:lnSpc>
                <a:spcPts val="4759"/>
              </a:lnSpc>
            </a:pPr>
            <a:r>
              <a:rPr lang="en-US" sz="3399" dirty="0">
                <a:solidFill>
                  <a:srgbClr val="000000"/>
                </a:solidFill>
                <a:latin typeface="Aileron"/>
                <a:ea typeface="Aileron"/>
                <a:cs typeface="Aileron"/>
                <a:sym typeface="Aileron"/>
              </a:rPr>
              <a:t> intake</a:t>
            </a:r>
          </a:p>
        </p:txBody>
      </p:sp>
      <p:grpSp>
        <p:nvGrpSpPr>
          <p:cNvPr id="24" name="Group 24"/>
          <p:cNvGrpSpPr/>
          <p:nvPr/>
        </p:nvGrpSpPr>
        <p:grpSpPr>
          <a:xfrm>
            <a:off x="14173200" y="2790719"/>
            <a:ext cx="3086100" cy="1212694"/>
            <a:chOff x="0" y="0"/>
            <a:chExt cx="812800" cy="319393"/>
          </a:xfrm>
        </p:grpSpPr>
        <p:sp>
          <p:nvSpPr>
            <p:cNvPr id="25" name="Freeform 25"/>
            <p:cNvSpPr/>
            <p:nvPr/>
          </p:nvSpPr>
          <p:spPr>
            <a:xfrm>
              <a:off x="0" y="0"/>
              <a:ext cx="812800" cy="319393"/>
            </a:xfrm>
            <a:custGeom>
              <a:avLst/>
              <a:gdLst/>
              <a:ahLst/>
              <a:cxnLst/>
              <a:rect l="l" t="t" r="r" b="b"/>
              <a:pathLst>
                <a:path w="812800" h="319393">
                  <a:moveTo>
                    <a:pt x="127941" y="0"/>
                  </a:moveTo>
                  <a:lnTo>
                    <a:pt x="684859" y="0"/>
                  </a:lnTo>
                  <a:cubicBezTo>
                    <a:pt x="718791" y="0"/>
                    <a:pt x="751333" y="13479"/>
                    <a:pt x="775327" y="37473"/>
                  </a:cubicBezTo>
                  <a:cubicBezTo>
                    <a:pt x="799321" y="61467"/>
                    <a:pt x="812800" y="94009"/>
                    <a:pt x="812800" y="127941"/>
                  </a:cubicBezTo>
                  <a:lnTo>
                    <a:pt x="812800" y="191452"/>
                  </a:lnTo>
                  <a:cubicBezTo>
                    <a:pt x="812800" y="225384"/>
                    <a:pt x="799321" y="257926"/>
                    <a:pt x="775327" y="281920"/>
                  </a:cubicBezTo>
                  <a:cubicBezTo>
                    <a:pt x="751333" y="305913"/>
                    <a:pt x="718791" y="319393"/>
                    <a:pt x="684859" y="319393"/>
                  </a:cubicBezTo>
                  <a:lnTo>
                    <a:pt x="127941" y="319393"/>
                  </a:lnTo>
                  <a:cubicBezTo>
                    <a:pt x="94009" y="319393"/>
                    <a:pt x="61467" y="305913"/>
                    <a:pt x="37473" y="281920"/>
                  </a:cubicBezTo>
                  <a:cubicBezTo>
                    <a:pt x="13479" y="257926"/>
                    <a:pt x="0" y="225384"/>
                    <a:pt x="0" y="191452"/>
                  </a:cubicBezTo>
                  <a:lnTo>
                    <a:pt x="0" y="127941"/>
                  </a:lnTo>
                  <a:cubicBezTo>
                    <a:pt x="0" y="94009"/>
                    <a:pt x="13479" y="61467"/>
                    <a:pt x="37473" y="37473"/>
                  </a:cubicBezTo>
                  <a:cubicBezTo>
                    <a:pt x="61467" y="13479"/>
                    <a:pt x="94009" y="0"/>
                    <a:pt x="127941" y="0"/>
                  </a:cubicBezTo>
                  <a:close/>
                </a:path>
              </a:pathLst>
            </a:custGeom>
            <a:solidFill>
              <a:srgbClr val="CED2F1"/>
            </a:solidFill>
          </p:spPr>
        </p:sp>
        <p:sp>
          <p:nvSpPr>
            <p:cNvPr id="26" name="TextBox 26"/>
            <p:cNvSpPr txBox="1"/>
            <p:nvPr/>
          </p:nvSpPr>
          <p:spPr>
            <a:xfrm>
              <a:off x="0" y="-47625"/>
              <a:ext cx="812800" cy="367018"/>
            </a:xfrm>
            <a:prstGeom prst="rect">
              <a:avLst/>
            </a:prstGeom>
          </p:spPr>
          <p:txBody>
            <a:bodyPr lIns="50800" tIns="50800" rIns="50800" bIns="50800" rtlCol="0" anchor="ctr"/>
            <a:lstStyle/>
            <a:p>
              <a:pPr algn="ctr">
                <a:lnSpc>
                  <a:spcPts val="3359"/>
                </a:lnSpc>
              </a:pPr>
              <a:endParaRPr/>
            </a:p>
          </p:txBody>
        </p:sp>
      </p:grpSp>
      <p:sp>
        <p:nvSpPr>
          <p:cNvPr id="27" name="TextBox 27"/>
          <p:cNvSpPr txBox="1"/>
          <p:nvPr/>
        </p:nvSpPr>
        <p:spPr>
          <a:xfrm>
            <a:off x="14490023" y="2788506"/>
            <a:ext cx="2446586" cy="1189990"/>
          </a:xfrm>
          <a:prstGeom prst="rect">
            <a:avLst/>
          </a:prstGeom>
        </p:spPr>
        <p:txBody>
          <a:bodyPr lIns="0" tIns="0" rIns="0" bIns="0" rtlCol="0" anchor="t">
            <a:spAutoFit/>
          </a:bodyPr>
          <a:lstStyle/>
          <a:p>
            <a:pPr algn="ctr">
              <a:lnSpc>
                <a:spcPts val="4759"/>
              </a:lnSpc>
            </a:pPr>
            <a:r>
              <a:rPr lang="en-US" sz="3399" dirty="0">
                <a:solidFill>
                  <a:srgbClr val="000000"/>
                </a:solidFill>
                <a:latin typeface="Aileron"/>
                <a:ea typeface="Aileron"/>
                <a:cs typeface="Aileron"/>
                <a:sym typeface="Aileron"/>
              </a:rPr>
              <a:t>Reminder to </a:t>
            </a:r>
          </a:p>
          <a:p>
            <a:pPr algn="ctr">
              <a:lnSpc>
                <a:spcPts val="4759"/>
              </a:lnSpc>
            </a:pPr>
            <a:r>
              <a:rPr lang="en-US" sz="3399" dirty="0">
                <a:solidFill>
                  <a:srgbClr val="000000"/>
                </a:solidFill>
                <a:latin typeface="Aileron"/>
                <a:ea typeface="Aileron"/>
                <a:cs typeface="Aileron"/>
                <a:sym typeface="Aileron"/>
              </a:rPr>
              <a:t>fill water</a:t>
            </a:r>
          </a:p>
        </p:txBody>
      </p:sp>
      <p:sp>
        <p:nvSpPr>
          <p:cNvPr id="28" name="TextBox 28"/>
          <p:cNvSpPr txBox="1"/>
          <p:nvPr/>
        </p:nvSpPr>
        <p:spPr>
          <a:xfrm>
            <a:off x="942006" y="4544223"/>
            <a:ext cx="3664942" cy="424180"/>
          </a:xfrm>
          <a:prstGeom prst="rect">
            <a:avLst/>
          </a:prstGeom>
        </p:spPr>
        <p:txBody>
          <a:bodyPr lIns="0" tIns="0" rIns="0" bIns="0" rtlCol="0" anchor="t">
            <a:spAutoFit/>
          </a:bodyPr>
          <a:lstStyle/>
          <a:p>
            <a:pPr algn="ctr">
              <a:lnSpc>
                <a:spcPts val="3379"/>
              </a:lnSpc>
            </a:pPr>
            <a:r>
              <a:rPr lang="en-US" sz="2599" spc="51">
                <a:solidFill>
                  <a:srgbClr val="000000"/>
                </a:solidFill>
                <a:latin typeface="Aileron"/>
                <a:ea typeface="Aileron"/>
                <a:cs typeface="Aileron"/>
                <a:sym typeface="Aileron"/>
              </a:rPr>
              <a:t>ESP32  connect to Wi-Fi</a:t>
            </a:r>
          </a:p>
        </p:txBody>
      </p:sp>
      <p:sp>
        <p:nvSpPr>
          <p:cNvPr id="29" name="TextBox 29"/>
          <p:cNvSpPr txBox="1"/>
          <p:nvPr/>
        </p:nvSpPr>
        <p:spPr>
          <a:xfrm>
            <a:off x="1028700" y="5945530"/>
            <a:ext cx="3362530" cy="852805"/>
          </a:xfrm>
          <a:prstGeom prst="rect">
            <a:avLst/>
          </a:prstGeom>
        </p:spPr>
        <p:txBody>
          <a:bodyPr lIns="0" tIns="0" rIns="0" bIns="0" rtlCol="0" anchor="t">
            <a:spAutoFit/>
          </a:bodyPr>
          <a:lstStyle/>
          <a:p>
            <a:pPr algn="ctr">
              <a:lnSpc>
                <a:spcPts val="3379"/>
              </a:lnSpc>
            </a:pPr>
            <a:r>
              <a:rPr lang="en-US" sz="2599" spc="51">
                <a:solidFill>
                  <a:srgbClr val="000000"/>
                </a:solidFill>
                <a:latin typeface="Aileron"/>
                <a:ea typeface="Aileron"/>
                <a:cs typeface="Aileron"/>
                <a:sym typeface="Aileron"/>
              </a:rPr>
              <a:t>Use a library function to get today's date</a:t>
            </a:r>
          </a:p>
        </p:txBody>
      </p:sp>
      <p:sp>
        <p:nvSpPr>
          <p:cNvPr id="30" name="TextBox 30"/>
          <p:cNvSpPr txBox="1"/>
          <p:nvPr/>
        </p:nvSpPr>
        <p:spPr>
          <a:xfrm>
            <a:off x="5610983" y="4431551"/>
            <a:ext cx="2838376" cy="852805"/>
          </a:xfrm>
          <a:prstGeom prst="rect">
            <a:avLst/>
          </a:prstGeom>
        </p:spPr>
        <p:txBody>
          <a:bodyPr lIns="0" tIns="0" rIns="0" bIns="0" rtlCol="0" anchor="t">
            <a:spAutoFit/>
          </a:bodyPr>
          <a:lstStyle/>
          <a:p>
            <a:pPr algn="ctr">
              <a:lnSpc>
                <a:spcPts val="3379"/>
              </a:lnSpc>
            </a:pPr>
            <a:r>
              <a:rPr lang="en-US" sz="2599" spc="51">
                <a:solidFill>
                  <a:srgbClr val="000000"/>
                </a:solidFill>
                <a:latin typeface="Aileron"/>
                <a:ea typeface="Aileron"/>
                <a:cs typeface="Aileron"/>
                <a:sym typeface="Aileron"/>
              </a:rPr>
              <a:t>Reset the bottle's weight to zero</a:t>
            </a:r>
          </a:p>
        </p:txBody>
      </p:sp>
      <p:sp>
        <p:nvSpPr>
          <p:cNvPr id="31" name="TextBox 31"/>
          <p:cNvSpPr txBox="1"/>
          <p:nvPr/>
        </p:nvSpPr>
        <p:spPr>
          <a:xfrm>
            <a:off x="5779045" y="5945530"/>
            <a:ext cx="2502252" cy="852805"/>
          </a:xfrm>
          <a:prstGeom prst="rect">
            <a:avLst/>
          </a:prstGeom>
        </p:spPr>
        <p:txBody>
          <a:bodyPr lIns="0" tIns="0" rIns="0" bIns="0" rtlCol="0" anchor="t">
            <a:spAutoFit/>
          </a:bodyPr>
          <a:lstStyle/>
          <a:p>
            <a:pPr algn="ctr">
              <a:lnSpc>
                <a:spcPts val="3379"/>
              </a:lnSpc>
            </a:pPr>
            <a:r>
              <a:rPr lang="en-US" sz="2599" spc="51">
                <a:solidFill>
                  <a:srgbClr val="000000"/>
                </a:solidFill>
                <a:latin typeface="Aileron"/>
                <a:ea typeface="Aileron"/>
                <a:cs typeface="Aileron"/>
                <a:sym typeface="Aileron"/>
              </a:rPr>
              <a:t>Measure the bottle's  weight</a:t>
            </a:r>
          </a:p>
        </p:txBody>
      </p:sp>
      <p:sp>
        <p:nvSpPr>
          <p:cNvPr id="32" name="TextBox 32"/>
          <p:cNvSpPr txBox="1"/>
          <p:nvPr/>
        </p:nvSpPr>
        <p:spPr>
          <a:xfrm>
            <a:off x="9638428" y="4431551"/>
            <a:ext cx="3553070" cy="852805"/>
          </a:xfrm>
          <a:prstGeom prst="rect">
            <a:avLst/>
          </a:prstGeom>
        </p:spPr>
        <p:txBody>
          <a:bodyPr lIns="0" tIns="0" rIns="0" bIns="0" rtlCol="0" anchor="t">
            <a:spAutoFit/>
          </a:bodyPr>
          <a:lstStyle/>
          <a:p>
            <a:pPr algn="ctr">
              <a:lnSpc>
                <a:spcPts val="3379"/>
              </a:lnSpc>
            </a:pPr>
            <a:r>
              <a:rPr lang="en-US" sz="2599" spc="51">
                <a:solidFill>
                  <a:srgbClr val="000000"/>
                </a:solidFill>
                <a:latin typeface="Aileron"/>
                <a:ea typeface="Aileron"/>
                <a:cs typeface="Aileron"/>
                <a:sym typeface="Aileron"/>
              </a:rPr>
              <a:t>Detect when a drinking event occurs</a:t>
            </a:r>
          </a:p>
        </p:txBody>
      </p:sp>
      <p:sp>
        <p:nvSpPr>
          <p:cNvPr id="33" name="TextBox 33"/>
          <p:cNvSpPr txBox="1"/>
          <p:nvPr/>
        </p:nvSpPr>
        <p:spPr>
          <a:xfrm>
            <a:off x="9638428" y="5945530"/>
            <a:ext cx="3809819" cy="1281430"/>
          </a:xfrm>
          <a:prstGeom prst="rect">
            <a:avLst/>
          </a:prstGeom>
        </p:spPr>
        <p:txBody>
          <a:bodyPr lIns="0" tIns="0" rIns="0" bIns="0" rtlCol="0" anchor="t">
            <a:spAutoFit/>
          </a:bodyPr>
          <a:lstStyle/>
          <a:p>
            <a:pPr algn="ctr">
              <a:lnSpc>
                <a:spcPts val="3379"/>
              </a:lnSpc>
            </a:pPr>
            <a:r>
              <a:rPr lang="en-US" sz="2599" spc="51">
                <a:solidFill>
                  <a:srgbClr val="000000"/>
                </a:solidFill>
                <a:latin typeface="Aileron"/>
                <a:ea typeface="Aileron"/>
                <a:cs typeface="Aileron"/>
                <a:sym typeface="Aileron"/>
              </a:rPr>
              <a:t>Add the decreased water amount to today's total water intake</a:t>
            </a:r>
          </a:p>
        </p:txBody>
      </p:sp>
      <p:sp>
        <p:nvSpPr>
          <p:cNvPr id="34" name="TextBox 34"/>
          <p:cNvSpPr txBox="1"/>
          <p:nvPr/>
        </p:nvSpPr>
        <p:spPr>
          <a:xfrm>
            <a:off x="9638428" y="7775461"/>
            <a:ext cx="3854169" cy="1281430"/>
          </a:xfrm>
          <a:prstGeom prst="rect">
            <a:avLst/>
          </a:prstGeom>
        </p:spPr>
        <p:txBody>
          <a:bodyPr lIns="0" tIns="0" rIns="0" bIns="0" rtlCol="0" anchor="t">
            <a:spAutoFit/>
          </a:bodyPr>
          <a:lstStyle/>
          <a:p>
            <a:pPr algn="ctr">
              <a:lnSpc>
                <a:spcPts val="3379"/>
              </a:lnSpc>
            </a:pPr>
            <a:r>
              <a:rPr lang="en-US" sz="2599" spc="51">
                <a:solidFill>
                  <a:srgbClr val="000000"/>
                </a:solidFill>
                <a:latin typeface="Aileron"/>
                <a:ea typeface="Aileron"/>
                <a:cs typeface="Aileron"/>
                <a:sym typeface="Aileron"/>
              </a:rPr>
              <a:t>Reset the accumulated water intake to zero at the start of each new day</a:t>
            </a:r>
          </a:p>
        </p:txBody>
      </p:sp>
      <p:sp>
        <p:nvSpPr>
          <p:cNvPr id="35" name="TextBox 35"/>
          <p:cNvSpPr txBox="1"/>
          <p:nvPr/>
        </p:nvSpPr>
        <p:spPr>
          <a:xfrm>
            <a:off x="14007523" y="4447052"/>
            <a:ext cx="3813026" cy="852805"/>
          </a:xfrm>
          <a:prstGeom prst="rect">
            <a:avLst/>
          </a:prstGeom>
        </p:spPr>
        <p:txBody>
          <a:bodyPr lIns="0" tIns="0" rIns="0" bIns="0" rtlCol="0" anchor="t">
            <a:spAutoFit/>
          </a:bodyPr>
          <a:lstStyle/>
          <a:p>
            <a:pPr algn="ctr">
              <a:lnSpc>
                <a:spcPts val="3379"/>
              </a:lnSpc>
            </a:pPr>
            <a:r>
              <a:rPr lang="en-US" sz="2599" spc="51">
                <a:solidFill>
                  <a:srgbClr val="000000"/>
                </a:solidFill>
                <a:latin typeface="Aileron"/>
                <a:ea typeface="Aileron"/>
                <a:cs typeface="Aileron"/>
                <a:sym typeface="Aileron"/>
              </a:rPr>
              <a:t>Use a library function to make the LED light up</a:t>
            </a:r>
          </a:p>
        </p:txBody>
      </p:sp>
      <p:sp>
        <p:nvSpPr>
          <p:cNvPr id="36" name="TextBox 36"/>
          <p:cNvSpPr txBox="1"/>
          <p:nvPr/>
        </p:nvSpPr>
        <p:spPr>
          <a:xfrm>
            <a:off x="14173200" y="5945530"/>
            <a:ext cx="3088084" cy="1281430"/>
          </a:xfrm>
          <a:prstGeom prst="rect">
            <a:avLst/>
          </a:prstGeom>
        </p:spPr>
        <p:txBody>
          <a:bodyPr lIns="0" tIns="0" rIns="0" bIns="0" rtlCol="0" anchor="t">
            <a:spAutoFit/>
          </a:bodyPr>
          <a:lstStyle/>
          <a:p>
            <a:pPr algn="ctr">
              <a:lnSpc>
                <a:spcPts val="3379"/>
              </a:lnSpc>
            </a:pPr>
            <a:r>
              <a:rPr lang="en-US" sz="2599" spc="51">
                <a:solidFill>
                  <a:srgbClr val="000000"/>
                </a:solidFill>
                <a:latin typeface="Aileron"/>
                <a:ea typeface="Aileron"/>
                <a:cs typeface="Aileron"/>
                <a:sym typeface="Aileron"/>
              </a:rPr>
              <a:t>If the water weight is below 100g, then turn on the red light</a:t>
            </a:r>
          </a:p>
        </p:txBody>
      </p:sp>
      <p:sp>
        <p:nvSpPr>
          <p:cNvPr id="37" name="TextBox 37"/>
          <p:cNvSpPr txBox="1"/>
          <p:nvPr/>
        </p:nvSpPr>
        <p:spPr>
          <a:xfrm>
            <a:off x="1157730" y="7775461"/>
            <a:ext cx="3233494" cy="1281430"/>
          </a:xfrm>
          <a:prstGeom prst="rect">
            <a:avLst/>
          </a:prstGeom>
        </p:spPr>
        <p:txBody>
          <a:bodyPr lIns="0" tIns="0" rIns="0" bIns="0" rtlCol="0" anchor="t">
            <a:spAutoFit/>
          </a:bodyPr>
          <a:lstStyle/>
          <a:p>
            <a:pPr algn="ctr">
              <a:lnSpc>
                <a:spcPts val="3379"/>
              </a:lnSpc>
            </a:pPr>
            <a:r>
              <a:rPr lang="en-US" sz="2599" spc="51">
                <a:solidFill>
                  <a:srgbClr val="000000"/>
                </a:solidFill>
                <a:latin typeface="Aileron"/>
                <a:ea typeface="Aileron"/>
                <a:cs typeface="Aileron"/>
                <a:sym typeface="Aileron"/>
              </a:rPr>
              <a:t>Record today's total water intake to the data table at 23:59</a:t>
            </a:r>
          </a:p>
        </p:txBody>
      </p:sp>
      <p:grpSp>
        <p:nvGrpSpPr>
          <p:cNvPr id="42" name="Group 4"/>
          <p:cNvGrpSpPr/>
          <p:nvPr/>
        </p:nvGrpSpPr>
        <p:grpSpPr>
          <a:xfrm>
            <a:off x="1028700" y="933450"/>
            <a:ext cx="1169496" cy="1154115"/>
            <a:chOff x="0" y="0"/>
            <a:chExt cx="308015" cy="303965"/>
          </a:xfrm>
        </p:grpSpPr>
        <p:sp>
          <p:nvSpPr>
            <p:cNvPr id="43" name="Freeform 5"/>
            <p:cNvSpPr/>
            <p:nvPr/>
          </p:nvSpPr>
          <p:spPr>
            <a:xfrm>
              <a:off x="0" y="0"/>
              <a:ext cx="308015" cy="303965"/>
            </a:xfrm>
            <a:custGeom>
              <a:avLst/>
              <a:gdLst/>
              <a:ahLst/>
              <a:cxnLst/>
              <a:rect l="l" t="t" r="r" b="b"/>
              <a:pathLst>
                <a:path w="308015" h="303965">
                  <a:moveTo>
                    <a:pt x="151982" y="0"/>
                  </a:moveTo>
                  <a:lnTo>
                    <a:pt x="156033" y="0"/>
                  </a:lnTo>
                  <a:cubicBezTo>
                    <a:pt x="239971" y="0"/>
                    <a:pt x="308015" y="68045"/>
                    <a:pt x="308015" y="151982"/>
                  </a:cubicBezTo>
                  <a:lnTo>
                    <a:pt x="308015" y="151982"/>
                  </a:lnTo>
                  <a:cubicBezTo>
                    <a:pt x="308015" y="235920"/>
                    <a:pt x="239971" y="303965"/>
                    <a:pt x="156033" y="303965"/>
                  </a:cubicBezTo>
                  <a:lnTo>
                    <a:pt x="151982" y="303965"/>
                  </a:lnTo>
                  <a:cubicBezTo>
                    <a:pt x="68045" y="303965"/>
                    <a:pt x="0" y="235920"/>
                    <a:pt x="0" y="151982"/>
                  </a:cubicBezTo>
                  <a:lnTo>
                    <a:pt x="0" y="151982"/>
                  </a:lnTo>
                  <a:cubicBezTo>
                    <a:pt x="0" y="68045"/>
                    <a:pt x="68045" y="0"/>
                    <a:pt x="151982" y="0"/>
                  </a:cubicBezTo>
                  <a:close/>
                </a:path>
              </a:pathLst>
            </a:custGeom>
            <a:solidFill>
              <a:srgbClr val="AFC8E1"/>
            </a:solidFill>
            <a:ln cap="rnd">
              <a:noFill/>
              <a:prstDash val="solid"/>
              <a:round/>
            </a:ln>
          </p:spPr>
        </p:sp>
        <p:sp>
          <p:nvSpPr>
            <p:cNvPr id="44" name="TextBox 6"/>
            <p:cNvSpPr txBox="1"/>
            <p:nvPr/>
          </p:nvSpPr>
          <p:spPr>
            <a:xfrm>
              <a:off x="0" y="0"/>
              <a:ext cx="308015" cy="303965"/>
            </a:xfrm>
            <a:prstGeom prst="rect">
              <a:avLst/>
            </a:prstGeom>
          </p:spPr>
          <p:txBody>
            <a:bodyPr lIns="50800" tIns="50800" rIns="50800" bIns="50800" rtlCol="0" anchor="ctr"/>
            <a:lstStyle/>
            <a:p>
              <a:pPr marL="0" lvl="0" indent="0" algn="ctr">
                <a:lnSpc>
                  <a:spcPts val="6719"/>
                </a:lnSpc>
                <a:spcBef>
                  <a:spcPct val="0"/>
                </a:spcBef>
              </a:pPr>
              <a:r>
                <a:rPr lang="en-US" sz="4799" b="1" dirty="0">
                  <a:solidFill>
                    <a:srgbClr val="000000"/>
                  </a:solidFill>
                  <a:latin typeface="Aileron Bold"/>
                  <a:ea typeface="Aileron Bold"/>
                  <a:cs typeface="Aileron Bold"/>
                  <a:sym typeface="Aileron Bold"/>
                </a:rPr>
                <a:t>04</a:t>
              </a: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grpSp>
        <p:nvGrpSpPr>
          <p:cNvPr id="2" name="Group 2"/>
          <p:cNvGrpSpPr/>
          <p:nvPr/>
        </p:nvGrpSpPr>
        <p:grpSpPr>
          <a:xfrm>
            <a:off x="594387" y="398793"/>
            <a:ext cx="1005165" cy="956918"/>
            <a:chOff x="0" y="0"/>
            <a:chExt cx="264735" cy="252028"/>
          </a:xfrm>
        </p:grpSpPr>
        <p:sp>
          <p:nvSpPr>
            <p:cNvPr id="3" name="Freeform 3"/>
            <p:cNvSpPr/>
            <p:nvPr/>
          </p:nvSpPr>
          <p:spPr>
            <a:xfrm>
              <a:off x="0" y="0"/>
              <a:ext cx="264735" cy="252028"/>
            </a:xfrm>
            <a:custGeom>
              <a:avLst/>
              <a:gdLst/>
              <a:ahLst/>
              <a:cxnLst/>
              <a:rect l="l" t="t" r="r" b="b"/>
              <a:pathLst>
                <a:path w="264735" h="252028">
                  <a:moveTo>
                    <a:pt x="126014" y="0"/>
                  </a:moveTo>
                  <a:lnTo>
                    <a:pt x="138721" y="0"/>
                  </a:lnTo>
                  <a:cubicBezTo>
                    <a:pt x="208316" y="0"/>
                    <a:pt x="264735" y="56418"/>
                    <a:pt x="264735" y="126014"/>
                  </a:cubicBezTo>
                  <a:lnTo>
                    <a:pt x="264735" y="126014"/>
                  </a:lnTo>
                  <a:cubicBezTo>
                    <a:pt x="264735" y="159435"/>
                    <a:pt x="251458" y="191487"/>
                    <a:pt x="227826" y="215119"/>
                  </a:cubicBezTo>
                  <a:cubicBezTo>
                    <a:pt x="204194" y="238751"/>
                    <a:pt x="172142" y="252028"/>
                    <a:pt x="138721" y="252028"/>
                  </a:cubicBezTo>
                  <a:lnTo>
                    <a:pt x="126014" y="252028"/>
                  </a:lnTo>
                  <a:cubicBezTo>
                    <a:pt x="56418" y="252028"/>
                    <a:pt x="0" y="195609"/>
                    <a:pt x="0" y="126014"/>
                  </a:cubicBezTo>
                  <a:lnTo>
                    <a:pt x="0" y="126014"/>
                  </a:lnTo>
                  <a:cubicBezTo>
                    <a:pt x="0" y="56418"/>
                    <a:pt x="56418" y="0"/>
                    <a:pt x="126014" y="0"/>
                  </a:cubicBezTo>
                  <a:close/>
                </a:path>
              </a:pathLst>
            </a:custGeom>
            <a:solidFill>
              <a:srgbClr val="AFC8E1"/>
            </a:solidFill>
            <a:ln cap="rnd">
              <a:noFill/>
              <a:prstDash val="solid"/>
              <a:round/>
            </a:ln>
          </p:spPr>
        </p:sp>
        <p:sp>
          <p:nvSpPr>
            <p:cNvPr id="4" name="TextBox 4"/>
            <p:cNvSpPr txBox="1"/>
            <p:nvPr/>
          </p:nvSpPr>
          <p:spPr>
            <a:xfrm>
              <a:off x="0" y="0"/>
              <a:ext cx="264735" cy="252028"/>
            </a:xfrm>
            <a:prstGeom prst="rect">
              <a:avLst/>
            </a:prstGeom>
          </p:spPr>
          <p:txBody>
            <a:bodyPr lIns="50800" tIns="50800" rIns="50800" bIns="50800" rtlCol="0" anchor="ctr"/>
            <a:lstStyle/>
            <a:p>
              <a:pPr marL="0" lvl="0" indent="0" algn="ctr">
                <a:lnSpc>
                  <a:spcPts val="5880"/>
                </a:lnSpc>
                <a:spcBef>
                  <a:spcPct val="0"/>
                </a:spcBef>
              </a:pPr>
              <a:r>
                <a:rPr lang="en-US" sz="4200" b="1" dirty="0">
                  <a:solidFill>
                    <a:srgbClr val="000000"/>
                  </a:solidFill>
                  <a:latin typeface="Aileron Bold"/>
                  <a:ea typeface="Aileron Bold"/>
                  <a:cs typeface="Aileron Bold"/>
                  <a:sym typeface="Aileron Bold"/>
                </a:rPr>
                <a:t>05</a:t>
              </a:r>
            </a:p>
          </p:txBody>
        </p:sp>
      </p:grpSp>
      <p:graphicFrame>
        <p:nvGraphicFramePr>
          <p:cNvPr id="5" name="Table 5"/>
          <p:cNvGraphicFramePr>
            <a:graphicFrameLocks noGrp="1"/>
          </p:cNvGraphicFramePr>
          <p:nvPr>
            <p:extLst>
              <p:ext uri="{D42A27DB-BD31-4B8C-83A1-F6EECF244321}">
                <p14:modId xmlns:p14="http://schemas.microsoft.com/office/powerpoint/2010/main" val="1909908039"/>
              </p:ext>
            </p:extLst>
          </p:nvPr>
        </p:nvGraphicFramePr>
        <p:xfrm>
          <a:off x="1600201" y="1565875"/>
          <a:ext cx="15240000" cy="8046436"/>
        </p:xfrm>
        <a:graphic>
          <a:graphicData uri="http://schemas.openxmlformats.org/drawingml/2006/table">
            <a:tbl>
              <a:tblPr/>
              <a:tblGrid>
                <a:gridCol w="1468493">
                  <a:extLst>
                    <a:ext uri="{9D8B030D-6E8A-4147-A177-3AD203B41FA5}">
                      <a16:colId xmlns:a16="http://schemas.microsoft.com/office/drawing/2014/main" val="20000"/>
                    </a:ext>
                  </a:extLst>
                </a:gridCol>
                <a:gridCol w="1452670">
                  <a:extLst>
                    <a:ext uri="{9D8B030D-6E8A-4147-A177-3AD203B41FA5}">
                      <a16:colId xmlns:a16="http://schemas.microsoft.com/office/drawing/2014/main" val="20001"/>
                    </a:ext>
                  </a:extLst>
                </a:gridCol>
                <a:gridCol w="3475411">
                  <a:extLst>
                    <a:ext uri="{9D8B030D-6E8A-4147-A177-3AD203B41FA5}">
                      <a16:colId xmlns:a16="http://schemas.microsoft.com/office/drawing/2014/main" val="20002"/>
                    </a:ext>
                  </a:extLst>
                </a:gridCol>
                <a:gridCol w="1468201">
                  <a:extLst>
                    <a:ext uri="{9D8B030D-6E8A-4147-A177-3AD203B41FA5}">
                      <a16:colId xmlns:a16="http://schemas.microsoft.com/office/drawing/2014/main" val="20003"/>
                    </a:ext>
                  </a:extLst>
                </a:gridCol>
                <a:gridCol w="999720">
                  <a:extLst>
                    <a:ext uri="{9D8B030D-6E8A-4147-A177-3AD203B41FA5}">
                      <a16:colId xmlns:a16="http://schemas.microsoft.com/office/drawing/2014/main" val="20004"/>
                    </a:ext>
                  </a:extLst>
                </a:gridCol>
                <a:gridCol w="2190089">
                  <a:extLst>
                    <a:ext uri="{9D8B030D-6E8A-4147-A177-3AD203B41FA5}">
                      <a16:colId xmlns:a16="http://schemas.microsoft.com/office/drawing/2014/main" val="20005"/>
                    </a:ext>
                  </a:extLst>
                </a:gridCol>
                <a:gridCol w="4185416">
                  <a:extLst>
                    <a:ext uri="{9D8B030D-6E8A-4147-A177-3AD203B41FA5}">
                      <a16:colId xmlns:a16="http://schemas.microsoft.com/office/drawing/2014/main" val="20006"/>
                    </a:ext>
                  </a:extLst>
                </a:gridCol>
              </a:tblGrid>
              <a:tr h="1188839">
                <a:tc>
                  <a:txBody>
                    <a:bodyPr/>
                    <a:lstStyle/>
                    <a:p>
                      <a:pPr algn="ctr">
                        <a:lnSpc>
                          <a:spcPts val="2239"/>
                        </a:lnSpc>
                        <a:defRPr/>
                      </a:pPr>
                      <a:r>
                        <a:rPr lang="en-US" sz="1599" b="1">
                          <a:solidFill>
                            <a:srgbClr val="000000"/>
                          </a:solidFill>
                          <a:latin typeface="Noto Sans T Chinese Bold"/>
                          <a:ea typeface="Noto Sans T Chinese Bold"/>
                          <a:cs typeface="Noto Sans T Chinese Bold"/>
                          <a:sym typeface="Noto Sans T Chinese Bold"/>
                        </a:rPr>
                        <a:t>numbers</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2239"/>
                        </a:lnSpc>
                        <a:defRPr/>
                      </a:pPr>
                      <a:r>
                        <a:rPr lang="en-US" sz="1599" b="1">
                          <a:solidFill>
                            <a:srgbClr val="000000"/>
                          </a:solidFill>
                          <a:latin typeface="Noto Sans T Chinese Bold"/>
                          <a:ea typeface="Noto Sans T Chinese Bold"/>
                          <a:cs typeface="Noto Sans T Chinese Bold"/>
                          <a:sym typeface="Noto Sans T Chinese Bold"/>
                        </a:rPr>
                        <a:t>parts</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2239"/>
                        </a:lnSpc>
                        <a:defRPr/>
                      </a:pPr>
                      <a:r>
                        <a:rPr lang="en-US" sz="1599" b="1">
                          <a:solidFill>
                            <a:srgbClr val="000000"/>
                          </a:solidFill>
                          <a:latin typeface="Noto Sans T Chinese Bold"/>
                          <a:ea typeface="Noto Sans T Chinese Bold"/>
                          <a:cs typeface="Noto Sans T Chinese Bold"/>
                          <a:sym typeface="Noto Sans T Chinese Bold"/>
                        </a:rPr>
                        <a:t>specification</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2239"/>
                        </a:lnSpc>
                        <a:defRPr/>
                      </a:pPr>
                      <a:r>
                        <a:rPr lang="en-US" sz="1599" b="1">
                          <a:solidFill>
                            <a:srgbClr val="000000"/>
                          </a:solidFill>
                          <a:latin typeface="Noto Sans T Chinese Bold"/>
                          <a:ea typeface="Noto Sans T Chinese Bold"/>
                          <a:cs typeface="Noto Sans T Chinese Bold"/>
                          <a:sym typeface="Noto Sans T Chinese Bold"/>
                        </a:rPr>
                        <a:t>quantity</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2239"/>
                        </a:lnSpc>
                        <a:defRPr/>
                      </a:pPr>
                      <a:r>
                        <a:rPr lang="en-US" sz="1599" b="1">
                          <a:solidFill>
                            <a:srgbClr val="000000"/>
                          </a:solidFill>
                          <a:latin typeface="Noto Sans T Chinese Bold"/>
                          <a:ea typeface="Noto Sans T Chinese Bold"/>
                          <a:cs typeface="Noto Sans T Chinese Bold"/>
                          <a:sym typeface="Noto Sans T Chinese Bold"/>
                        </a:rPr>
                        <a:t>price</a:t>
                      </a:r>
                      <a:endParaRPr lang="en-US" sz="1100"/>
                    </a:p>
                    <a:p>
                      <a:pPr algn="ctr">
                        <a:lnSpc>
                          <a:spcPts val="2239"/>
                        </a:lnSpc>
                      </a:pPr>
                      <a:r>
                        <a:rPr lang="en-US" sz="1599" b="1">
                          <a:solidFill>
                            <a:srgbClr val="000000"/>
                          </a:solidFill>
                          <a:latin typeface="Noto Sans T Chinese Bold"/>
                          <a:ea typeface="Noto Sans T Chinese Bold"/>
                          <a:cs typeface="Noto Sans T Chinese Bold"/>
                          <a:sym typeface="Noto Sans T Chinese Bold"/>
                        </a:rPr>
                        <a:t>(NT)</a:t>
                      </a:r>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2239"/>
                        </a:lnSpc>
                        <a:defRPr/>
                      </a:pPr>
                      <a:r>
                        <a:rPr lang="en-US" sz="1599" b="1">
                          <a:solidFill>
                            <a:srgbClr val="000000"/>
                          </a:solidFill>
                          <a:latin typeface="Noto Sans T Chinese Bold"/>
                          <a:ea typeface="Noto Sans T Chinese Bold"/>
                          <a:cs typeface="Noto Sans T Chinese Bold"/>
                          <a:sym typeface="Noto Sans T Chinese Bold"/>
                        </a:rPr>
                        <a:t>picture</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2239"/>
                        </a:lnSpc>
                        <a:defRPr/>
                      </a:pPr>
                      <a:r>
                        <a:rPr lang="en-US" sz="1599" b="1">
                          <a:solidFill>
                            <a:srgbClr val="000000"/>
                          </a:solidFill>
                          <a:latin typeface="Noto Sans T Chinese Bold"/>
                          <a:ea typeface="Noto Sans T Chinese Bold"/>
                          <a:cs typeface="Noto Sans T Chinese Bold"/>
                          <a:sym typeface="Noto Sans T Chinese Bold"/>
                        </a:rPr>
                        <a:t>reference website</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225965">
                <a:tc>
                  <a:txBody>
                    <a:bodyPr/>
                    <a:lstStyle/>
                    <a:p>
                      <a:pPr algn="ctr">
                        <a:lnSpc>
                          <a:spcPts val="2239"/>
                        </a:lnSpc>
                        <a:defRPr/>
                      </a:pPr>
                      <a:r>
                        <a:rPr lang="en-US" sz="1599">
                          <a:solidFill>
                            <a:srgbClr val="000000"/>
                          </a:solidFill>
                          <a:latin typeface="Noto Sans T Chinese"/>
                          <a:ea typeface="Noto Sans T Chinese"/>
                          <a:cs typeface="Noto Sans T Chinese"/>
                          <a:sym typeface="Noto Sans T Chinese"/>
                        </a:rPr>
                        <a:t>1</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960"/>
                        </a:lnSpc>
                        <a:defRPr/>
                      </a:pPr>
                      <a:r>
                        <a:rPr lang="en-US" sz="1400">
                          <a:solidFill>
                            <a:srgbClr val="000000"/>
                          </a:solidFill>
                          <a:latin typeface="Noto Sans T Chinese"/>
                          <a:ea typeface="Noto Sans T Chinese"/>
                          <a:cs typeface="Noto Sans T Chinese"/>
                          <a:sym typeface="Noto Sans T Chinese"/>
                        </a:rPr>
                        <a:t>weight sensor</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l">
                        <a:lnSpc>
                          <a:spcPts val="1800"/>
                        </a:lnSpc>
                        <a:defRPr/>
                      </a:pPr>
                      <a:r>
                        <a:rPr lang="en-US" sz="1200">
                          <a:solidFill>
                            <a:srgbClr val="000000"/>
                          </a:solidFill>
                          <a:latin typeface="Noto Sans T Chinese"/>
                          <a:ea typeface="Noto Sans T Chinese"/>
                          <a:cs typeface="Noto Sans T Chinese"/>
                          <a:sym typeface="Noto Sans T Chinese"/>
                        </a:rPr>
                        <a:t>Measures the weight of items placed on the coaster to provide data input for intelligent judgment.</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r>
                        <a:rPr lang="en-US" sz="1200">
                          <a:solidFill>
                            <a:srgbClr val="000000"/>
                          </a:solidFill>
                          <a:latin typeface="Noto Sans T Chinese"/>
                          <a:ea typeface="Noto Sans T Chinese"/>
                          <a:cs typeface="Noto Sans T Chinese"/>
                          <a:sym typeface="Noto Sans T Chinese"/>
                        </a:rPr>
                        <a:t>1</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r>
                        <a:rPr lang="en-US" sz="1200">
                          <a:solidFill>
                            <a:srgbClr val="000000"/>
                          </a:solidFill>
                          <a:latin typeface="Noto Sans T Chinese"/>
                          <a:ea typeface="Noto Sans T Chinese"/>
                          <a:cs typeface="Noto Sans T Chinese"/>
                          <a:sym typeface="Noto Sans T Chinese"/>
                        </a:rPr>
                        <a:t>25</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l">
                        <a:lnSpc>
                          <a:spcPts val="1050"/>
                        </a:lnSpc>
                        <a:defRPr/>
                      </a:pP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25965">
                <a:tc>
                  <a:txBody>
                    <a:bodyPr/>
                    <a:lstStyle/>
                    <a:p>
                      <a:pPr algn="ctr">
                        <a:lnSpc>
                          <a:spcPts val="2239"/>
                        </a:lnSpc>
                        <a:defRPr/>
                      </a:pPr>
                      <a:r>
                        <a:rPr lang="en-US" sz="1599">
                          <a:solidFill>
                            <a:srgbClr val="000000"/>
                          </a:solidFill>
                          <a:latin typeface="Noto Sans T Chinese"/>
                          <a:ea typeface="Noto Sans T Chinese"/>
                          <a:cs typeface="Noto Sans T Chinese"/>
                          <a:sym typeface="Noto Sans T Chinese"/>
                        </a:rPr>
                        <a:t>2</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960"/>
                        </a:lnSpc>
                        <a:defRPr/>
                      </a:pPr>
                      <a:r>
                        <a:rPr lang="en-US" sz="1400">
                          <a:solidFill>
                            <a:srgbClr val="000000"/>
                          </a:solidFill>
                          <a:latin typeface="Noto Sans T Chinese"/>
                          <a:ea typeface="Noto Sans T Chinese"/>
                          <a:cs typeface="Noto Sans T Chinese"/>
                          <a:sym typeface="Noto Sans T Chinese"/>
                        </a:rPr>
                        <a:t>bakelite board</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l">
                        <a:lnSpc>
                          <a:spcPts val="1800"/>
                        </a:lnSpc>
                        <a:defRPr/>
                      </a:pPr>
                      <a:r>
                        <a:rPr lang="en-US" sz="1200">
                          <a:solidFill>
                            <a:srgbClr val="000000"/>
                          </a:solidFill>
                          <a:latin typeface="Noto Sans T Chinese"/>
                          <a:ea typeface="Noto Sans T Chinese"/>
                          <a:cs typeface="Noto Sans T Chinese"/>
                          <a:sym typeface="Noto Sans T Chinese"/>
                        </a:rPr>
                        <a:t>As the main structural material of the coaster, it provides a stable and insulating base.</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r>
                        <a:rPr lang="en-US" sz="1200">
                          <a:solidFill>
                            <a:srgbClr val="000000"/>
                          </a:solidFill>
                          <a:latin typeface="Noto Sans T Chinese"/>
                          <a:ea typeface="Noto Sans T Chinese"/>
                          <a:cs typeface="Noto Sans T Chinese"/>
                          <a:sym typeface="Noto Sans T Chinese"/>
                        </a:rPr>
                        <a:t>1</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r>
                        <a:rPr lang="en-US" sz="1200">
                          <a:solidFill>
                            <a:srgbClr val="000000"/>
                          </a:solidFill>
                          <a:latin typeface="Noto Sans T Chinese"/>
                          <a:ea typeface="Noto Sans T Chinese"/>
                          <a:cs typeface="Noto Sans T Chinese"/>
                          <a:sym typeface="Noto Sans T Chinese"/>
                        </a:rPr>
                        <a:t>25</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l">
                        <a:lnSpc>
                          <a:spcPts val="980"/>
                        </a:lnSpc>
                        <a:defRPr/>
                      </a:pP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88672">
                <a:tc>
                  <a:txBody>
                    <a:bodyPr/>
                    <a:lstStyle/>
                    <a:p>
                      <a:pPr algn="ctr">
                        <a:lnSpc>
                          <a:spcPts val="2239"/>
                        </a:lnSpc>
                        <a:defRPr/>
                      </a:pPr>
                      <a:r>
                        <a:rPr lang="en-US" sz="1599">
                          <a:solidFill>
                            <a:srgbClr val="000000"/>
                          </a:solidFill>
                          <a:latin typeface="Noto Sans T Chinese"/>
                          <a:ea typeface="Noto Sans T Chinese"/>
                          <a:cs typeface="Noto Sans T Chinese"/>
                          <a:sym typeface="Noto Sans T Chinese"/>
                        </a:rPr>
                        <a:t>3</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960"/>
                        </a:lnSpc>
                        <a:defRPr/>
                      </a:pPr>
                      <a:r>
                        <a:rPr lang="en-US" sz="1400">
                          <a:solidFill>
                            <a:srgbClr val="000000"/>
                          </a:solidFill>
                          <a:latin typeface="Noto Sans T Chinese"/>
                          <a:ea typeface="Noto Sans T Chinese"/>
                          <a:cs typeface="Noto Sans T Chinese"/>
                          <a:sym typeface="Noto Sans T Chinese"/>
                        </a:rPr>
                        <a:t>LED  light strip</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l">
                        <a:lnSpc>
                          <a:spcPts val="1800"/>
                        </a:lnSpc>
                        <a:defRPr/>
                      </a:pPr>
                      <a:r>
                        <a:rPr lang="en-US" sz="1200">
                          <a:solidFill>
                            <a:srgbClr val="000000"/>
                          </a:solidFill>
                          <a:latin typeface="Noto Sans T Chinese"/>
                          <a:ea typeface="Noto Sans T Chinese"/>
                          <a:cs typeface="Noto Sans T Chinese"/>
                          <a:sym typeface="Noto Sans T Chinese"/>
                        </a:rPr>
                        <a:t>Provides visual feedback to indicate the status of the water volume (e.g., when to drink water , when to refill water ).</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r>
                        <a:rPr lang="en-US" sz="1200">
                          <a:solidFill>
                            <a:srgbClr val="000000"/>
                          </a:solidFill>
                          <a:latin typeface="Noto Sans T Chinese"/>
                          <a:ea typeface="Noto Sans T Chinese"/>
                          <a:cs typeface="Noto Sans T Chinese"/>
                          <a:sym typeface="Noto Sans T Chinese"/>
                        </a:rPr>
                        <a:t>1</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r>
                        <a:rPr lang="en-US" sz="1200">
                          <a:solidFill>
                            <a:srgbClr val="000000"/>
                          </a:solidFill>
                          <a:latin typeface="Noto Sans T Chinese"/>
                          <a:ea typeface="Noto Sans T Chinese"/>
                          <a:cs typeface="Noto Sans T Chinese"/>
                          <a:sym typeface="Noto Sans T Chinese"/>
                        </a:rPr>
                        <a:t>6</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428323">
                <a:tc>
                  <a:txBody>
                    <a:bodyPr/>
                    <a:lstStyle/>
                    <a:p>
                      <a:pPr algn="ctr">
                        <a:lnSpc>
                          <a:spcPts val="2239"/>
                        </a:lnSpc>
                        <a:defRPr/>
                      </a:pPr>
                      <a:r>
                        <a:rPr lang="en-US" sz="1599">
                          <a:solidFill>
                            <a:srgbClr val="000000"/>
                          </a:solidFill>
                          <a:latin typeface="Noto Sans T Chinese"/>
                          <a:ea typeface="Noto Sans T Chinese"/>
                          <a:cs typeface="Noto Sans T Chinese"/>
                          <a:sym typeface="Noto Sans T Chinese"/>
                        </a:rPr>
                        <a:t>4</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960"/>
                        </a:lnSpc>
                        <a:defRPr/>
                      </a:pPr>
                      <a:r>
                        <a:rPr lang="en-US" sz="1400">
                          <a:solidFill>
                            <a:srgbClr val="000000"/>
                          </a:solidFill>
                          <a:latin typeface="Noto Sans T Chinese"/>
                          <a:ea typeface="Noto Sans T Chinese"/>
                          <a:cs typeface="Noto Sans T Chinese"/>
                          <a:sym typeface="Noto Sans T Chinese"/>
                        </a:rPr>
                        <a:t>botton</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l">
                        <a:lnSpc>
                          <a:spcPts val="1800"/>
                        </a:lnSpc>
                        <a:defRPr/>
                      </a:pPr>
                      <a:r>
                        <a:rPr lang="en-US" sz="1200">
                          <a:solidFill>
                            <a:srgbClr val="000000"/>
                          </a:solidFill>
                          <a:latin typeface="Noto Sans T Chinese"/>
                          <a:ea typeface="Noto Sans T Chinese"/>
                          <a:cs typeface="Noto Sans T Chinese"/>
                          <a:sym typeface="Noto Sans T Chinese"/>
                        </a:rPr>
                        <a:t>Provides a manual input interface for users to reset, power on or off, or switch functions.</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r>
                        <a:rPr lang="en-US" sz="1200">
                          <a:solidFill>
                            <a:srgbClr val="000000"/>
                          </a:solidFill>
                          <a:latin typeface="Noto Sans T Chinese"/>
                          <a:ea typeface="Noto Sans T Chinese"/>
                          <a:cs typeface="Noto Sans T Chinese"/>
                          <a:sym typeface="Noto Sans T Chinese"/>
                        </a:rPr>
                        <a:t>1</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r>
                        <a:rPr lang="en-US" sz="1200">
                          <a:solidFill>
                            <a:srgbClr val="000000"/>
                          </a:solidFill>
                          <a:latin typeface="Noto Sans T Chinese"/>
                          <a:ea typeface="Noto Sans T Chinese"/>
                          <a:cs typeface="Noto Sans T Chinese"/>
                          <a:sym typeface="Noto Sans T Chinese"/>
                        </a:rPr>
                        <a:t>8</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488672">
                <a:tc>
                  <a:txBody>
                    <a:bodyPr/>
                    <a:lstStyle/>
                    <a:p>
                      <a:pPr algn="ctr">
                        <a:lnSpc>
                          <a:spcPts val="2239"/>
                        </a:lnSpc>
                        <a:defRPr/>
                      </a:pPr>
                      <a:r>
                        <a:rPr lang="en-US" sz="1599">
                          <a:solidFill>
                            <a:srgbClr val="000000"/>
                          </a:solidFill>
                          <a:latin typeface="Noto Sans T Chinese"/>
                          <a:ea typeface="Noto Sans T Chinese"/>
                          <a:cs typeface="Noto Sans T Chinese"/>
                          <a:sym typeface="Noto Sans T Chinese"/>
                        </a:rPr>
                        <a:t>5</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960"/>
                        </a:lnSpc>
                        <a:defRPr/>
                      </a:pPr>
                      <a:r>
                        <a:rPr lang="en-US" sz="1400">
                          <a:solidFill>
                            <a:srgbClr val="000000"/>
                          </a:solidFill>
                          <a:latin typeface="Noto Sans T Chinese"/>
                          <a:ea typeface="Noto Sans T Chinese"/>
                          <a:cs typeface="Noto Sans T Chinese"/>
                          <a:sym typeface="Noto Sans T Chinese"/>
                        </a:rPr>
                        <a:t>ESP32</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l">
                        <a:lnSpc>
                          <a:spcPts val="1800"/>
                        </a:lnSpc>
                        <a:defRPr/>
                      </a:pPr>
                      <a:r>
                        <a:rPr lang="en-US" sz="1200">
                          <a:solidFill>
                            <a:srgbClr val="000000"/>
                          </a:solidFill>
                          <a:latin typeface="Noto Sans T Chinese"/>
                          <a:ea typeface="Noto Sans T Chinese"/>
                          <a:cs typeface="Noto Sans T Chinese"/>
                          <a:sym typeface="Noto Sans T Chinese"/>
                        </a:rPr>
                        <a:t>The project's core microcontroller is responsible for data processing, Wi-Fi/Bluetooth connections, and controlling all peripheral hardware.</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r>
                        <a:rPr lang="en-US" sz="1200">
                          <a:solidFill>
                            <a:srgbClr val="000000"/>
                          </a:solidFill>
                          <a:latin typeface="Noto Sans T Chinese"/>
                          <a:ea typeface="Noto Sans T Chinese"/>
                          <a:cs typeface="Noto Sans T Chinese"/>
                          <a:sym typeface="Noto Sans T Chinese"/>
                        </a:rPr>
                        <a:t>1</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r>
                        <a:rPr lang="en-US" sz="1200">
                          <a:solidFill>
                            <a:srgbClr val="000000"/>
                          </a:solidFill>
                          <a:latin typeface="Noto Sans T Chinese"/>
                          <a:ea typeface="Noto Sans T Chinese"/>
                          <a:cs typeface="Noto Sans T Chinese"/>
                          <a:sym typeface="Noto Sans T Chinese"/>
                        </a:rPr>
                        <a:t>255</a:t>
                      </a: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endParaRPr lang="en-US" sz="110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tc>
                  <a:txBody>
                    <a:bodyPr/>
                    <a:lstStyle/>
                    <a:p>
                      <a:pPr algn="ctr">
                        <a:lnSpc>
                          <a:spcPts val="1680"/>
                        </a:lnSpc>
                        <a:defRPr/>
                      </a:pPr>
                      <a:endParaRPr lang="en-US" sz="1100" dirty="0"/>
                    </a:p>
                  </a:txBody>
                  <a:tcPr marL="190500" marR="190500" marT="190500" marB="190500" anchor="ctr">
                    <a:lnL w="29634" cap="flat" cmpd="sng" algn="ctr">
                      <a:solidFill>
                        <a:srgbClr val="000000"/>
                      </a:solidFill>
                      <a:prstDash val="solid"/>
                      <a:round/>
                      <a:headEnd type="none" w="med" len="med"/>
                      <a:tailEnd type="none" w="med" len="med"/>
                    </a:lnL>
                    <a:lnR w="29634" cap="flat" cmpd="sng" algn="ctr">
                      <a:solidFill>
                        <a:srgbClr val="000000"/>
                      </a:solidFill>
                      <a:prstDash val="solid"/>
                      <a:round/>
                      <a:headEnd type="none" w="med" len="med"/>
                      <a:tailEnd type="none" w="med" len="med"/>
                    </a:lnR>
                    <a:lnT w="29634" cap="flat" cmpd="sng" algn="ctr">
                      <a:solidFill>
                        <a:srgbClr val="000000"/>
                      </a:solidFill>
                      <a:prstDash val="solid"/>
                      <a:round/>
                      <a:headEnd type="none" w="med" len="med"/>
                      <a:tailEnd type="none" w="med" len="med"/>
                    </a:lnT>
                    <a:lnB w="29634"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Freeform 6"/>
          <p:cNvSpPr/>
          <p:nvPr/>
        </p:nvSpPr>
        <p:spPr>
          <a:xfrm>
            <a:off x="10933826" y="2813564"/>
            <a:ext cx="1260718" cy="1260718"/>
          </a:xfrm>
          <a:custGeom>
            <a:avLst/>
            <a:gdLst/>
            <a:ahLst/>
            <a:cxnLst/>
            <a:rect l="l" t="t" r="r" b="b"/>
            <a:pathLst>
              <a:path w="1260718" h="1260718">
                <a:moveTo>
                  <a:pt x="0" y="0"/>
                </a:moveTo>
                <a:lnTo>
                  <a:pt x="1260718" y="0"/>
                </a:lnTo>
                <a:lnTo>
                  <a:pt x="1260718" y="1260718"/>
                </a:lnTo>
                <a:lnTo>
                  <a:pt x="0" y="1260718"/>
                </a:lnTo>
                <a:lnTo>
                  <a:pt x="0" y="0"/>
                </a:lnTo>
                <a:close/>
              </a:path>
            </a:pathLst>
          </a:custGeom>
          <a:blipFill>
            <a:blip r:embed="rId2"/>
            <a:stretch>
              <a:fillRect/>
            </a:stretch>
          </a:blipFill>
        </p:spPr>
      </p:sp>
      <p:sp>
        <p:nvSpPr>
          <p:cNvPr id="7" name="Freeform 7"/>
          <p:cNvSpPr/>
          <p:nvPr/>
        </p:nvSpPr>
        <p:spPr>
          <a:xfrm>
            <a:off x="11038053" y="4131968"/>
            <a:ext cx="1098700" cy="1098700"/>
          </a:xfrm>
          <a:custGeom>
            <a:avLst/>
            <a:gdLst/>
            <a:ahLst/>
            <a:cxnLst/>
            <a:rect l="l" t="t" r="r" b="b"/>
            <a:pathLst>
              <a:path w="1098700" h="1098700">
                <a:moveTo>
                  <a:pt x="0" y="0"/>
                </a:moveTo>
                <a:lnTo>
                  <a:pt x="1098700" y="0"/>
                </a:lnTo>
                <a:lnTo>
                  <a:pt x="1098700" y="1098701"/>
                </a:lnTo>
                <a:lnTo>
                  <a:pt x="0" y="1098701"/>
                </a:lnTo>
                <a:lnTo>
                  <a:pt x="0" y="0"/>
                </a:lnTo>
                <a:close/>
              </a:path>
            </a:pathLst>
          </a:custGeom>
          <a:blipFill>
            <a:blip r:embed="rId3"/>
            <a:stretch>
              <a:fillRect/>
            </a:stretch>
          </a:blipFill>
        </p:spPr>
      </p:sp>
      <p:sp>
        <p:nvSpPr>
          <p:cNvPr id="8" name="Freeform 8"/>
          <p:cNvSpPr/>
          <p:nvPr/>
        </p:nvSpPr>
        <p:spPr>
          <a:xfrm>
            <a:off x="10840494" y="5303518"/>
            <a:ext cx="1447384" cy="1443063"/>
          </a:xfrm>
          <a:custGeom>
            <a:avLst/>
            <a:gdLst/>
            <a:ahLst/>
            <a:cxnLst/>
            <a:rect l="l" t="t" r="r" b="b"/>
            <a:pathLst>
              <a:path w="1447384" h="1443063">
                <a:moveTo>
                  <a:pt x="0" y="0"/>
                </a:moveTo>
                <a:lnTo>
                  <a:pt x="1447384" y="0"/>
                </a:lnTo>
                <a:lnTo>
                  <a:pt x="1447384" y="1443063"/>
                </a:lnTo>
                <a:lnTo>
                  <a:pt x="0" y="1443063"/>
                </a:lnTo>
                <a:lnTo>
                  <a:pt x="0" y="0"/>
                </a:lnTo>
                <a:close/>
              </a:path>
            </a:pathLst>
          </a:custGeom>
          <a:blipFill>
            <a:blip r:embed="rId4"/>
            <a:stretch>
              <a:fillRect/>
            </a:stretch>
          </a:blipFill>
        </p:spPr>
      </p:sp>
      <p:sp>
        <p:nvSpPr>
          <p:cNvPr id="9" name="Freeform 9"/>
          <p:cNvSpPr/>
          <p:nvPr/>
        </p:nvSpPr>
        <p:spPr>
          <a:xfrm>
            <a:off x="10670983" y="6645274"/>
            <a:ext cx="1832840" cy="1521792"/>
          </a:xfrm>
          <a:custGeom>
            <a:avLst/>
            <a:gdLst/>
            <a:ahLst/>
            <a:cxnLst/>
            <a:rect l="l" t="t" r="r" b="b"/>
            <a:pathLst>
              <a:path w="1832840" h="1521792">
                <a:moveTo>
                  <a:pt x="0" y="0"/>
                </a:moveTo>
                <a:lnTo>
                  <a:pt x="1832840" y="0"/>
                </a:lnTo>
                <a:lnTo>
                  <a:pt x="1832840" y="1521792"/>
                </a:lnTo>
                <a:lnTo>
                  <a:pt x="0" y="1521792"/>
                </a:lnTo>
                <a:lnTo>
                  <a:pt x="0" y="0"/>
                </a:lnTo>
                <a:close/>
              </a:path>
            </a:pathLst>
          </a:custGeom>
          <a:blipFill>
            <a:blip r:embed="rId5"/>
            <a:stretch>
              <a:fillRect/>
            </a:stretch>
          </a:blipFill>
        </p:spPr>
      </p:sp>
      <p:sp>
        <p:nvSpPr>
          <p:cNvPr id="10" name="Freeform 10"/>
          <p:cNvSpPr/>
          <p:nvPr/>
        </p:nvSpPr>
        <p:spPr>
          <a:xfrm>
            <a:off x="10974286" y="8088337"/>
            <a:ext cx="1179799" cy="1541463"/>
          </a:xfrm>
          <a:custGeom>
            <a:avLst/>
            <a:gdLst/>
            <a:ahLst/>
            <a:cxnLst/>
            <a:rect l="l" t="t" r="r" b="b"/>
            <a:pathLst>
              <a:path w="1179799" h="1541463">
                <a:moveTo>
                  <a:pt x="0" y="0"/>
                </a:moveTo>
                <a:lnTo>
                  <a:pt x="1179799" y="0"/>
                </a:lnTo>
                <a:lnTo>
                  <a:pt x="1179799" y="1541464"/>
                </a:lnTo>
                <a:lnTo>
                  <a:pt x="0" y="1541464"/>
                </a:lnTo>
                <a:lnTo>
                  <a:pt x="0" y="0"/>
                </a:lnTo>
                <a:close/>
              </a:path>
            </a:pathLst>
          </a:custGeom>
          <a:blipFill>
            <a:blip r:embed="rId6"/>
            <a:stretch>
              <a:fillRect/>
            </a:stretch>
          </a:blipFill>
        </p:spPr>
      </p:sp>
      <p:sp>
        <p:nvSpPr>
          <p:cNvPr id="11" name="TextBox 11"/>
          <p:cNvSpPr txBox="1"/>
          <p:nvPr/>
        </p:nvSpPr>
        <p:spPr>
          <a:xfrm>
            <a:off x="17617632" y="9421813"/>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15</a:t>
            </a:r>
          </a:p>
        </p:txBody>
      </p:sp>
      <p:sp>
        <p:nvSpPr>
          <p:cNvPr id="12" name="TextBox 12"/>
          <p:cNvSpPr txBox="1"/>
          <p:nvPr/>
        </p:nvSpPr>
        <p:spPr>
          <a:xfrm>
            <a:off x="1219200" y="419100"/>
            <a:ext cx="5606010" cy="821055"/>
          </a:xfrm>
          <a:prstGeom prst="rect">
            <a:avLst/>
          </a:prstGeom>
        </p:spPr>
        <p:txBody>
          <a:bodyPr lIns="0" tIns="0" rIns="0" bIns="0" rtlCol="0" anchor="t">
            <a:spAutoFit/>
          </a:bodyPr>
          <a:lstStyle/>
          <a:p>
            <a:pPr algn="ctr">
              <a:lnSpc>
                <a:spcPts val="6719"/>
              </a:lnSpc>
            </a:pPr>
            <a:r>
              <a:rPr lang="en-US" sz="4800" b="1">
                <a:solidFill>
                  <a:srgbClr val="192F40"/>
                </a:solidFill>
                <a:latin typeface="Aileron Heavy"/>
                <a:ea typeface="Aileron Heavy"/>
                <a:cs typeface="Aileron Heavy"/>
                <a:sym typeface="Aileron Heavy"/>
              </a:rPr>
              <a:t>Bill of Materials</a:t>
            </a:r>
          </a:p>
        </p:txBody>
      </p:sp>
      <p:sp>
        <p:nvSpPr>
          <p:cNvPr id="13" name="TextBox 13"/>
          <p:cNvSpPr txBox="1"/>
          <p:nvPr/>
        </p:nvSpPr>
        <p:spPr>
          <a:xfrm>
            <a:off x="12793206" y="2912527"/>
            <a:ext cx="3866752" cy="782955"/>
          </a:xfrm>
          <a:prstGeom prst="rect">
            <a:avLst/>
          </a:prstGeom>
        </p:spPr>
        <p:txBody>
          <a:bodyPr lIns="0" tIns="0" rIns="0" bIns="0" rtlCol="0" anchor="t">
            <a:spAutoFit/>
          </a:bodyPr>
          <a:lstStyle/>
          <a:p>
            <a:pPr algn="l">
              <a:lnSpc>
                <a:spcPts val="1049"/>
              </a:lnSpc>
            </a:pPr>
            <a:r>
              <a:rPr lang="en-US" sz="699" dirty="0">
                <a:solidFill>
                  <a:srgbClr val="004AAD"/>
                </a:solidFill>
                <a:latin typeface="Noto Sans T Chinese"/>
                <a:ea typeface="Noto Sans T Chinese"/>
                <a:cs typeface="Noto Sans T Chinese"/>
                <a:sym typeface="Noto Sans T Chinese"/>
              </a:rPr>
              <a:t>https://shopee.tw/%E3%80%90%E5%8F%B0%E7%81%A3%E7%89%A9%E8%81%AF%E3%80%9150kg%E7%A7%A4%E9%87%8D%E6%84%9F%E6%B8%AC%E5%99%A8-%E4%BA%BA%E9%AB%94%E7%A7%A450KG%E9%9B%BB%E9%98%BB%E6%87%89%E8%AE%8A%E5%8D%8A%E6%A9%8B%E5%BC%8F%E6%84%9F%E6%B8%AC%E5%99%A8-i.10207300.848013561?sp_atk=cc23c6ce-57ce-474b-a757-35cf7af70ac3&amp;xptdk=cc23c6ce-57ce-474b-a757-35cf7af70ac3</a:t>
            </a:r>
          </a:p>
        </p:txBody>
      </p:sp>
      <p:sp>
        <p:nvSpPr>
          <p:cNvPr id="14" name="TextBox 14"/>
          <p:cNvSpPr txBox="1"/>
          <p:nvPr/>
        </p:nvSpPr>
        <p:spPr>
          <a:xfrm>
            <a:off x="12828479" y="4117659"/>
            <a:ext cx="3866752" cy="916305"/>
          </a:xfrm>
          <a:prstGeom prst="rect">
            <a:avLst/>
          </a:prstGeom>
        </p:spPr>
        <p:txBody>
          <a:bodyPr lIns="0" tIns="0" rIns="0" bIns="0" rtlCol="0" anchor="t">
            <a:spAutoFit/>
          </a:bodyPr>
          <a:lstStyle/>
          <a:p>
            <a:pPr algn="l">
              <a:lnSpc>
                <a:spcPts val="1049"/>
              </a:lnSpc>
            </a:pPr>
            <a:r>
              <a:rPr lang="en-US" sz="699" dirty="0">
                <a:solidFill>
                  <a:srgbClr val="004AAD"/>
                </a:solidFill>
                <a:latin typeface="Noto Sans T Chinese"/>
                <a:ea typeface="Noto Sans T Chinese"/>
                <a:cs typeface="Noto Sans T Chinese"/>
                <a:sym typeface="Noto Sans T Chinese"/>
                <a:hlinkClick r:id="rId7" tooltip="https://shopee.tw/%E3%80%90%E7%A5%A5%E6%98%8C%E9%9B%BB%E5%AD%90%E3%80%91KT-1-SL-1-%E9%9B%BB%E6%9C%A8%E6%9D%BF(900%E5%AD%94)-J-1-%E8%90%AC%E7%94%A8%E6%9D%BF-%E9%9B%BB%E8%B7%AF%E6%9D%BF-PC%E6%9D%BF-PCB-%E6%B4%9E%E6%B4%9E%E6%9D%BF-%E5%AF%A6%E9%A9%97%E6%9D%BF-%E7%B7%9A%E8%B7%AF%E6%9D%BF-i.27742636.5048744441?sp_atk=98ef8bfe-469b-4fb2-8914-00211cf7c015&amp;xptdk=98ef8bfe-469b-4fb2-8914-00211cf7c015"/>
              </a:rPr>
              <a:t>https://shopee.tw/%E3%80%90%E7%A5%A5%E6%98%8C%E9%9B%BB%E5%AD%90%E3%80%91KT-1-SL-1-%E9%9B%BB%E6%9C%A8%E6%9D%BF(900%E5%AD%94)-J-1-%E8%90%AC%E7%94%A8%E6%9D%BF-%E9%9B%BB%E8%B7%AF%E6%9D%BF-PC%E6%9D%BF-PCB-%E6%B4%9E%E6%B4%9E%E6%9D%BF-%E5%AF%A6%E9%A9%97%E6%9D%BF-%E7%B7%9A%E8%B7%AF%E6%9D%BF-i.27742636.5048744441?sp_atk=98ef8bfe-469b-4fb2-8914-00211cf7c015&amp;xptdk=98ef8bfe-469b-4fb2-8914-00211cf7c015</a:t>
            </a:r>
          </a:p>
        </p:txBody>
      </p:sp>
      <p:sp>
        <p:nvSpPr>
          <p:cNvPr id="15" name="TextBox 15"/>
          <p:cNvSpPr txBox="1"/>
          <p:nvPr/>
        </p:nvSpPr>
        <p:spPr>
          <a:xfrm>
            <a:off x="12828479" y="5541665"/>
            <a:ext cx="3866752" cy="916305"/>
          </a:xfrm>
          <a:prstGeom prst="rect">
            <a:avLst/>
          </a:prstGeom>
        </p:spPr>
        <p:txBody>
          <a:bodyPr lIns="0" tIns="0" rIns="0" bIns="0" rtlCol="0" anchor="t">
            <a:spAutoFit/>
          </a:bodyPr>
          <a:lstStyle/>
          <a:p>
            <a:pPr algn="l">
              <a:lnSpc>
                <a:spcPts val="1049"/>
              </a:lnSpc>
            </a:pPr>
            <a:r>
              <a:rPr lang="en-US" sz="699" dirty="0">
                <a:solidFill>
                  <a:srgbClr val="004AAD"/>
                </a:solidFill>
                <a:latin typeface="Noto Sans T Chinese"/>
                <a:ea typeface="Noto Sans T Chinese"/>
                <a:cs typeface="Noto Sans T Chinese"/>
                <a:sym typeface="Noto Sans T Chinese"/>
              </a:rPr>
              <a:t>h</a:t>
            </a:r>
            <a:r>
              <a:rPr lang="en-US" sz="699" dirty="0">
                <a:solidFill>
                  <a:srgbClr val="004AAD"/>
                </a:solidFill>
                <a:latin typeface="Noto Sans T Chinese"/>
                <a:ea typeface="Noto Sans T Chinese"/>
                <a:cs typeface="Noto Sans T Chinese"/>
                <a:sym typeface="Noto Sans T Chinese"/>
                <a:hlinkClick r:id="rId8" tooltip="https://shopee.tw/%E8%97%8D%E5%85%89(%E5%8F%AF%E5%AE%A2%E8%A3%BD%E5%8C%96%E9%95%B7%E5%BA%A6)-12V%E9%9C%93%E8%99%B9%E7%87%88%E5%B8%B6%E3%80%90%E6%B2%9B%E7%B4%9C%E5%B0%8F%E9%8B%AA%E3%80%9110%E5%85%AC%E5%88%86%E8%B5%B7%E5%AE%A2%E8%A3%BD-LED%E9%9C%93%E8%99%B9%E7%87%88%E5%B8%B6-i.4984330.23369347953?sp_atk=65264f74-9857-4c6d-8ca7-d6bf685e4b8f&amp;xptdk=65264f74-9857-4c6d-8ca7-d6bf685e4b8f"/>
              </a:rPr>
              <a:t>ttps://shopee.tw/%E8%97%8D%E5%85%89(%E5%8F%AF%E5%AE%A2%E8%A3%BD%E5%8C%96%E9%95%B7%E5%BA%A6)-12V%E9%9C%93%E8%99%B9%E7%87%88%E5%B8%B6%E3%80%90%E6%B2%9B%E7%B4%9C%E5%B0%8F%E9%8B%AA%E3%80%9110%E5%85%AC%E5%88%86%E8%B5%B7%E5%AE%A2%E8%A3%BD-LED%E9%9C%93%E8%99%B9%E7%87%88%E5%B8%B6-i.4984330.23369347953?sp_atk=65264f74-9857-4c6d-8ca7-d6bf685e4b8f&amp;xptdk=65264f74-9857-4c6d-8ca7-d6bf685e4b8f</a:t>
            </a:r>
          </a:p>
        </p:txBody>
      </p:sp>
      <p:sp>
        <p:nvSpPr>
          <p:cNvPr id="16" name="TextBox 16"/>
          <p:cNvSpPr txBox="1"/>
          <p:nvPr/>
        </p:nvSpPr>
        <p:spPr>
          <a:xfrm>
            <a:off x="12762726" y="6811723"/>
            <a:ext cx="3917265" cy="1202055"/>
          </a:xfrm>
          <a:prstGeom prst="rect">
            <a:avLst/>
          </a:prstGeom>
        </p:spPr>
        <p:txBody>
          <a:bodyPr lIns="0" tIns="0" rIns="0" bIns="0" rtlCol="0" anchor="t">
            <a:spAutoFit/>
          </a:bodyPr>
          <a:lstStyle/>
          <a:p>
            <a:pPr algn="l">
              <a:lnSpc>
                <a:spcPts val="1049"/>
              </a:lnSpc>
              <a:spcBef>
                <a:spcPct val="0"/>
              </a:spcBef>
            </a:pPr>
            <a:r>
              <a:rPr lang="en-US" sz="699" spc="20" dirty="0">
                <a:solidFill>
                  <a:srgbClr val="004AAD"/>
                </a:solidFill>
                <a:latin typeface="Aileron"/>
                <a:ea typeface="Aileron"/>
                <a:cs typeface="Aileron"/>
                <a:sym typeface="Aileron"/>
                <a:hlinkClick r:id="rId9" tooltip="https://shopee.tw/%E3%80%90%E9%80%A0%E7%89%A9%E4%BA%BA%E3%80%91%E3%80%8A%E5%8F%AF%E7%B5%B1%E7%B7%A8%E3%80%8BArduino-%E6%8C%89%E9%88%95%E6%A8%A1%E7%B5%84-%E6%8C%89%E9%8D%B5%E6%A8%A1%E7%B5%84-%E5%A4%A7%E6%8C%89%E9%8D%B5-%E8%BC%95%E8%A7%B8-%E6%8C%89%E9%88%95-%E6%8C%89%E9%8D%B5%E9%96%8B%E9%97%9C-%E9%AB%98%E9%9B%BB%E5%B9%B3%E8%BC%B8%E5%87%BA-5%E8%89%B2-i.899779.7357690068?sp_atk=877e3880-6198-4137-a94f-e5fc6392c2a1&amp;xptdk=877e3880-6198-4137-a94f-e5fc6392c2a1"/>
              </a:rPr>
              <a:t>https://shopee.tw/%E3%80%90%E9%80%A0%E7%89%A9%E4%BA%BA%E3%80%91%E3%80%8A%E5%8F%AF%E7%B5%B1%E7%B7%A8%E3%80%8BArduino-%E6%8C%89%E9%88%95%E6%A8%A1%E7%B5%84-%E6%8C%89%E9%8D%B5%E6%A8%A1%E7%B5%84-%E5%A4%A7%E6%8C%89%E9%8D%B5-%E8%BC%95%E8%A7%B8-%E6%8C%89%E9%88%95-%E6%8C%89%E9%8D%B5%E9%96%8B%E9%97%9C-%E9%AB%98%E9%9B%BB%E5%B9%B3%E8%BC%B8%E5%87%BA-5%E8%89%B2-i.899779.7357690068?sp_atk=877e3880-6198-4137-a94f-e5fc6392c2a1&amp;xptdk=877e3880-6198-4137-a94f-e5fc6392c2a1</a:t>
            </a:r>
          </a:p>
        </p:txBody>
      </p:sp>
      <p:sp>
        <p:nvSpPr>
          <p:cNvPr id="17" name="TextBox 17"/>
          <p:cNvSpPr txBox="1"/>
          <p:nvPr/>
        </p:nvSpPr>
        <p:spPr>
          <a:xfrm>
            <a:off x="12762726" y="8521479"/>
            <a:ext cx="3892008" cy="668655"/>
          </a:xfrm>
          <a:prstGeom prst="rect">
            <a:avLst/>
          </a:prstGeom>
        </p:spPr>
        <p:txBody>
          <a:bodyPr lIns="0" tIns="0" rIns="0" bIns="0" rtlCol="0" anchor="t">
            <a:spAutoFit/>
          </a:bodyPr>
          <a:lstStyle/>
          <a:p>
            <a:pPr algn="l">
              <a:lnSpc>
                <a:spcPts val="1049"/>
              </a:lnSpc>
            </a:pPr>
            <a:r>
              <a:rPr lang="en-US" sz="699" dirty="0">
                <a:solidFill>
                  <a:srgbClr val="004AAD"/>
                </a:solidFill>
                <a:latin typeface="Aileron"/>
                <a:ea typeface="Aileron"/>
                <a:cs typeface="Aileron"/>
                <a:sym typeface="Aileron"/>
                <a:hlinkClick r:id="rId10" tooltip="https://shopee.tw/%E7%84%A1%E5%90%8D%E7%A7%91%E6%8A%80%E5%8E%9F%E5%BB%A0-ESP32-S3-SUPERMINI-%E9%96%8B%E7%99%BC%E6%9D%BF-Type-c-WIFI-%E8%97%8D%E8%8A%BD-%E7%89%A9%E8%81%AF%E7%B6%B2-i.156997135.26626006239?sp_atk=223d752e-1d51-4703-9d3c-ba48e2fffb3d&amp;xptdk=223d752e-1d51-4703-9d3c-ba48e2fffb3d"/>
              </a:rPr>
              <a:t>https://shopee.tw/%E7%84%A1%E5%90%8D%E7%A7%91%E6%8A%80%E5%8E%9F%E5%BB%A0-ESP32-S3-SUPERMINI-%E9%96%8B%E7%99%BC%E6%9D%BF-Type-c-WIFI-%E8%97%8D%E8%8A%BD-%E7%89%A9%E8%81%AF%E7%B6%B2-i.156997135.26626006239?sp_atk=223d752e-1d51-4703-9d3c-ba48e2fffb3d&amp;xptdk=223d752e-1d51-4703-9d3c-ba48e2fffb3d</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sp>
        <p:nvSpPr>
          <p:cNvPr id="2" name="Freeform 2"/>
          <p:cNvSpPr/>
          <p:nvPr/>
        </p:nvSpPr>
        <p:spPr>
          <a:xfrm flipH="1" flipV="1">
            <a:off x="13330934" y="738978"/>
            <a:ext cx="3998861" cy="1187455"/>
          </a:xfrm>
          <a:custGeom>
            <a:avLst/>
            <a:gdLst/>
            <a:ahLst/>
            <a:cxnLst/>
            <a:rect l="l" t="t" r="r" b="b"/>
            <a:pathLst>
              <a:path w="3998861" h="1187455">
                <a:moveTo>
                  <a:pt x="3998861" y="1187455"/>
                </a:moveTo>
                <a:lnTo>
                  <a:pt x="0" y="1187455"/>
                </a:lnTo>
                <a:lnTo>
                  <a:pt x="0" y="0"/>
                </a:lnTo>
                <a:lnTo>
                  <a:pt x="3998861" y="0"/>
                </a:lnTo>
                <a:lnTo>
                  <a:pt x="3998861" y="1187455"/>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flipH="1" flipV="1">
            <a:off x="11581927" y="738978"/>
            <a:ext cx="1187455" cy="1187455"/>
          </a:xfrm>
          <a:custGeom>
            <a:avLst/>
            <a:gdLst/>
            <a:ahLst/>
            <a:cxnLst/>
            <a:rect l="l" t="t" r="r" b="b"/>
            <a:pathLst>
              <a:path w="1187455" h="1187455">
                <a:moveTo>
                  <a:pt x="1187456" y="1187455"/>
                </a:moveTo>
                <a:lnTo>
                  <a:pt x="0" y="1187455"/>
                </a:lnTo>
                <a:lnTo>
                  <a:pt x="0" y="0"/>
                </a:lnTo>
                <a:lnTo>
                  <a:pt x="1187456" y="0"/>
                </a:lnTo>
                <a:lnTo>
                  <a:pt x="1187456" y="1187455"/>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4" name="Group 4"/>
          <p:cNvGrpSpPr/>
          <p:nvPr/>
        </p:nvGrpSpPr>
        <p:grpSpPr>
          <a:xfrm>
            <a:off x="1028700" y="933450"/>
            <a:ext cx="1169496" cy="1154115"/>
            <a:chOff x="0" y="0"/>
            <a:chExt cx="308015" cy="303965"/>
          </a:xfrm>
        </p:grpSpPr>
        <p:sp>
          <p:nvSpPr>
            <p:cNvPr id="5" name="Freeform 5"/>
            <p:cNvSpPr/>
            <p:nvPr/>
          </p:nvSpPr>
          <p:spPr>
            <a:xfrm>
              <a:off x="0" y="0"/>
              <a:ext cx="308015" cy="303965"/>
            </a:xfrm>
            <a:custGeom>
              <a:avLst/>
              <a:gdLst/>
              <a:ahLst/>
              <a:cxnLst/>
              <a:rect l="l" t="t" r="r" b="b"/>
              <a:pathLst>
                <a:path w="308015" h="303965">
                  <a:moveTo>
                    <a:pt x="151982" y="0"/>
                  </a:moveTo>
                  <a:lnTo>
                    <a:pt x="156033" y="0"/>
                  </a:lnTo>
                  <a:cubicBezTo>
                    <a:pt x="239971" y="0"/>
                    <a:pt x="308015" y="68045"/>
                    <a:pt x="308015" y="151982"/>
                  </a:cubicBezTo>
                  <a:lnTo>
                    <a:pt x="308015" y="151982"/>
                  </a:lnTo>
                  <a:cubicBezTo>
                    <a:pt x="308015" y="235920"/>
                    <a:pt x="239971" y="303965"/>
                    <a:pt x="156033" y="303965"/>
                  </a:cubicBezTo>
                  <a:lnTo>
                    <a:pt x="151982" y="303965"/>
                  </a:lnTo>
                  <a:cubicBezTo>
                    <a:pt x="68045" y="303965"/>
                    <a:pt x="0" y="235920"/>
                    <a:pt x="0" y="151982"/>
                  </a:cubicBezTo>
                  <a:lnTo>
                    <a:pt x="0" y="151982"/>
                  </a:lnTo>
                  <a:cubicBezTo>
                    <a:pt x="0" y="68045"/>
                    <a:pt x="68045" y="0"/>
                    <a:pt x="151982" y="0"/>
                  </a:cubicBezTo>
                  <a:close/>
                </a:path>
              </a:pathLst>
            </a:custGeom>
            <a:solidFill>
              <a:srgbClr val="AFC8E1"/>
            </a:solidFill>
            <a:ln cap="rnd">
              <a:noFill/>
              <a:prstDash val="solid"/>
              <a:round/>
            </a:ln>
          </p:spPr>
        </p:sp>
        <p:sp>
          <p:nvSpPr>
            <p:cNvPr id="6" name="TextBox 6"/>
            <p:cNvSpPr txBox="1"/>
            <p:nvPr/>
          </p:nvSpPr>
          <p:spPr>
            <a:xfrm>
              <a:off x="0" y="0"/>
              <a:ext cx="308015" cy="303965"/>
            </a:xfrm>
            <a:prstGeom prst="rect">
              <a:avLst/>
            </a:prstGeom>
          </p:spPr>
          <p:txBody>
            <a:bodyPr lIns="50800" tIns="50800" rIns="50800" bIns="50800" rtlCol="0" anchor="ctr"/>
            <a:lstStyle/>
            <a:p>
              <a:pPr marL="0" lvl="0" indent="0" algn="ctr">
                <a:lnSpc>
                  <a:spcPts val="6719"/>
                </a:lnSpc>
                <a:spcBef>
                  <a:spcPct val="0"/>
                </a:spcBef>
              </a:pPr>
              <a:r>
                <a:rPr lang="en-US" sz="4799" b="1" dirty="0">
                  <a:solidFill>
                    <a:srgbClr val="000000"/>
                  </a:solidFill>
                  <a:latin typeface="Aileron Bold"/>
                  <a:ea typeface="Aileron Bold"/>
                  <a:cs typeface="Aileron Bold"/>
                  <a:sym typeface="Aileron Bold"/>
                </a:rPr>
                <a:t>06</a:t>
              </a:r>
            </a:p>
          </p:txBody>
        </p:sp>
      </p:grpSp>
      <p:graphicFrame>
        <p:nvGraphicFramePr>
          <p:cNvPr id="7" name="Table 7"/>
          <p:cNvGraphicFramePr>
            <a:graphicFrameLocks noGrp="1"/>
          </p:cNvGraphicFramePr>
          <p:nvPr>
            <p:extLst>
              <p:ext uri="{D42A27DB-BD31-4B8C-83A1-F6EECF244321}">
                <p14:modId xmlns:p14="http://schemas.microsoft.com/office/powerpoint/2010/main" val="2238659139"/>
              </p:ext>
            </p:extLst>
          </p:nvPr>
        </p:nvGraphicFramePr>
        <p:xfrm>
          <a:off x="4202968" y="2914447"/>
          <a:ext cx="9882065" cy="5172075"/>
        </p:xfrm>
        <a:graphic>
          <a:graphicData uri="http://schemas.openxmlformats.org/drawingml/2006/table">
            <a:tbl>
              <a:tblPr/>
              <a:tblGrid>
                <a:gridCol w="3666825">
                  <a:extLst>
                    <a:ext uri="{9D8B030D-6E8A-4147-A177-3AD203B41FA5}">
                      <a16:colId xmlns:a16="http://schemas.microsoft.com/office/drawing/2014/main" val="20000"/>
                    </a:ext>
                  </a:extLst>
                </a:gridCol>
                <a:gridCol w="6215240">
                  <a:extLst>
                    <a:ext uri="{9D8B030D-6E8A-4147-A177-3AD203B41FA5}">
                      <a16:colId xmlns:a16="http://schemas.microsoft.com/office/drawing/2014/main" val="20001"/>
                    </a:ext>
                  </a:extLst>
                </a:gridCol>
              </a:tblGrid>
              <a:tr h="1034415">
                <a:tc>
                  <a:txBody>
                    <a:bodyPr/>
                    <a:lstStyle/>
                    <a:p>
                      <a:pPr algn="ctr">
                        <a:lnSpc>
                          <a:spcPts val="3779"/>
                        </a:lnSpc>
                        <a:defRPr/>
                      </a:pPr>
                      <a:r>
                        <a:rPr lang="en-US" sz="2700">
                          <a:solidFill>
                            <a:srgbClr val="000000"/>
                          </a:solidFill>
                          <a:latin typeface="Aileron"/>
                          <a:ea typeface="Aileron"/>
                          <a:cs typeface="Aileron"/>
                          <a:sym typeface="Aileron"/>
                        </a:rPr>
                        <a:t>M11451001 楊婕</a:t>
                      </a:r>
                      <a:endParaRPr lang="en-US" sz="1100"/>
                    </a:p>
                  </a:txBody>
                  <a:tcPr marL="190500" marR="190500" marT="190500" marB="190500" anchor="ctr">
                    <a:lnL w="76200" cap="flat" cmpd="sng" algn="ctr">
                      <a:solidFill>
                        <a:srgbClr val="143F87"/>
                      </a:solidFill>
                      <a:prstDash val="solid"/>
                      <a:round/>
                      <a:headEnd type="none" w="med" len="med"/>
                      <a:tailEnd type="none" w="med" len="med"/>
                    </a:lnL>
                    <a:lnR w="76200" cap="flat" cmpd="sng" algn="ctr">
                      <a:solidFill>
                        <a:srgbClr val="143F87"/>
                      </a:solidFill>
                      <a:prstDash val="solid"/>
                      <a:round/>
                      <a:headEnd type="none" w="med" len="med"/>
                      <a:tailEnd type="none" w="med" len="med"/>
                    </a:lnR>
                    <a:lnT w="76200" cap="flat" cmpd="sng" algn="ctr">
                      <a:solidFill>
                        <a:srgbClr val="143F87"/>
                      </a:solidFill>
                      <a:prstDash val="solid"/>
                      <a:round/>
                      <a:headEnd type="none" w="med" len="med"/>
                      <a:tailEnd type="none" w="med" len="med"/>
                    </a:lnT>
                    <a:lnB w="76200" cap="flat" cmpd="sng" algn="ctr">
                      <a:solidFill>
                        <a:srgbClr val="143F87"/>
                      </a:solidFill>
                      <a:prstDash val="solid"/>
                      <a:round/>
                      <a:headEnd type="none" w="med" len="med"/>
                      <a:tailEnd type="none" w="med" len="med"/>
                    </a:lnB>
                  </a:tcPr>
                </a:tc>
                <a:tc>
                  <a:txBody>
                    <a:bodyPr/>
                    <a:lstStyle/>
                    <a:p>
                      <a:pPr algn="ctr">
                        <a:lnSpc>
                          <a:spcPts val="3779"/>
                        </a:lnSpc>
                        <a:defRPr/>
                      </a:pPr>
                      <a:r>
                        <a:rPr lang="en-US" sz="2700" dirty="0">
                          <a:solidFill>
                            <a:srgbClr val="000000"/>
                          </a:solidFill>
                          <a:latin typeface="Aileron"/>
                          <a:ea typeface="Aileron"/>
                          <a:cs typeface="Aileron"/>
                          <a:sym typeface="Aileron"/>
                        </a:rPr>
                        <a:t>Bill of </a:t>
                      </a:r>
                      <a:r>
                        <a:rPr lang="en-US" sz="2700" dirty="0" err="1">
                          <a:solidFill>
                            <a:srgbClr val="000000"/>
                          </a:solidFill>
                          <a:latin typeface="Aileron"/>
                          <a:ea typeface="Aileron"/>
                          <a:cs typeface="Aileron"/>
                          <a:sym typeface="Aileron"/>
                        </a:rPr>
                        <a:t>materials、Hardware</a:t>
                      </a:r>
                      <a:endParaRPr lang="en-US" sz="1100" dirty="0"/>
                    </a:p>
                  </a:txBody>
                  <a:tcPr marL="190500" marR="190500" marT="190500" marB="190500" anchor="ctr">
                    <a:lnL w="76200" cap="flat" cmpd="sng" algn="ctr">
                      <a:solidFill>
                        <a:srgbClr val="143F87"/>
                      </a:solidFill>
                      <a:prstDash val="solid"/>
                      <a:round/>
                      <a:headEnd type="none" w="med" len="med"/>
                      <a:tailEnd type="none" w="med" len="med"/>
                    </a:lnL>
                    <a:lnR w="76200" cap="flat" cmpd="sng" algn="ctr">
                      <a:solidFill>
                        <a:srgbClr val="143F87"/>
                      </a:solidFill>
                      <a:prstDash val="solid"/>
                      <a:round/>
                      <a:headEnd type="none" w="med" len="med"/>
                      <a:tailEnd type="none" w="med" len="med"/>
                    </a:lnR>
                    <a:lnT w="76200" cap="flat" cmpd="sng" algn="ctr">
                      <a:solidFill>
                        <a:srgbClr val="143F87"/>
                      </a:solidFill>
                      <a:prstDash val="solid"/>
                      <a:round/>
                      <a:headEnd type="none" w="med" len="med"/>
                      <a:tailEnd type="none" w="med" len="med"/>
                    </a:lnT>
                    <a:lnB w="76200" cap="flat" cmpd="sng" algn="ctr">
                      <a:solidFill>
                        <a:srgbClr val="143F87"/>
                      </a:solidFill>
                      <a:prstDash val="solid"/>
                      <a:round/>
                      <a:headEnd type="none" w="med" len="med"/>
                      <a:tailEnd type="none" w="med" len="med"/>
                    </a:lnB>
                  </a:tcPr>
                </a:tc>
                <a:extLst>
                  <a:ext uri="{0D108BD9-81ED-4DB2-BD59-A6C34878D82A}">
                    <a16:rowId xmlns:a16="http://schemas.microsoft.com/office/drawing/2014/main" val="10000"/>
                  </a:ext>
                </a:extLst>
              </a:tr>
              <a:tr h="1034415">
                <a:tc>
                  <a:txBody>
                    <a:bodyPr/>
                    <a:lstStyle/>
                    <a:p>
                      <a:pPr algn="ctr">
                        <a:lnSpc>
                          <a:spcPts val="3779"/>
                        </a:lnSpc>
                        <a:defRPr/>
                      </a:pPr>
                      <a:r>
                        <a:rPr lang="en-US" sz="2700" dirty="0">
                          <a:solidFill>
                            <a:srgbClr val="000000"/>
                          </a:solidFill>
                          <a:latin typeface="Aileron"/>
                          <a:ea typeface="Aileron"/>
                          <a:cs typeface="Aileron"/>
                          <a:sym typeface="Aileron"/>
                        </a:rPr>
                        <a:t>M11451007 </a:t>
                      </a:r>
                      <a:r>
                        <a:rPr lang="en-US" sz="2700" dirty="0" err="1">
                          <a:solidFill>
                            <a:srgbClr val="000000"/>
                          </a:solidFill>
                          <a:latin typeface="Aileron"/>
                          <a:ea typeface="Aileron"/>
                          <a:cs typeface="Aileron"/>
                          <a:sym typeface="Aileron"/>
                        </a:rPr>
                        <a:t>楓尹翔</a:t>
                      </a:r>
                      <a:endParaRPr lang="en-US" sz="1100" dirty="0"/>
                    </a:p>
                  </a:txBody>
                  <a:tcPr marL="190500" marR="190500" marT="190500" marB="190500" anchor="ctr">
                    <a:lnL w="76200" cap="flat" cmpd="sng" algn="ctr">
                      <a:solidFill>
                        <a:srgbClr val="143F87"/>
                      </a:solidFill>
                      <a:prstDash val="solid"/>
                      <a:round/>
                      <a:headEnd type="none" w="med" len="med"/>
                      <a:tailEnd type="none" w="med" len="med"/>
                    </a:lnL>
                    <a:lnR w="76200" cap="flat" cmpd="sng" algn="ctr">
                      <a:solidFill>
                        <a:srgbClr val="143F87"/>
                      </a:solidFill>
                      <a:prstDash val="solid"/>
                      <a:round/>
                      <a:headEnd type="none" w="med" len="med"/>
                      <a:tailEnd type="none" w="med" len="med"/>
                    </a:lnR>
                    <a:lnT w="76200" cap="flat" cmpd="sng" algn="ctr">
                      <a:solidFill>
                        <a:srgbClr val="143F87"/>
                      </a:solidFill>
                      <a:prstDash val="solid"/>
                      <a:round/>
                      <a:headEnd type="none" w="med" len="med"/>
                      <a:tailEnd type="none" w="med" len="med"/>
                    </a:lnT>
                    <a:lnB w="76200" cap="flat" cmpd="sng" algn="ctr">
                      <a:solidFill>
                        <a:srgbClr val="143F87"/>
                      </a:solidFill>
                      <a:prstDash val="solid"/>
                      <a:round/>
                      <a:headEnd type="none" w="med" len="med"/>
                      <a:tailEnd type="none" w="med" len="med"/>
                    </a:lnB>
                  </a:tcPr>
                </a:tc>
                <a:tc>
                  <a:txBody>
                    <a:bodyPr/>
                    <a:lstStyle/>
                    <a:p>
                      <a:pPr algn="ctr">
                        <a:lnSpc>
                          <a:spcPts val="3779"/>
                        </a:lnSpc>
                        <a:defRPr/>
                      </a:pPr>
                      <a:r>
                        <a:rPr lang="en-US" sz="2700" dirty="0">
                          <a:solidFill>
                            <a:srgbClr val="000000"/>
                          </a:solidFill>
                          <a:latin typeface="Aileron"/>
                          <a:ea typeface="Aileron"/>
                          <a:cs typeface="Aileron"/>
                          <a:sym typeface="Aileron"/>
                        </a:rPr>
                        <a:t>GitHub </a:t>
                      </a:r>
                      <a:r>
                        <a:rPr lang="en-US" sz="2700" dirty="0" smtClean="0">
                          <a:solidFill>
                            <a:srgbClr val="000000"/>
                          </a:solidFill>
                          <a:latin typeface="Aileron"/>
                          <a:ea typeface="Aileron"/>
                          <a:cs typeface="Aileron"/>
                          <a:sym typeface="Aileron"/>
                        </a:rPr>
                        <a:t>website</a:t>
                      </a:r>
                      <a:r>
                        <a:rPr lang="zh-TW" altLang="en-US" sz="2700" dirty="0" smtClean="0">
                          <a:solidFill>
                            <a:srgbClr val="000000"/>
                          </a:solidFill>
                          <a:latin typeface="Aileron"/>
                          <a:ea typeface="Aileron"/>
                          <a:cs typeface="Aileron"/>
                          <a:sym typeface="Aileron"/>
                        </a:rPr>
                        <a:t>、</a:t>
                      </a:r>
                      <a:r>
                        <a:rPr lang="en-US" altLang="zh-TW" sz="2700" dirty="0" smtClean="0">
                          <a:solidFill>
                            <a:srgbClr val="000000"/>
                          </a:solidFill>
                          <a:latin typeface="Aileron"/>
                          <a:ea typeface="Aileron"/>
                          <a:cs typeface="Aileron"/>
                          <a:sym typeface="Aileron"/>
                        </a:rPr>
                        <a:t>Presentation</a:t>
                      </a:r>
                      <a:endParaRPr lang="en-US" sz="1100" dirty="0"/>
                    </a:p>
                  </a:txBody>
                  <a:tcPr marL="190500" marR="190500" marT="190500" marB="190500" anchor="ctr">
                    <a:lnL w="76200" cap="flat" cmpd="sng" algn="ctr">
                      <a:solidFill>
                        <a:srgbClr val="143F87"/>
                      </a:solidFill>
                      <a:prstDash val="solid"/>
                      <a:round/>
                      <a:headEnd type="none" w="med" len="med"/>
                      <a:tailEnd type="none" w="med" len="med"/>
                    </a:lnL>
                    <a:lnR w="76200" cap="flat" cmpd="sng" algn="ctr">
                      <a:solidFill>
                        <a:srgbClr val="143F87"/>
                      </a:solidFill>
                      <a:prstDash val="solid"/>
                      <a:round/>
                      <a:headEnd type="none" w="med" len="med"/>
                      <a:tailEnd type="none" w="med" len="med"/>
                    </a:lnR>
                    <a:lnT w="76200" cap="flat" cmpd="sng" algn="ctr">
                      <a:solidFill>
                        <a:srgbClr val="143F87"/>
                      </a:solidFill>
                      <a:prstDash val="solid"/>
                      <a:round/>
                      <a:headEnd type="none" w="med" len="med"/>
                      <a:tailEnd type="none" w="med" len="med"/>
                    </a:lnT>
                    <a:lnB w="76200" cap="flat" cmpd="sng" algn="ctr">
                      <a:solidFill>
                        <a:srgbClr val="143F87"/>
                      </a:solidFill>
                      <a:prstDash val="solid"/>
                      <a:round/>
                      <a:headEnd type="none" w="med" len="med"/>
                      <a:tailEnd type="none" w="med" len="med"/>
                    </a:lnB>
                  </a:tcPr>
                </a:tc>
                <a:extLst>
                  <a:ext uri="{0D108BD9-81ED-4DB2-BD59-A6C34878D82A}">
                    <a16:rowId xmlns:a16="http://schemas.microsoft.com/office/drawing/2014/main" val="10001"/>
                  </a:ext>
                </a:extLst>
              </a:tr>
              <a:tr h="1034415">
                <a:tc>
                  <a:txBody>
                    <a:bodyPr/>
                    <a:lstStyle/>
                    <a:p>
                      <a:pPr algn="ctr">
                        <a:lnSpc>
                          <a:spcPts val="3779"/>
                        </a:lnSpc>
                        <a:defRPr/>
                      </a:pPr>
                      <a:r>
                        <a:rPr lang="en-US" sz="2700">
                          <a:solidFill>
                            <a:srgbClr val="000000"/>
                          </a:solidFill>
                          <a:latin typeface="Aileron"/>
                          <a:ea typeface="Aileron"/>
                          <a:cs typeface="Aileron"/>
                          <a:sym typeface="Aileron"/>
                        </a:rPr>
                        <a:t>M11451011 簡翊程</a:t>
                      </a:r>
                      <a:endParaRPr lang="en-US" sz="1100"/>
                    </a:p>
                  </a:txBody>
                  <a:tcPr marL="190500" marR="190500" marT="190500" marB="190500" anchor="ctr">
                    <a:lnL w="76200" cap="flat" cmpd="sng" algn="ctr">
                      <a:solidFill>
                        <a:srgbClr val="143F87"/>
                      </a:solidFill>
                      <a:prstDash val="solid"/>
                      <a:round/>
                      <a:headEnd type="none" w="med" len="med"/>
                      <a:tailEnd type="none" w="med" len="med"/>
                    </a:lnL>
                    <a:lnR w="76200" cap="flat" cmpd="sng" algn="ctr">
                      <a:solidFill>
                        <a:srgbClr val="143F87"/>
                      </a:solidFill>
                      <a:prstDash val="solid"/>
                      <a:round/>
                      <a:headEnd type="none" w="med" len="med"/>
                      <a:tailEnd type="none" w="med" len="med"/>
                    </a:lnR>
                    <a:lnT w="76200" cap="flat" cmpd="sng" algn="ctr">
                      <a:solidFill>
                        <a:srgbClr val="143F87"/>
                      </a:solidFill>
                      <a:prstDash val="solid"/>
                      <a:round/>
                      <a:headEnd type="none" w="med" len="med"/>
                      <a:tailEnd type="none" w="med" len="med"/>
                    </a:lnT>
                    <a:lnB w="76200" cap="flat" cmpd="sng" algn="ctr">
                      <a:solidFill>
                        <a:srgbClr val="143F87"/>
                      </a:solidFill>
                      <a:prstDash val="solid"/>
                      <a:round/>
                      <a:headEnd type="none" w="med" len="med"/>
                      <a:tailEnd type="none" w="med" len="med"/>
                    </a:lnB>
                  </a:tcPr>
                </a:tc>
                <a:tc>
                  <a:txBody>
                    <a:bodyPr/>
                    <a:lstStyle/>
                    <a:p>
                      <a:pPr algn="ctr">
                        <a:lnSpc>
                          <a:spcPts val="3779"/>
                        </a:lnSpc>
                        <a:defRPr/>
                      </a:pPr>
                      <a:r>
                        <a:rPr lang="en-US" sz="2700" dirty="0" smtClean="0">
                          <a:solidFill>
                            <a:srgbClr val="000000"/>
                          </a:solidFill>
                          <a:latin typeface="Aileron"/>
                          <a:ea typeface="Aileron"/>
                          <a:cs typeface="Aileron"/>
                          <a:sym typeface="Aileron"/>
                        </a:rPr>
                        <a:t>Software</a:t>
                      </a:r>
                      <a:r>
                        <a:rPr lang="zh-TW" altLang="en-US" sz="2700" dirty="0" smtClean="0">
                          <a:solidFill>
                            <a:srgbClr val="000000"/>
                          </a:solidFill>
                          <a:latin typeface="Aileron"/>
                          <a:ea typeface="Aileron"/>
                          <a:cs typeface="Aileron"/>
                          <a:sym typeface="Aileron"/>
                        </a:rPr>
                        <a:t>、</a:t>
                      </a:r>
                      <a:r>
                        <a:rPr lang="en-US" altLang="zh-TW" sz="2700" dirty="0" smtClean="0">
                          <a:solidFill>
                            <a:srgbClr val="000000"/>
                          </a:solidFill>
                          <a:latin typeface="Aileron"/>
                          <a:ea typeface="Aileron"/>
                          <a:cs typeface="Aileron"/>
                          <a:sym typeface="Aileron"/>
                        </a:rPr>
                        <a:t>PPT</a:t>
                      </a:r>
                      <a:endParaRPr lang="en-US" sz="1100" dirty="0"/>
                    </a:p>
                  </a:txBody>
                  <a:tcPr marL="190500" marR="190500" marT="190500" marB="190500" anchor="ctr">
                    <a:lnL w="76200" cap="flat" cmpd="sng" algn="ctr">
                      <a:solidFill>
                        <a:srgbClr val="143F87"/>
                      </a:solidFill>
                      <a:prstDash val="solid"/>
                      <a:round/>
                      <a:headEnd type="none" w="med" len="med"/>
                      <a:tailEnd type="none" w="med" len="med"/>
                    </a:lnL>
                    <a:lnR w="76200" cap="flat" cmpd="sng" algn="ctr">
                      <a:solidFill>
                        <a:srgbClr val="143F87"/>
                      </a:solidFill>
                      <a:prstDash val="solid"/>
                      <a:round/>
                      <a:headEnd type="none" w="med" len="med"/>
                      <a:tailEnd type="none" w="med" len="med"/>
                    </a:lnR>
                    <a:lnT w="76200" cap="flat" cmpd="sng" algn="ctr">
                      <a:solidFill>
                        <a:srgbClr val="143F87"/>
                      </a:solidFill>
                      <a:prstDash val="solid"/>
                      <a:round/>
                      <a:headEnd type="none" w="med" len="med"/>
                      <a:tailEnd type="none" w="med" len="med"/>
                    </a:lnT>
                    <a:lnB w="76200" cap="flat" cmpd="sng" algn="ctr">
                      <a:solidFill>
                        <a:srgbClr val="143F87"/>
                      </a:solidFill>
                      <a:prstDash val="solid"/>
                      <a:round/>
                      <a:headEnd type="none" w="med" len="med"/>
                      <a:tailEnd type="none" w="med" len="med"/>
                    </a:lnB>
                  </a:tcPr>
                </a:tc>
                <a:extLst>
                  <a:ext uri="{0D108BD9-81ED-4DB2-BD59-A6C34878D82A}">
                    <a16:rowId xmlns:a16="http://schemas.microsoft.com/office/drawing/2014/main" val="10002"/>
                  </a:ext>
                </a:extLst>
              </a:tr>
              <a:tr h="1034415">
                <a:tc>
                  <a:txBody>
                    <a:bodyPr/>
                    <a:lstStyle/>
                    <a:p>
                      <a:pPr algn="ctr">
                        <a:lnSpc>
                          <a:spcPts val="3779"/>
                        </a:lnSpc>
                        <a:defRPr/>
                      </a:pPr>
                      <a:r>
                        <a:rPr lang="en-US" sz="2700">
                          <a:solidFill>
                            <a:srgbClr val="000000"/>
                          </a:solidFill>
                          <a:latin typeface="Aileron"/>
                          <a:ea typeface="Aileron"/>
                          <a:cs typeface="Aileron"/>
                          <a:sym typeface="Aileron"/>
                        </a:rPr>
                        <a:t>M11451027 顏梓淮</a:t>
                      </a:r>
                      <a:endParaRPr lang="en-US" sz="1100"/>
                    </a:p>
                  </a:txBody>
                  <a:tcPr marL="190500" marR="190500" marT="190500" marB="190500" anchor="ctr">
                    <a:lnL w="76200" cap="flat" cmpd="sng" algn="ctr">
                      <a:solidFill>
                        <a:srgbClr val="143F87"/>
                      </a:solidFill>
                      <a:prstDash val="solid"/>
                      <a:round/>
                      <a:headEnd type="none" w="med" len="med"/>
                      <a:tailEnd type="none" w="med" len="med"/>
                    </a:lnL>
                    <a:lnR w="76200" cap="flat" cmpd="sng" algn="ctr">
                      <a:solidFill>
                        <a:srgbClr val="143F87"/>
                      </a:solidFill>
                      <a:prstDash val="solid"/>
                      <a:round/>
                      <a:headEnd type="none" w="med" len="med"/>
                      <a:tailEnd type="none" w="med" len="med"/>
                    </a:lnR>
                    <a:lnT w="76200" cap="flat" cmpd="sng" algn="ctr">
                      <a:solidFill>
                        <a:srgbClr val="143F87"/>
                      </a:solidFill>
                      <a:prstDash val="solid"/>
                      <a:round/>
                      <a:headEnd type="none" w="med" len="med"/>
                      <a:tailEnd type="none" w="med" len="med"/>
                    </a:lnT>
                    <a:lnB w="76200" cap="flat" cmpd="sng" algn="ctr">
                      <a:solidFill>
                        <a:srgbClr val="143F87"/>
                      </a:solidFill>
                      <a:prstDash val="solid"/>
                      <a:round/>
                      <a:headEnd type="none" w="med" len="med"/>
                      <a:tailEnd type="none" w="med" len="med"/>
                    </a:lnB>
                  </a:tcPr>
                </a:tc>
                <a:tc>
                  <a:txBody>
                    <a:bodyPr/>
                    <a:lstStyle/>
                    <a:p>
                      <a:pPr algn="ctr">
                        <a:lnSpc>
                          <a:spcPts val="3779"/>
                        </a:lnSpc>
                        <a:defRPr/>
                      </a:pPr>
                      <a:r>
                        <a:rPr lang="en-US" sz="2700" dirty="0" smtClean="0">
                          <a:solidFill>
                            <a:srgbClr val="000000"/>
                          </a:solidFill>
                          <a:latin typeface="Aileron"/>
                          <a:ea typeface="Aileron"/>
                          <a:cs typeface="Aileron"/>
                          <a:sym typeface="Aileron"/>
                        </a:rPr>
                        <a:t>Hardware</a:t>
                      </a:r>
                      <a:r>
                        <a:rPr lang="zh-TW" altLang="en-US" sz="2700" dirty="0" smtClean="0">
                          <a:solidFill>
                            <a:srgbClr val="000000"/>
                          </a:solidFill>
                          <a:latin typeface="Aileron"/>
                          <a:ea typeface="Aileron"/>
                          <a:cs typeface="Aileron"/>
                          <a:sym typeface="Aileron"/>
                        </a:rPr>
                        <a:t>、</a:t>
                      </a:r>
                      <a:r>
                        <a:rPr lang="en-US" altLang="zh-TW" sz="2700" dirty="0" smtClean="0">
                          <a:solidFill>
                            <a:srgbClr val="000000"/>
                          </a:solidFill>
                          <a:latin typeface="Aileron"/>
                          <a:ea typeface="Aileron"/>
                          <a:cs typeface="Aileron"/>
                          <a:sym typeface="Aileron"/>
                        </a:rPr>
                        <a:t>PPT</a:t>
                      </a:r>
                      <a:endParaRPr lang="en-US" sz="1100" dirty="0"/>
                    </a:p>
                  </a:txBody>
                  <a:tcPr marL="190500" marR="190500" marT="190500" marB="190500" anchor="ctr">
                    <a:lnL w="76200" cap="flat" cmpd="sng" algn="ctr">
                      <a:solidFill>
                        <a:srgbClr val="143F87"/>
                      </a:solidFill>
                      <a:prstDash val="solid"/>
                      <a:round/>
                      <a:headEnd type="none" w="med" len="med"/>
                      <a:tailEnd type="none" w="med" len="med"/>
                    </a:lnL>
                    <a:lnR w="76200" cap="flat" cmpd="sng" algn="ctr">
                      <a:solidFill>
                        <a:srgbClr val="143F87"/>
                      </a:solidFill>
                      <a:prstDash val="solid"/>
                      <a:round/>
                      <a:headEnd type="none" w="med" len="med"/>
                      <a:tailEnd type="none" w="med" len="med"/>
                    </a:lnR>
                    <a:lnT w="76200" cap="flat" cmpd="sng" algn="ctr">
                      <a:solidFill>
                        <a:srgbClr val="143F87"/>
                      </a:solidFill>
                      <a:prstDash val="solid"/>
                      <a:round/>
                      <a:headEnd type="none" w="med" len="med"/>
                      <a:tailEnd type="none" w="med" len="med"/>
                    </a:lnT>
                    <a:lnB w="76200" cap="flat" cmpd="sng" algn="ctr">
                      <a:solidFill>
                        <a:srgbClr val="143F87"/>
                      </a:solidFill>
                      <a:prstDash val="solid"/>
                      <a:round/>
                      <a:headEnd type="none" w="med" len="med"/>
                      <a:tailEnd type="none" w="med" len="med"/>
                    </a:lnB>
                  </a:tcPr>
                </a:tc>
                <a:extLst>
                  <a:ext uri="{0D108BD9-81ED-4DB2-BD59-A6C34878D82A}">
                    <a16:rowId xmlns:a16="http://schemas.microsoft.com/office/drawing/2014/main" val="10003"/>
                  </a:ext>
                </a:extLst>
              </a:tr>
              <a:tr h="1034415">
                <a:tc>
                  <a:txBody>
                    <a:bodyPr/>
                    <a:lstStyle/>
                    <a:p>
                      <a:pPr algn="ctr">
                        <a:lnSpc>
                          <a:spcPts val="3779"/>
                        </a:lnSpc>
                        <a:defRPr/>
                      </a:pPr>
                      <a:r>
                        <a:rPr lang="en-US" sz="2700">
                          <a:solidFill>
                            <a:srgbClr val="000000"/>
                          </a:solidFill>
                          <a:latin typeface="Aileron"/>
                          <a:ea typeface="Aileron"/>
                          <a:cs typeface="Aileron"/>
                          <a:sym typeface="Aileron"/>
                        </a:rPr>
                        <a:t>M11451029 吳家瑜</a:t>
                      </a:r>
                      <a:endParaRPr lang="en-US" sz="1100"/>
                    </a:p>
                  </a:txBody>
                  <a:tcPr marL="190500" marR="190500" marT="190500" marB="190500" anchor="ctr">
                    <a:lnL w="76200" cap="flat" cmpd="sng" algn="ctr">
                      <a:solidFill>
                        <a:srgbClr val="143F87"/>
                      </a:solidFill>
                      <a:prstDash val="solid"/>
                      <a:round/>
                      <a:headEnd type="none" w="med" len="med"/>
                      <a:tailEnd type="none" w="med" len="med"/>
                    </a:lnL>
                    <a:lnR w="76200" cap="flat" cmpd="sng" algn="ctr">
                      <a:solidFill>
                        <a:srgbClr val="143F87"/>
                      </a:solidFill>
                      <a:prstDash val="solid"/>
                      <a:round/>
                      <a:headEnd type="none" w="med" len="med"/>
                      <a:tailEnd type="none" w="med" len="med"/>
                    </a:lnR>
                    <a:lnT w="76200" cap="flat" cmpd="sng" algn="ctr">
                      <a:solidFill>
                        <a:srgbClr val="143F87"/>
                      </a:solidFill>
                      <a:prstDash val="solid"/>
                      <a:round/>
                      <a:headEnd type="none" w="med" len="med"/>
                      <a:tailEnd type="none" w="med" len="med"/>
                    </a:lnT>
                    <a:lnB w="76200" cap="flat" cmpd="sng" algn="ctr">
                      <a:solidFill>
                        <a:srgbClr val="143F87"/>
                      </a:solidFill>
                      <a:prstDash val="solid"/>
                      <a:round/>
                      <a:headEnd type="none" w="med" len="med"/>
                      <a:tailEnd type="none" w="med" len="med"/>
                    </a:lnB>
                  </a:tcPr>
                </a:tc>
                <a:tc>
                  <a:txBody>
                    <a:bodyPr/>
                    <a:lstStyle/>
                    <a:p>
                      <a:pPr algn="ctr">
                        <a:lnSpc>
                          <a:spcPts val="3779"/>
                        </a:lnSpc>
                        <a:defRPr/>
                      </a:pPr>
                      <a:r>
                        <a:rPr lang="en-US" sz="2700" dirty="0" smtClean="0">
                          <a:solidFill>
                            <a:srgbClr val="000000"/>
                          </a:solidFill>
                          <a:latin typeface="Aileron"/>
                          <a:ea typeface="Aileron"/>
                          <a:cs typeface="Aileron"/>
                          <a:sym typeface="Aileron"/>
                        </a:rPr>
                        <a:t>Purchase</a:t>
                      </a:r>
                      <a:r>
                        <a:rPr lang="zh-TW" altLang="en-US" sz="2700" dirty="0" smtClean="0">
                          <a:solidFill>
                            <a:srgbClr val="000000"/>
                          </a:solidFill>
                          <a:latin typeface="Aileron"/>
                          <a:ea typeface="Aileron"/>
                          <a:cs typeface="Aileron"/>
                          <a:sym typeface="Aileron"/>
                        </a:rPr>
                        <a:t>、</a:t>
                      </a:r>
                      <a:r>
                        <a:rPr lang="en-US" altLang="zh-TW" sz="2700" dirty="0" smtClean="0">
                          <a:solidFill>
                            <a:srgbClr val="000000"/>
                          </a:solidFill>
                          <a:latin typeface="Aileron"/>
                          <a:ea typeface="Aileron"/>
                          <a:cs typeface="Aileron"/>
                          <a:sym typeface="Aileron"/>
                        </a:rPr>
                        <a:t>Software</a:t>
                      </a:r>
                      <a:r>
                        <a:rPr lang="zh-TW" altLang="en-US" sz="2700" dirty="0" smtClean="0">
                          <a:solidFill>
                            <a:srgbClr val="000000"/>
                          </a:solidFill>
                          <a:latin typeface="Aileron"/>
                          <a:ea typeface="Aileron"/>
                          <a:cs typeface="Aileron"/>
                          <a:sym typeface="Aileron"/>
                        </a:rPr>
                        <a:t>、</a:t>
                      </a:r>
                      <a:r>
                        <a:rPr lang="en-US" altLang="zh-TW" sz="2700" dirty="0" smtClean="0">
                          <a:solidFill>
                            <a:srgbClr val="000000"/>
                          </a:solidFill>
                          <a:latin typeface="Aileron"/>
                          <a:ea typeface="Aileron"/>
                          <a:cs typeface="Aileron"/>
                          <a:sym typeface="Aileron"/>
                        </a:rPr>
                        <a:t>PPT</a:t>
                      </a:r>
                      <a:endParaRPr lang="en-US" altLang="zh-TW" sz="2700" dirty="0" smtClean="0">
                        <a:solidFill>
                          <a:srgbClr val="000000"/>
                        </a:solidFill>
                        <a:latin typeface="Aileron"/>
                        <a:ea typeface="Aileron"/>
                        <a:cs typeface="Aileron"/>
                        <a:sym typeface="Aileron"/>
                      </a:endParaRPr>
                    </a:p>
                  </a:txBody>
                  <a:tcPr marL="190500" marR="190500" marT="190500" marB="190500" anchor="ctr">
                    <a:lnL w="76200" cap="flat" cmpd="sng" algn="ctr">
                      <a:solidFill>
                        <a:srgbClr val="143F87"/>
                      </a:solidFill>
                      <a:prstDash val="solid"/>
                      <a:round/>
                      <a:headEnd type="none" w="med" len="med"/>
                      <a:tailEnd type="none" w="med" len="med"/>
                    </a:lnL>
                    <a:lnR w="76200" cap="flat" cmpd="sng" algn="ctr">
                      <a:solidFill>
                        <a:srgbClr val="143F87"/>
                      </a:solidFill>
                      <a:prstDash val="solid"/>
                      <a:round/>
                      <a:headEnd type="none" w="med" len="med"/>
                      <a:tailEnd type="none" w="med" len="med"/>
                    </a:lnR>
                    <a:lnT w="76200" cap="flat" cmpd="sng" algn="ctr">
                      <a:solidFill>
                        <a:srgbClr val="143F87"/>
                      </a:solidFill>
                      <a:prstDash val="solid"/>
                      <a:round/>
                      <a:headEnd type="none" w="med" len="med"/>
                      <a:tailEnd type="none" w="med" len="med"/>
                    </a:lnT>
                    <a:lnB w="76200" cap="flat" cmpd="sng" algn="ctr">
                      <a:solidFill>
                        <a:srgbClr val="143F87"/>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Box 8"/>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16</a:t>
            </a:r>
          </a:p>
        </p:txBody>
      </p:sp>
      <p:sp>
        <p:nvSpPr>
          <p:cNvPr id="9" name="TextBox 9"/>
          <p:cNvSpPr txBox="1"/>
          <p:nvPr/>
        </p:nvSpPr>
        <p:spPr>
          <a:xfrm>
            <a:off x="1543775" y="989807"/>
            <a:ext cx="5752446" cy="936625"/>
          </a:xfrm>
          <a:prstGeom prst="rect">
            <a:avLst/>
          </a:prstGeom>
        </p:spPr>
        <p:txBody>
          <a:bodyPr lIns="0" tIns="0" rIns="0" bIns="0" rtlCol="0" anchor="t">
            <a:spAutoFit/>
          </a:bodyPr>
          <a:lstStyle/>
          <a:p>
            <a:pPr algn="ctr">
              <a:lnSpc>
                <a:spcPts val="7699"/>
              </a:lnSpc>
            </a:pPr>
            <a:r>
              <a:rPr lang="en-US" sz="5499" b="1">
                <a:solidFill>
                  <a:srgbClr val="192F40"/>
                </a:solidFill>
                <a:latin typeface="Aileron Heavy"/>
                <a:ea typeface="Aileron Heavy"/>
                <a:cs typeface="Aileron Heavy"/>
                <a:sym typeface="Aileron Heavy"/>
              </a:rPr>
              <a:t>Assignment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5"/>
        </a:solidFill>
        <a:effectLst/>
      </p:bgPr>
    </p:bg>
    <p:spTree>
      <p:nvGrpSpPr>
        <p:cNvPr id="1" name=""/>
        <p:cNvGrpSpPr/>
        <p:nvPr/>
      </p:nvGrpSpPr>
      <p:grpSpPr>
        <a:xfrm>
          <a:off x="0" y="0"/>
          <a:ext cx="0" cy="0"/>
          <a:chOff x="0" y="0"/>
          <a:chExt cx="0" cy="0"/>
        </a:xfrm>
      </p:grpSpPr>
      <p:sp>
        <p:nvSpPr>
          <p:cNvPr id="2" name="Freeform 2"/>
          <p:cNvSpPr/>
          <p:nvPr/>
        </p:nvSpPr>
        <p:spPr>
          <a:xfrm>
            <a:off x="3003255" y="4920110"/>
            <a:ext cx="4338190" cy="4338190"/>
          </a:xfrm>
          <a:custGeom>
            <a:avLst/>
            <a:gdLst/>
            <a:ahLst/>
            <a:cxnLst/>
            <a:rect l="l" t="t" r="r" b="b"/>
            <a:pathLst>
              <a:path w="4338190" h="4338190">
                <a:moveTo>
                  <a:pt x="0" y="0"/>
                </a:moveTo>
                <a:lnTo>
                  <a:pt x="4338190" y="0"/>
                </a:lnTo>
                <a:lnTo>
                  <a:pt x="4338190" y="4338190"/>
                </a:lnTo>
                <a:lnTo>
                  <a:pt x="0" y="433819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4403037" y="2485726"/>
            <a:ext cx="391026" cy="391026"/>
          </a:xfrm>
          <a:custGeom>
            <a:avLst/>
            <a:gdLst/>
            <a:ahLst/>
            <a:cxnLst/>
            <a:rect l="l" t="t" r="r" b="b"/>
            <a:pathLst>
              <a:path w="391026" h="391026">
                <a:moveTo>
                  <a:pt x="0" y="0"/>
                </a:moveTo>
                <a:lnTo>
                  <a:pt x="391026" y="0"/>
                </a:lnTo>
                <a:lnTo>
                  <a:pt x="391026" y="391026"/>
                </a:lnTo>
                <a:lnTo>
                  <a:pt x="0" y="39102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a:off x="14403037" y="1028700"/>
            <a:ext cx="2723452" cy="808725"/>
          </a:xfrm>
          <a:custGeom>
            <a:avLst/>
            <a:gdLst/>
            <a:ahLst/>
            <a:cxnLst/>
            <a:rect l="l" t="t" r="r" b="b"/>
            <a:pathLst>
              <a:path w="2723452" h="808725">
                <a:moveTo>
                  <a:pt x="0" y="0"/>
                </a:moveTo>
                <a:lnTo>
                  <a:pt x="2723453" y="0"/>
                </a:lnTo>
                <a:lnTo>
                  <a:pt x="2723453" y="808725"/>
                </a:lnTo>
                <a:lnTo>
                  <a:pt x="0" y="808725"/>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a:ln cap="sq">
            <a:noFill/>
            <a:prstDash val="solid"/>
            <a:miter/>
          </a:ln>
        </p:spPr>
      </p:sp>
      <p:sp>
        <p:nvSpPr>
          <p:cNvPr id="5" name="Freeform 5"/>
          <p:cNvSpPr/>
          <p:nvPr/>
        </p:nvSpPr>
        <p:spPr>
          <a:xfrm>
            <a:off x="11804830" y="1028700"/>
            <a:ext cx="1969360" cy="1969360"/>
          </a:xfrm>
          <a:custGeom>
            <a:avLst/>
            <a:gdLst/>
            <a:ahLst/>
            <a:cxnLst/>
            <a:rect l="l" t="t" r="r" b="b"/>
            <a:pathLst>
              <a:path w="1969360" h="1969360">
                <a:moveTo>
                  <a:pt x="0" y="0"/>
                </a:moveTo>
                <a:lnTo>
                  <a:pt x="1969360" y="0"/>
                </a:lnTo>
                <a:lnTo>
                  <a:pt x="1969360" y="1969360"/>
                </a:lnTo>
                <a:lnTo>
                  <a:pt x="0" y="1969360"/>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grpSp>
        <p:nvGrpSpPr>
          <p:cNvPr id="6" name="Group 6"/>
          <p:cNvGrpSpPr/>
          <p:nvPr/>
        </p:nvGrpSpPr>
        <p:grpSpPr>
          <a:xfrm>
            <a:off x="9181941" y="8656940"/>
            <a:ext cx="5283719" cy="131844"/>
            <a:chOff x="0" y="0"/>
            <a:chExt cx="1391597" cy="34724"/>
          </a:xfrm>
        </p:grpSpPr>
        <p:sp>
          <p:nvSpPr>
            <p:cNvPr id="7" name="Freeform 7"/>
            <p:cNvSpPr/>
            <p:nvPr/>
          </p:nvSpPr>
          <p:spPr>
            <a:xfrm>
              <a:off x="0" y="0"/>
              <a:ext cx="1391597" cy="34724"/>
            </a:xfrm>
            <a:custGeom>
              <a:avLst/>
              <a:gdLst/>
              <a:ahLst/>
              <a:cxnLst/>
              <a:rect l="l" t="t" r="r" b="b"/>
              <a:pathLst>
                <a:path w="1391597" h="34724">
                  <a:moveTo>
                    <a:pt x="17362" y="0"/>
                  </a:moveTo>
                  <a:lnTo>
                    <a:pt x="1374235" y="0"/>
                  </a:lnTo>
                  <a:cubicBezTo>
                    <a:pt x="1383823" y="0"/>
                    <a:pt x="1391597" y="7773"/>
                    <a:pt x="1391597" y="17362"/>
                  </a:cubicBezTo>
                  <a:lnTo>
                    <a:pt x="1391597" y="17362"/>
                  </a:lnTo>
                  <a:cubicBezTo>
                    <a:pt x="1391597" y="21967"/>
                    <a:pt x="1389767" y="26383"/>
                    <a:pt x="1386511" y="29639"/>
                  </a:cubicBezTo>
                  <a:cubicBezTo>
                    <a:pt x="1383255" y="32895"/>
                    <a:pt x="1378839" y="34724"/>
                    <a:pt x="1374235" y="34724"/>
                  </a:cubicBezTo>
                  <a:lnTo>
                    <a:pt x="17362" y="34724"/>
                  </a:lnTo>
                  <a:cubicBezTo>
                    <a:pt x="12757" y="34724"/>
                    <a:pt x="8341" y="32895"/>
                    <a:pt x="5085" y="29639"/>
                  </a:cubicBezTo>
                  <a:cubicBezTo>
                    <a:pt x="1829" y="26383"/>
                    <a:pt x="0" y="21967"/>
                    <a:pt x="0" y="17362"/>
                  </a:cubicBezTo>
                  <a:lnTo>
                    <a:pt x="0" y="17362"/>
                  </a:lnTo>
                  <a:cubicBezTo>
                    <a:pt x="0" y="12757"/>
                    <a:pt x="1829" y="8341"/>
                    <a:pt x="5085" y="5085"/>
                  </a:cubicBezTo>
                  <a:cubicBezTo>
                    <a:pt x="8341" y="1829"/>
                    <a:pt x="12757" y="0"/>
                    <a:pt x="17362" y="0"/>
                  </a:cubicBezTo>
                  <a:close/>
                </a:path>
              </a:pathLst>
            </a:custGeom>
            <a:solidFill>
              <a:srgbClr val="192F40"/>
            </a:solidFill>
          </p:spPr>
        </p:sp>
        <p:sp>
          <p:nvSpPr>
            <p:cNvPr id="8" name="TextBox 8"/>
            <p:cNvSpPr txBox="1"/>
            <p:nvPr/>
          </p:nvSpPr>
          <p:spPr>
            <a:xfrm>
              <a:off x="0" y="-57150"/>
              <a:ext cx="1391597" cy="91874"/>
            </a:xfrm>
            <a:prstGeom prst="rect">
              <a:avLst/>
            </a:prstGeom>
          </p:spPr>
          <p:txBody>
            <a:bodyPr lIns="50800" tIns="50800" rIns="50800" bIns="50800" rtlCol="0" anchor="ctr"/>
            <a:lstStyle/>
            <a:p>
              <a:pPr algn="ctr">
                <a:lnSpc>
                  <a:spcPts val="3640"/>
                </a:lnSpc>
              </a:pPr>
              <a:endParaRPr/>
            </a:p>
          </p:txBody>
        </p:sp>
      </p:grpSp>
      <p:sp>
        <p:nvSpPr>
          <p:cNvPr id="9" name="TextBox 9"/>
          <p:cNvSpPr txBox="1"/>
          <p:nvPr/>
        </p:nvSpPr>
        <p:spPr>
          <a:xfrm>
            <a:off x="6128519" y="2216779"/>
            <a:ext cx="6106844" cy="3885201"/>
          </a:xfrm>
          <a:prstGeom prst="rect">
            <a:avLst/>
          </a:prstGeom>
        </p:spPr>
        <p:txBody>
          <a:bodyPr lIns="0" tIns="0" rIns="0" bIns="0" rtlCol="0" anchor="t">
            <a:spAutoFit/>
          </a:bodyPr>
          <a:lstStyle/>
          <a:p>
            <a:pPr algn="l">
              <a:lnSpc>
                <a:spcPts val="31790"/>
              </a:lnSpc>
            </a:pPr>
            <a:r>
              <a:rPr lang="en-US" sz="22707">
                <a:solidFill>
                  <a:srgbClr val="283C4C"/>
                </a:solidFill>
                <a:latin typeface="League Gothic"/>
                <a:ea typeface="League Gothic"/>
                <a:cs typeface="League Gothic"/>
                <a:sym typeface="League Gothic"/>
              </a:rPr>
              <a:t>THANK</a:t>
            </a:r>
          </a:p>
        </p:txBody>
      </p:sp>
      <p:sp>
        <p:nvSpPr>
          <p:cNvPr id="10" name="TextBox 10"/>
          <p:cNvSpPr txBox="1"/>
          <p:nvPr/>
        </p:nvSpPr>
        <p:spPr>
          <a:xfrm>
            <a:off x="7452479" y="5292692"/>
            <a:ext cx="4535466" cy="2348904"/>
          </a:xfrm>
          <a:prstGeom prst="rect">
            <a:avLst/>
          </a:prstGeom>
        </p:spPr>
        <p:txBody>
          <a:bodyPr lIns="0" tIns="0" rIns="0" bIns="0" rtlCol="0" anchor="t">
            <a:spAutoFit/>
          </a:bodyPr>
          <a:lstStyle/>
          <a:p>
            <a:pPr algn="l">
              <a:lnSpc>
                <a:spcPts val="17227"/>
              </a:lnSpc>
            </a:pPr>
            <a:r>
              <a:rPr lang="en-US" sz="12305" b="1">
                <a:solidFill>
                  <a:srgbClr val="788593"/>
                </a:solidFill>
                <a:latin typeface="Akzidenz-Grotesk Heavy"/>
                <a:ea typeface="Akzidenz-Grotesk Heavy"/>
                <a:cs typeface="Akzidenz-Grotesk Heavy"/>
                <a:sym typeface="Akzidenz-Grotesk Heavy"/>
              </a:rPr>
              <a:t>YOU!</a:t>
            </a:r>
          </a:p>
        </p:txBody>
      </p:sp>
      <p:sp>
        <p:nvSpPr>
          <p:cNvPr id="11" name="TextBox 11"/>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T Chinese"/>
                <a:ea typeface="Noto Sans T Chinese"/>
                <a:cs typeface="Noto Sans T Chinese"/>
                <a:sym typeface="Noto Sans T Chinese"/>
              </a:rPr>
              <a:t>17</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296</TotalTime>
  <Words>862</Words>
  <Application>Microsoft Office PowerPoint</Application>
  <PresentationFormat>自訂</PresentationFormat>
  <Paragraphs>205</Paragraphs>
  <Slides>17</Slides>
  <Notes>1</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17</vt:i4>
      </vt:variant>
    </vt:vector>
  </HeadingPairs>
  <TitlesOfParts>
    <vt:vector size="29" baseType="lpstr">
      <vt:lpstr>League Gothic</vt:lpstr>
      <vt:lpstr>Akzidenz-Grotesk Heavy</vt:lpstr>
      <vt:lpstr>Aileron Heavy</vt:lpstr>
      <vt:lpstr>Calibri</vt:lpstr>
      <vt:lpstr>Noto Sans T Chinese</vt:lpstr>
      <vt:lpstr>Arial</vt:lpstr>
      <vt:lpstr>新細明體-ExtB</vt:lpstr>
      <vt:lpstr>Aileron Bold</vt:lpstr>
      <vt:lpstr>Noto Sans T Chinese Bold</vt:lpstr>
      <vt:lpstr>Aileron Bold Italics</vt:lpstr>
      <vt:lpstr>Aileron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IIoT Midterm Proposal</dc:title>
  <cp:lastModifiedBy>吳家瑜</cp:lastModifiedBy>
  <cp:revision>11</cp:revision>
  <dcterms:created xsi:type="dcterms:W3CDTF">2006-08-16T00:00:00Z</dcterms:created>
  <dcterms:modified xsi:type="dcterms:W3CDTF">2025-10-30T06:55:12Z</dcterms:modified>
  <dc:identifier>DAG2l-ZkHIg</dc:identifier>
</cp:coreProperties>
</file>